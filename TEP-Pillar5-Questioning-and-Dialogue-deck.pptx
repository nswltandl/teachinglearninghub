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55448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 ·  PILLAR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Questioning &amp; Dialogue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 calling, probing and classroom talk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Facilitator session</a:t>
            </a:r>
            <a:pPr indent="0" marL="0">
              <a:buNone/>
            </a:pPr>
            <a:r>
              <a:rPr lang="en-US" sz="14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  pairs with the Questioning &amp; Dialogue booklet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professional development programme developed by Nishkam Schools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PROGRAMME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 pillars, one shared method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· Behaviour &amp; Climate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· Adaptive Teaching &amp; Inclusion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· Instruction &amp; Modelling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· Checking for Understanding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· Questioning &amp; Classroom Dialogue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· Standards &amp; Curriculum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483864"/>
            <a:ext cx="64008" cy="29260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0" y="1783080"/>
            <a:ext cx="4663440" cy="39776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783080"/>
            <a:ext cx="64008" cy="39776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0" name="Image 1" descr="assets/icon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19933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teachers use 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14032" y="260604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study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booklet, worked through alone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Coaching quartets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or four colleagues rehearse together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Subject teams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adapting each method to the subject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Whole-school CPD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this hour does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Ask in a way that makes every pupil think, not just the ones with their hands up.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cold calling so the whole room stays accountable — warmly, and as the norm.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Probe answers to push thinking deeper, and build dialogue between pupils.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Everything here sits alongside the booklet in your hands — Sections 1 to 6.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869680" y="1965960"/>
            <a:ext cx="2651760" cy="26517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965960"/>
            <a:ext cx="64008" cy="26517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9" name="Image 1" descr="assets/ico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1945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9828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booklet open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9828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slides lead the room; the booklet is where you record your thinking and the tasks.</a:t>
            </a:r>
            <a:endParaRPr lang="en-US" sz="1250" dirty="0"/>
          </a:p>
        </p:txBody>
      </p:sp>
      <p:pic>
        <p:nvPicPr>
          <p:cNvPr id="12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a recent lesson, roughly how many pupils answered your questions? Who never does?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THOUGHT EXPERIMENT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Hands up, or everyone thinking?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074920" cy="3154680"/>
          </a:xfrm>
          <a:prstGeom prst="rect">
            <a:avLst/>
          </a:prstGeom>
          <a:solidFill>
            <a:srgbClr val="F4F1EC"/>
          </a:solidFill>
          <a:ln w="12700">
            <a:solidFill>
              <a:srgbClr val="C061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154680"/>
          </a:xfrm>
          <a:prstGeom prst="rect">
            <a:avLst/>
          </a:prstGeom>
          <a:solidFill>
            <a:srgbClr val="C0613F"/>
          </a:solidFill>
          <a:ln/>
        </p:spPr>
      </p:sp>
      <p:pic>
        <p:nvPicPr>
          <p:cNvPr id="8" name="Image 1" descr="assets/icon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8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Classroom 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question goes out, hands shoot 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same five pupils answer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everyone else opts out quietly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thinking time is a second or two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teacher hears from the confident few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074920" cy="315468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1546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Classroom 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question goes to the whole class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thinking time is held, then a name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anyone might be asked, so all prepare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answer is probed, not just accepted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teacher hears from everyone over time</a:t>
            </a:r>
            <a:endParaRPr lang="en-US" sz="1300" dirty="0"/>
          </a:p>
        </p:txBody>
      </p:sp>
      <p:pic>
        <p:nvPicPr>
          <p:cNvPr id="16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7550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515721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Same question, same class. In which room is every pupil actually thinking?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28600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6060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question is how we find out what every pupil is thinking — not just the ones with their hands up.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“The point of a question is to cause thinking.”  </a:t>
            </a:r>
            <a:pPr indent="0" marL="0">
              <a:buNone/>
            </a:pPr>
            <a:r>
              <a:rPr lang="en-US" sz="16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after Dylan Wiliam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FOUNDATIONS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ideas under good questioning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66544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Ask the class first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Pose the question to the whole room, with no name attached, so everyone prepares an answer.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665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Hold thinking time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Pause before naming a pupil. The silence is where the thinking happens.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4106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 call as the norm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961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Anyone might be asked. Done warmly, it tells pupils you expect — and value — their thinking.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941064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Probe for depth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3825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Don't stop at the first answer. Clarify, justify, ask for evidence, push further.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 four would shift participation most in your hardest class?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EVIDENCE, IN BRIEF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cold calling works</a:t>
            </a:r>
            <a:endParaRPr lang="en-US" sz="2700" dirty="0"/>
          </a:p>
        </p:txBody>
      </p:sp>
      <p:pic>
        <p:nvPicPr>
          <p:cNvPr id="6" name="Image 1" descr="assets/ico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828800"/>
            <a:ext cx="7040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Hands-up narrows the room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 hear from volunteers; the others learn they can opt out.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 call keeps all accountable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when anyone might be asked, every pupil prepares an answer.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 is a check for understanding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 find out what pupils actually think, not just the keen ones.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Warmth matters — </a:t>
            </a:r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 call works because it is the norm and it is kind, never a ‘gotcha’.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0" y="1828800"/>
            <a:ext cx="2834640" cy="237744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1828800"/>
            <a:ext cx="64008" cy="237744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915400" y="2560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stops you cold calling more often — and is the worry founded?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Booklet · Sections 2–3  ·  Lemov, Teach Like a Champion 3.0 (Cold Call, No Opt Out)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CORE TECHNIQUE · DELIVER THIS LIVE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 calling, step by step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566160" cy="342900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42900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stance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25603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Warm, not a ‘gotcha’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Everyone might be asked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opt out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Wrong answers are welcome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norm, every lesson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0" y="1810512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120640" y="17647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Pose the question to the whole class.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0" y="2233422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0" y="223342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120640" y="218770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Attach no name to the question yet.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0" y="2656332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0" y="26563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120640" y="26106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Hold thinking time — let the silence work.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572000" y="3079242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21" name="Text 17"/>
          <p:cNvSpPr/>
          <p:nvPr/>
        </p:nvSpPr>
        <p:spPr>
          <a:xfrm>
            <a:off x="4572000" y="307924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120640" y="303352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Name a pupil; direct the question to them.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572000" y="3502152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120640" y="3456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Acknowledge or affirm the response.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572000" y="3925062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27" name="Text 23"/>
          <p:cNvSpPr/>
          <p:nvPr/>
        </p:nvSpPr>
        <p:spPr>
          <a:xfrm>
            <a:off x="4572000" y="39250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120640" y="387934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Probe: ask them to elaborate or explain.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572000" y="4347972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30" name="Text 26"/>
          <p:cNvSpPr/>
          <p:nvPr/>
        </p:nvSpPr>
        <p:spPr>
          <a:xfrm>
            <a:off x="4572000" y="4347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5120640" y="43022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Address any misconception, calmly.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4572000" y="4770882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33" name="Text 29"/>
          <p:cNvSpPr/>
          <p:nvPr/>
        </p:nvSpPr>
        <p:spPr>
          <a:xfrm>
            <a:off x="4572000" y="477088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120640" y="472516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toward fuller, probing dialogue.</a:t>
            </a:r>
            <a:endParaRPr lang="en-US" sz="1400" dirty="0"/>
          </a:p>
        </p:txBody>
      </p:sp>
      <p:pic>
        <p:nvPicPr>
          <p:cNvPr id="35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in this sequence do you usually move too fast?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 it live, then have the room rehearse the thinking-time pause.  Booklet · Section 4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NAMING THE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Questioning in the Nishkam frame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908792" cy="320040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74520"/>
            <a:ext cx="64008" cy="320040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8" name="Image 1" descr="assets/crest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287000" y="3794760"/>
            <a:ext cx="914400" cy="795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 Nishkam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05840" y="26060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Diligence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every pupil is expected to think and to be ready to answer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Peacefulness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a calm, safe room where being wrong is part of learning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Determination </a:t>
            </a:r>
            <a:pPr indent="0" marL="0"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pupils stay with a question, elaborate, and push their thinking further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315200" y="2697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any school:  </a:t>
            </a:r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sequence — ask the class, hold thinking time, name a pupil, then probe. Make cold call the warm norm, whatever your setting.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SHARED STANDARD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 call checklist · CC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589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CC1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Teacher in a strong position.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CC3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Question posed to the whole class first.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CC4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name attached to the initial question.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CC5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Thinking time held before naming a pupil.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CC6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Question directed to a named pupil.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CC8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Response acknowledged with affirmation or probe.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CC9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Pupil asked to elaborate or explain reasoning.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CC11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Misconceptions identified and addressed.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CC13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Teaching adapted based on response pattern.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CC14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Builds toward probing questioning.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326880" y="1783080"/>
            <a:ext cx="2194560" cy="210312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26880" y="1783080"/>
            <a:ext cx="64008" cy="210312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9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19385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8048" y="24231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it to coach and to observe — a shared picture of ‘good’, never a tick-box.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Full wording, with the probing-questions checklist (PQ): booklet p.9–10.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DELIBERATE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it — questioning in fours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212080" cy="36118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6118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set-up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603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teacher, 2 pupils, 1 coach.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Teacher: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pose a question to the class, hold thinking time, cold call one pupil, then probe once.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gives a thin answer to be probed; one is unsure and needs warmth.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Rotate after each round.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120640" cy="361188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61188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3" name="Image 2" descr="assets/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965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11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Coach, watch for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603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Question to the whole class, no name first?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Thinking time genuinely held?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 call warm, not a ‘gotcha’?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Answer probed, not just accepted?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Misconception handled calmly?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Booklet · Section 4 — record your reflection there.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BEYOND COLD CALL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Techniques that deepen dialogue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1168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Probing questions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61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Clarify, justify, evidence, alternative, implication — one good probe per answer.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1168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 · pair · share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825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the answer with a partner before it goes public; raises the floor.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6732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opt out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961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‘I don't know’ isn't the end — come back to the pupil for a correct answer.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76732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Say it again, better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825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 a rough answer into a precise one; hold out for the full sentence.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these would most help your quieter pupils into the conversation?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Booklet · Sections 5–6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INCLUSION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Questioning that includes everyone</a:t>
            </a:r>
            <a:endParaRPr lang="en-US" sz="2700" dirty="0"/>
          </a:p>
        </p:txBody>
      </p:sp>
      <p:pic>
        <p:nvPicPr>
          <p:cNvPr id="6" name="Image 1" descr="assets/ico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92024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Thinking time and pair-share give pupils who process more slowly a fair chance to prepare an answer.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Warm cold calling tells every pupil they are expected, and able, to contribute.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Probing lets you adapt on the spot — stretching some, supporting others, from the same question.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routine; flex the question; respond to the pupil in front of you.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869680" y="1920240"/>
            <a:ext cx="2651760" cy="21945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0" y="1920240"/>
            <a:ext cx="64008" cy="21945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031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09828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could thinking time or pair-share bring a particular pupil into your next discussion?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WATCH, THEN DISCUSS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 cold calling in a real classroom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solidFill>
            <a:srgbClr val="11201C"/>
          </a:solidFill>
          <a:ln/>
        </p:spPr>
      </p:sp>
      <p:sp>
        <p:nvSpPr>
          <p:cNvPr id="7" name="Shape 4"/>
          <p:cNvSpPr/>
          <p:nvPr/>
        </p:nvSpPr>
        <p:spPr>
          <a:xfrm>
            <a:off x="3063240" y="26974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 rot="5400000">
            <a:off x="3374136" y="2971800"/>
            <a:ext cx="502920" cy="640080"/>
          </a:xfrm>
          <a:prstGeom prst="triangle">
            <a:avLst/>
          </a:prstGeom>
          <a:solidFill>
            <a:srgbClr val="1432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51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Play the clip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 Like a Champion </a:t>
            </a:r>
            <a:pPr algn="ctr"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· video portal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828800"/>
            <a:ext cx="4663440" cy="32918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1828800"/>
            <a:ext cx="64008" cy="3291840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to find 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2331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books.wiley.com/titles/9781119712619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Password: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consider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Look for clips on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 Call and questioning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86600" y="3493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 you watch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3840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does the teacher make cold call feel warm, not a ‘gotcha’?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does thinking time look like before a name is given?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is a first answer probed into a fuller one?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Questioning &amp; Dialogue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3736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664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three cold-call questions for your next lesson, with the thinking-time pause built in.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the sequence in your coaching quartet this week.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Continue online — the Questioning &amp; Dialogue strand of the Teaching Practice site.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professional development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TEP Questioning &amp; Dialogue</dc:title>
  <dc:subject>PptxGenJS Presentation</dc:subject>
  <dc:creator>Nishkam Schools</dc:creator>
  <cp:lastModifiedBy>Nishkam Schools</cp:lastModifiedBy>
  <cp:revision>1</cp:revision>
  <dcterms:created xsi:type="dcterms:W3CDTF">2026-06-09T16:02:10Z</dcterms:created>
  <dcterms:modified xsi:type="dcterms:W3CDTF">2026-06-09T16:02:10Z</dcterms:modified>
</cp:coreProperties>
</file>