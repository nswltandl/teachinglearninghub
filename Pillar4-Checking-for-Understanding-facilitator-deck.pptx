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55448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 ·  Pillar Four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Checking for Understanding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Turning ‘is everyone with me?’ into a question with an answer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Facilitator session</a:t>
            </a:r>
            <a:pPr indent="0" marL="0">
              <a:buNone/>
            </a:pPr>
            <a:r>
              <a:rPr lang="en-US" sz="14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  pairs with the Checking for Understanding booklet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professional development programme developed by Nishkam Schools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PROGRAMME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pillars, one shared method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5800" y="1874520"/>
            <a:ext cx="5852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· Behaviour &amp; Climate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· Adaptive Teaching &amp; Inclusion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· Instruction &amp; Modelling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· Checking for Understanding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· Questioning &amp; Classroom Dialogue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· Standards &amp; Curriculum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086100"/>
            <a:ext cx="64008" cy="29260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8" name="Shape 5"/>
          <p:cNvSpPr/>
          <p:nvPr/>
        </p:nvSpPr>
        <p:spPr>
          <a:xfrm>
            <a:off x="6858000" y="1783080"/>
            <a:ext cx="4663440" cy="39776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0" y="1783080"/>
            <a:ext cx="64008" cy="39776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0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19933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teachers use it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14032" y="260604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study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booklet, worked through alone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Coaching quartets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four colleagues rehearse together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Class teams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adapting each method to your class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Whole-school CPD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this hour does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Replace the guess about who understands with evidence from every pupil.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Build the mini-whiteboard routine and the hinge question.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circulation that checks, rather than wanders.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Leave with one hinge question planned for an upcoming lesson.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869680" y="1965960"/>
            <a:ext cx="2651760" cy="26517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869680" y="1965960"/>
            <a:ext cx="64008" cy="26517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9" name="Image 1" descr="assets/icon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19456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Keep the booklet open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098280" y="3246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slides lead the room; the booklet is where you record your thinking and the tasks.</a:t>
            </a:r>
            <a:endParaRPr lang="en-US" sz="1250" dirty="0"/>
          </a:p>
        </p:txBody>
      </p:sp>
      <p:pic>
        <p:nvPicPr>
          <p:cNvPr id="12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do you currently know a class has understood, before you mark their books?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Knowing what the class understands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074920" cy="3154680"/>
          </a:xfrm>
          <a:prstGeom prst="rect">
            <a:avLst/>
          </a:prstGeom>
          <a:solidFill>
            <a:srgbClr val="F4F1EC"/>
          </a:solidFill>
          <a:ln w="12700">
            <a:solidFill>
              <a:srgbClr val="C0613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154680"/>
          </a:xfrm>
          <a:prstGeom prst="rect">
            <a:avLst/>
          </a:prstGeom>
          <a:solidFill>
            <a:srgbClr val="C0613F"/>
          </a:solidFill>
          <a:ln/>
        </p:spPr>
      </p:sp>
      <p:pic>
        <p:nvPicPr>
          <p:cNvPr id="8" name="Image 1" descr="assets/ico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8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Asking 'does everyone understand?'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‘Does everyone understand?’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confident few nod; the lost stay quiet.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Hands up: you hear from those who already know.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lesson moves on over the heads of some.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074920" cy="315468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1546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check every pupil answers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question every pupil answers at once.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Thirty boards up; the room read in a glance.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planned hinge decides: move on, or reteach.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pupil hides, and none is left behind.</a:t>
            </a:r>
            <a:endParaRPr lang="en-US" sz="1300" dirty="0"/>
          </a:p>
        </p:txBody>
      </p:sp>
      <p:pic>
        <p:nvPicPr>
          <p:cNvPr id="16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755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515721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check do you rely on most — and what is it missing?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606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teacher who does not know what pupils understand is teaching to a room they cannot see.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4480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Checking is how a teacher decides what to do next.  </a:t>
            </a:r>
            <a:pPr indent="0" marL="0">
              <a:buNone/>
            </a:pPr>
            <a:r>
              <a:rPr lang="en-US" sz="16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 principle of this programme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CORE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ideas behind the pillar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66544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All-pupil response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pupil answers at once, so you read the whole room, not the confident few.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665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51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hinge question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planned question whose answers decide whether the lesson moves on.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94106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Purposeful circulation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961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Movement with three jobs: on task, on track, supported.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941064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Act on the evidence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63825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discipline to loop back when the boards show confusion.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of the four is least developed in your practice?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THINKING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this comes from</a:t>
            </a:r>
            <a:endParaRPr lang="en-US" sz="2700" dirty="0"/>
          </a:p>
        </p:txBody>
      </p:sp>
      <p:pic>
        <p:nvPicPr>
          <p:cNvPr id="6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828800"/>
            <a:ext cx="7040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Dylan Wiliam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checking makes teaching responsive: gather evidence of where pupils are, and adjust the next move.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Hinge questions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single, well-chosen question whose answers decide whether to move on or reteach.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Doug Lemov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‘Show Me’ and efficient checks that gather data from the whole class at once.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Barak Rosenshine — </a:t>
            </a:r>
            <a:pPr indent="0" marL="0"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most effective teachers check frequently and secure a high success rate.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0" y="1828800"/>
            <a:ext cx="2834640" cy="237744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828800"/>
            <a:ext cx="64008" cy="237744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0116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915400" y="256032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in a lesson do you most need evidence you are not currently gathering?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Wiliam, Embedded Formative Assessment · Lemov, Teach Like a Champion · Rosenshine, Principles of Instruction.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ROUTINE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mini-whiteboard checkpoint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566160" cy="342900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42900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65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Everyone, at once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14400" y="256032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Mini-whiteboards turn ‘is everyone with me?’ into a question with thirty answers.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hinge question is the planned checkpoint that decides the next move.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0" y="1810512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120640" y="176479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Boards and pens on desks, ready (MW1).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72000" y="2377440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5" name="Text 11"/>
          <p:cNvSpPr/>
          <p:nvPr/>
        </p:nvSpPr>
        <p:spPr>
          <a:xfrm>
            <a:off x="45720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120640" y="23317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clear task that is a genuine check; state the time limit (MW2–MW4).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72000" y="2944368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8" name="Text 14"/>
          <p:cNvSpPr/>
          <p:nvPr/>
        </p:nvSpPr>
        <p:spPr>
          <a:xfrm>
            <a:off x="457200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120640" y="289864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Silent thinking time before any response (MW6).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572000" y="3511296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21" name="Text 17"/>
          <p:cNvSpPr/>
          <p:nvPr/>
        </p:nvSpPr>
        <p:spPr>
          <a:xfrm>
            <a:off x="457200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120640" y="34655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‘3-2-1, show me’; all boards up together (MW7–MW8).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572000" y="4078224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24" name="Text 20"/>
          <p:cNvSpPr/>
          <p:nvPr/>
        </p:nvSpPr>
        <p:spPr>
          <a:xfrm>
            <a:off x="457200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5120640" y="403250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room, then decide: move on, or reteach.</a:t>
            </a:r>
            <a:endParaRPr lang="en-US" sz="1400" dirty="0"/>
          </a:p>
        </p:txBody>
      </p:sp>
      <p:pic>
        <p:nvPicPr>
          <p:cNvPr id="26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is the moment in your next lesson that a hinge question should guard?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discipline is to act on what the boards show — including looping back.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NISHKAM FRAME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Checking and the virtue of diligence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10908792" cy="320040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74520"/>
            <a:ext cx="64008" cy="320040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8" name="Image 1" descr="assets/crest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287000" y="3794760"/>
            <a:ext cx="91440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Nishkam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05840" y="260604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Diligence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refusal to assume, and the care to find out.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calm, silent thinking time the routine protects.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Determination </a:t>
            </a:r>
            <a:pPr indent="0" marL="0"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willingness to reteach when the evidence says so.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315200" y="269748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any school:  </a:t>
            </a:r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pupil answering at once serves the quiet one who would never volunteer that they are lost.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checking checklists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589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MW4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Time limit set and stated.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MW6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Silent thinking time before responses.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MW7-8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‘3-2-1 show me’ trigger; all boards raised.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CCS3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Confidence checked through questioning.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CCS5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Strong position taken to scan the room.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CCS9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The working environment stays calm and purposeful.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326880" y="1783080"/>
            <a:ext cx="2194560" cy="210312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326880" y="1783080"/>
            <a:ext cx="64008" cy="210312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385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28048" y="24231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these to observe, or to be observed.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full MW and CCS checklists sit behind the modules online.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DELIBERATE PRACTICE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whiteboard check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212080" cy="36118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6118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447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set-up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6032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pairs, the partner gives a one-sentence MWB question. The teacher delivers it, names the time, holds silent thinking time, triggers ‘3-2-1, show me’, and reads the boards.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120640" cy="361188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61188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6596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311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Coach, watch for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603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time limit stated up front.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Silent thinking time genuinely held.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 boards up together on the trigger.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Non-compliance handled calmly.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real decision made from what the boards show.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check is only worth doing if the teacher acts on it.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CIRCULATION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Movement with three jobs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11680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task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61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 pupils working — promptly, and on the right thing?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1168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track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825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Is the work correct? On task is not the same as on track.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6732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Support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961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Adaptation and scaffolding where needed; assistant teacher on key pupils.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76732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494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early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3825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pen-down, looking-around pupil is the first signal, not the last.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in independent practice do you currently wander rather than circulate?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Circulation is purposeful movement, not a lap of the room.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EVERY PUPIL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checking everyone reaches every pupil</a:t>
            </a:r>
            <a:endParaRPr lang="en-US" sz="2700" dirty="0"/>
          </a:p>
        </p:txBody>
      </p:sp>
      <p:pic>
        <p:nvPicPr>
          <p:cNvPr id="6" name="Image 1" descr="assets/icon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92024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pupil who never volunteers is exactly the one a hands-up question fails; the whiteboard reaches them.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Silent thinking time gives slower processors the same chance as the quick ones.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Reading the room early lets support reach a pupil before they have been lost for ten minutes.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869680" y="1920240"/>
            <a:ext cx="2651760" cy="21945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869680" y="1920240"/>
            <a:ext cx="64008" cy="21945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0982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pupil would most benefit from a routine where everyone has to answer?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WATCH, THEN DISCUSS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Checking on screen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solidFill>
            <a:srgbClr val="11201C"/>
          </a:solidFill>
          <a:ln/>
        </p:spPr>
      </p:sp>
      <p:sp>
        <p:nvSpPr>
          <p:cNvPr id="7" name="Shape 4"/>
          <p:cNvSpPr/>
          <p:nvPr/>
        </p:nvSpPr>
        <p:spPr>
          <a:xfrm>
            <a:off x="3063240" y="269748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3374136" y="2971800"/>
            <a:ext cx="502920" cy="640080"/>
          </a:xfrm>
          <a:prstGeom prst="triangle">
            <a:avLst/>
          </a:prstGeom>
          <a:solidFill>
            <a:srgbClr val="1432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251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 the clip here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617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 Like a Champion </a:t>
            </a:r>
            <a:pPr algn="ctr"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· video portal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828800"/>
            <a:ext cx="4663440" cy="32918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1828800"/>
            <a:ext cx="64008" cy="3291840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to find it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23317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Portal: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books.wiley.com/titles/9781119712619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Password: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consider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Clips: 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 for Understanding; Show Me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86600" y="3493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you watch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3840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does the teacher gather a response from everyone?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do they do with what they see?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do they decide to move on, or to reteach?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Checking for Understanding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73736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664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one hinge question for an upcoming lesson.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Run the mini-whiteboard routine, holding the silent thinking time.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your next independent phase as circulation with three jobs.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Pillar 4 modules online for the worked detail.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professional development programme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Pillar 4 — facilitator deck</dc:title>
  <dc:subject>PptxGenJS Presentation</dc:subject>
  <dc:creator>Nishkam Schools</dc:creator>
  <cp:lastModifiedBy>Nishkam Schools</cp:lastModifiedBy>
  <cp:revision>1</cp:revision>
  <dcterms:created xsi:type="dcterms:W3CDTF">2026-06-17T09:23:23Z</dcterms:created>
  <dcterms:modified xsi:type="dcterms:W3CDTF">2026-06-17T09:23:23Z</dcterms:modified>
</cp:coreProperties>
</file>