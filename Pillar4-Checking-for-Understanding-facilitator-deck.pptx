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Default Extension="jpeg" ContentType="image/jpeg"/>
  <Default Extension="jpg" ContentType="image/jpg"/>
  <Default Extension="svg" ContentType="image/svg+xml"/>
  <Default Extension="png" ContentType="image/png"/>
  <Default Extension="gif" ContentType="image/gif"/>
  <Default Extension="m4v" ContentType="video/mp4"/>
  <Default Extension="mp4" ContentType="video/mp4"/>
  <Default Extension="vml" ContentType="application/vnd.openxmlformats-officedocument.vmlDrawing"/>
  <Default Extension="xlsx" ContentType="application/vnd.openxmlformats-officedocument.spreadsheetml.sheet"/>
  <Override PartName="/ppt/presentation.xml" ContentType="application/vnd.openxmlformats-officedocument.presentationml.presentation.main+xml"/>
  <Override PartName="/ppt/notesMasters/notesMaster1.xml" ContentType="application/vnd.openxmlformats-officedocument.presentationml.notesMaster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Masters/slideMaster2.xml" ContentType="application/vnd.openxmlformats-officedocument.presentationml.slideMaster+xml"/>
  <Override PartName="/ppt/slides/slide2.xml" ContentType="application/vnd.openxmlformats-officedocument.presentationml.slide+xml"/>
  <Override PartName="/ppt/slideMasters/slideMaster3.xml" ContentType="application/vnd.openxmlformats-officedocument.presentationml.slideMaster+xml"/>
  <Override PartName="/ppt/slides/slide3.xml" ContentType="application/vnd.openxmlformats-officedocument.presentationml.slide+xml"/>
  <Override PartName="/ppt/slideMasters/slideMaster4.xml" ContentType="application/vnd.openxmlformats-officedocument.presentationml.slideMaster+xml"/>
  <Override PartName="/ppt/slides/slide4.xml" ContentType="application/vnd.openxmlformats-officedocument.presentationml.slide+xml"/>
  <Override PartName="/ppt/slideMasters/slideMaster5.xml" ContentType="application/vnd.openxmlformats-officedocument.presentationml.slideMaster+xml"/>
  <Override PartName="/ppt/slides/slide5.xml" ContentType="application/vnd.openxmlformats-officedocument.presentationml.slide+xml"/>
  <Override PartName="/ppt/slideMasters/slideMaster6.xml" ContentType="application/vnd.openxmlformats-officedocument.presentationml.slideMaster+xml"/>
  <Override PartName="/ppt/slides/slide6.xml" ContentType="application/vnd.openxmlformats-officedocument.presentationml.slide+xml"/>
  <Override PartName="/ppt/slideMasters/slideMaster7.xml" ContentType="application/vnd.openxmlformats-officedocument.presentationml.slideMaster+xml"/>
  <Override PartName="/ppt/slides/slide7.xml" ContentType="application/vnd.openxmlformats-officedocument.presentationml.slide+xml"/>
  <Override PartName="/ppt/slideMasters/slideMaster8.xml" ContentType="application/vnd.openxmlformats-officedocument.presentationml.slideMaster+xml"/>
  <Override PartName="/ppt/slides/slide8.xml" ContentType="application/vnd.openxmlformats-officedocument.presentationml.slide+xml"/>
  <Override PartName="/ppt/slideMasters/slideMaster9.xml" ContentType="application/vnd.openxmlformats-officedocument.presentationml.slideMaster+xml"/>
  <Override PartName="/ppt/slides/slide9.xml" ContentType="application/vnd.openxmlformats-officedocument.presentationml.slide+xml"/>
  <Override PartName="/ppt/slideMasters/slideMaster10.xml" ContentType="application/vnd.openxmlformats-officedocument.presentationml.slideMaster+xml"/>
  <Override PartName="/ppt/slides/slide10.xml" ContentType="application/vnd.openxmlformats-officedocument.presentationml.slide+xml"/>
  <Override PartName="/ppt/slideMasters/slideMaster11.xml" ContentType="application/vnd.openxmlformats-officedocument.presentationml.slideMaster+xml"/>
  <Override PartName="/ppt/slides/slide11.xml" ContentType="application/vnd.openxmlformats-officedocument.presentationml.slide+xml"/>
  <Override PartName="/ppt/slideMasters/slideMaster12.xml" ContentType="application/vnd.openxmlformats-officedocument.presentationml.slideMaster+xml"/>
  <Override PartName="/ppt/slides/slide12.xml" ContentType="application/vnd.openxmlformats-officedocument.presentationml.slide+xml"/>
  <Override PartName="/ppt/slideMasters/slideMaster13.xml" ContentType="application/vnd.openxmlformats-officedocument.presentationml.slideMaster+xml"/>
  <Override PartName="/ppt/slides/slide13.xml" ContentType="application/vnd.openxmlformats-officedocument.presentationml.slide+xml"/>
  <Override PartName="/ppt/slideMasters/slideMaster14.xml" ContentType="application/vnd.openxmlformats-officedocument.presentationml.slideMaster+xml"/>
  <Override PartName="/ppt/slides/slide14.xml" ContentType="application/vnd.openxmlformats-officedocument.presentationml.slide+xml"/>
  <Override PartName="/ppt/slideMasters/slideMaster15.xml" ContentType="application/vnd.openxmlformats-officedocument.presentationml.slideMaster+xml"/>
  <Override PartName="/ppt/slides/slide15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ppt/notesSlides/notesSlide12.xml" ContentType="application/vnd.openxmlformats-officedocument.presentationml.notesSlide+xml"/>
  <Override PartName="/ppt/notesSlides/notesSlide13.xml" ContentType="application/vnd.openxmlformats-officedocument.presentationml.notesSlide+xml"/>
  <Override PartName="/ppt/notesSlides/notesSlide14.xml" ContentType="application/vnd.openxmlformats-officedocument.presentationml.notesSlide+xml"/>
  <Override PartName="/ppt/notesSlides/notesSlide15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
		<Relationship Id="rId1" Type="http://schemas.openxmlformats.org/officeDocument/2006/relationships/extended-properties" Target="docProps/app.xml"/>
		<Relationship Id="rId2" Type="http://schemas.openxmlformats.org/package/2006/relationships/metadata/core-properties" Target="docProps/core.xml"/>
		<Relationship Id="rId3" Type="http://schemas.openxmlformats.org/officeDocument/2006/relationships/officeDocument" Target="ppt/presentation.xml"/>
		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4" r:id="rId10"/>
    <p:sldId id="265" r:id="rId11"/>
    <p:sldId id="266" r:id="rId12"/>
    <p:sldId id="267" r:id="rId13"/>
    <p:sldId id="268" r:id="rId14"/>
    <p:sldId id="269" r:id="rId15"/>
    <p:sldId id="270" r:id="rId16"/>
  </p:sldIdLst>
  <p:notesMasterIdLst>
    <p:notesMasterId r:id="rId17"/>
  </p:notesMasterIdLst>
  <p:sldSz cx="12192000" cy="6858000"/>
  <p:notesSz cx="6858000" cy="12192000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/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11"/>
    <p:restoredTop sz="94610"/>
  </p:normalViewPr>
  <p:slideViewPr>
    <p:cSldViewPr snapToGrid="0" snapToObjects="1">
      <p:cViewPr varScale="1">
        <p:scale>
          <a:sx n="136" d="100"/>
          <a:sy n="136" d="100"/>
        </p:scale>
        <p:origin x="216" y="31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slide" Target="slides/slide2.xml"/><Relationship Id="rId4" Type="http://schemas.openxmlformats.org/officeDocument/2006/relationships/slide" Target="slides/slide3.xml"/><Relationship Id="rId5" Type="http://schemas.openxmlformats.org/officeDocument/2006/relationships/slide" Target="slides/slide4.xml"/><Relationship Id="rId6" Type="http://schemas.openxmlformats.org/officeDocument/2006/relationships/slide" Target="slides/slide5.xml"/><Relationship Id="rId7" Type="http://schemas.openxmlformats.org/officeDocument/2006/relationships/slide" Target="slides/slide6.xml"/><Relationship Id="rId8" Type="http://schemas.openxmlformats.org/officeDocument/2006/relationships/slide" Target="slides/slide7.xml"/><Relationship Id="rId9" Type="http://schemas.openxmlformats.org/officeDocument/2006/relationships/slide" Target="slides/slide8.xml"/><Relationship Id="rId10" Type="http://schemas.openxmlformats.org/officeDocument/2006/relationships/slide" Target="slides/slide9.xml"/><Relationship Id="rId11" Type="http://schemas.openxmlformats.org/officeDocument/2006/relationships/slide" Target="slides/slide10.xml"/><Relationship Id="rId12" Type="http://schemas.openxmlformats.org/officeDocument/2006/relationships/slide" Target="slides/slide11.xml"/><Relationship Id="rId13" Type="http://schemas.openxmlformats.org/officeDocument/2006/relationships/slide" Target="slides/slide12.xml"/><Relationship Id="rId14" Type="http://schemas.openxmlformats.org/officeDocument/2006/relationships/slide" Target="slides/slide13.xml"/><Relationship Id="rId15" Type="http://schemas.openxmlformats.org/officeDocument/2006/relationships/slide" Target="slides/slide14.xml"/><Relationship Id="rId16" Type="http://schemas.openxmlformats.org/officeDocument/2006/relationships/slide" Target="slides/slide15.xml"/><Relationship Id="rId17" Type="http://schemas.openxmlformats.org/officeDocument/2006/relationships/notesMaster" Target="notesMasters/notesMaster1.xml"/><Relationship Id="rId18" Type="http://schemas.openxmlformats.org/officeDocument/2006/relationships/presProps" Target="presProps.xml"/><Relationship Id="rId19" Type="http://schemas.openxmlformats.org/officeDocument/2006/relationships/viewProps" Target="viewProps.xml"/><Relationship Id="rId20" Type="http://schemas.openxmlformats.org/officeDocument/2006/relationships/theme" Target="theme/theme1.xml"/><Relationship Id="rId21" Type="http://schemas.openxmlformats.org/officeDocument/2006/relationships/tableStyles" Target="tableStyles.xml"/></Relationships>
</file>

<file path=ppt/notesMasters/_rels/notesMaster1.xml.rels><?xml version="1.0" encoding="UTF-8" standalone="yes"?>
<Relationships xmlns="http://schemas.openxmlformats.org/package/2006/relationships">
		<Relationship Id="rId1" Type="http://schemas.openxmlformats.org/officeDocument/2006/relationships/theme" Target="../theme/theme1.xml"/>
		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5282F153-3F37-0F45-9E97-73ACFA13230C}" type="datetimeFigureOut">
              <a:rPr lang="en-US"/>
              <a:t>7/23/19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CE5E9CC1-C706-0F49-92D6-E571CC5EEA8F}" type="slidenum">
              <a:rPr lang="en-US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.xml"/>
		</Relationships>
</file>

<file path=ppt/notesSlides/_rels/notesSlide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.xml"/>
		</Relationships>
</file>

<file path=ppt/notesSlides/_rels/notesSlide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.xml"/>
		</Relationships>
</file>

<file path=ppt/notesSlides/_rels/notesSlide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.xml"/>
		</Relationships>
</file>

<file path=ppt/notesSlides/_rels/notesSlide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.xml"/>
		</Relationships>
</file>

<file path=ppt/notesSlides/_rels/notesSlide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6.xml"/>
		</Relationships>
</file>

<file path=ppt/notesSlides/_rels/notesSlide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7.xml"/>
		</Relationships>
</file>

<file path=ppt/notesSlides/_rels/notesSlide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8.xml"/>
		</Relationships>
</file>

<file path=ppt/notesSlides/_rels/notesSlide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9.xml"/>
		</Relationships>
</file>

<file path=ppt/notesSlides/_rels/notesSlide1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0.xml"/>
		</Relationships>
</file>

<file path=ppt/notesSlides/_rels/notesSlide1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1.xml"/>
		</Relationships>
</file>

<file path=ppt/notesSlides/_rels/notesSlide1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2.xml"/>
		</Relationships>
</file>

<file path=ppt/notesSlides/_rels/notesSlide1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3.xml"/>
		</Relationships>
</file>

<file path=ppt/notesSlides/_rels/notesSlide1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4.xml"/>
		</Relationships>
</file>

<file path=ppt/notesSlides/_rels/notesSlide1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5.xml"/>
		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image" Target="../media/image-2-1.png"/><Relationship Id="rId2" Type="http://schemas.openxmlformats.org/officeDocument/2006/relationships/image" Target="../media/image-2-2.png"/><Relationship Id="rId3" Type="http://schemas.openxmlformats.org/officeDocument/2006/relationships/slideLayout" Target="../slideLayouts/slideLayout1.xml"/><Relationship Id="rId4" Type="http://schemas.openxmlformats.org/officeDocument/2006/relationships/notesSlide" Target="../notesSlides/notesSlide2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image" Target="../media/image-3-1.png"/><Relationship Id="rId2" Type="http://schemas.openxmlformats.org/officeDocument/2006/relationships/image" Target="../media/image-3-2.png"/><Relationship Id="rId3" Type="http://schemas.openxmlformats.org/officeDocument/2006/relationships/image" Target="../media/image-3-3.png"/><Relationship Id="rId4" Type="http://schemas.openxmlformats.org/officeDocument/2006/relationships/slideLayout" Target="../slideLayouts/slideLayout1.xml"/><Relationship Id="rId5" Type="http://schemas.openxmlformats.org/officeDocument/2006/relationships/notesSlide" Target="../notesSlides/notesSlide3.xml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image" Target="../media/image-4-1.png"/><Relationship Id="rId2" Type="http://schemas.openxmlformats.org/officeDocument/2006/relationships/image" Target="../media/image-4-2.png"/><Relationship Id="rId3" Type="http://schemas.openxmlformats.org/officeDocument/2006/relationships/image" Target="../media/image-4-3.png"/><Relationship Id="rId4" Type="http://schemas.openxmlformats.org/officeDocument/2006/relationships/image" Target="../media/image-4-4.png"/><Relationship Id="rId5" Type="http://schemas.openxmlformats.org/officeDocument/2006/relationships/slideLayout" Target="../slideLayouts/slideLayout1.xml"/><Relationship Id="rId6" Type="http://schemas.openxmlformats.org/officeDocument/2006/relationships/notesSlide" Target="../notesSlides/notesSlide4.xml"/></Relationships>
</file>

<file path=ppt/slides/_rels/slide5.xml.rels><?xml version="1.0" encoding="UTF-8" standalone="yes"?>
<Relationships xmlns="http://schemas.openxmlformats.org/package/2006/relationships"><Relationship Id="rId1" Type="http://schemas.openxmlformats.org/officeDocument/2006/relationships/image" Target="../media/image-5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5.xml"/></Relationships>
</file>

<file path=ppt/slides/_rels/slide6.xml.rels><?xml version="1.0" encoding="UTF-8" standalone="yes"?>
<Relationships xmlns="http://schemas.openxmlformats.org/package/2006/relationships"><Relationship Id="rId1" Type="http://schemas.openxmlformats.org/officeDocument/2006/relationships/image" Target="../media/image-6-1.png"/><Relationship Id="rId2" Type="http://schemas.openxmlformats.org/officeDocument/2006/relationships/image" Target="../media/image-6-2.png"/><Relationship Id="rId3" Type="http://schemas.openxmlformats.org/officeDocument/2006/relationships/image" Target="../media/image-6-3.png"/><Relationship Id="rId4" Type="http://schemas.openxmlformats.org/officeDocument/2006/relationships/image" Target="../media/image-6-4.png"/><Relationship Id="rId5" Type="http://schemas.openxmlformats.org/officeDocument/2006/relationships/image" Target="../media/image-6-5.png"/><Relationship Id="rId6" Type="http://schemas.openxmlformats.org/officeDocument/2006/relationships/image" Target="../media/image-6-6.png"/><Relationship Id="rId7" Type="http://schemas.openxmlformats.org/officeDocument/2006/relationships/slideLayout" Target="../slideLayouts/slideLayout1.xml"/><Relationship Id="rId8" Type="http://schemas.openxmlformats.org/officeDocument/2006/relationships/notesSlide" Target="../notesSlides/notesSlide6.xml"/></Relationships>
</file>

<file path=ppt/slides/_rels/slide7.xml.rels><?xml version="1.0" encoding="UTF-8" standalone="yes"?>
<Relationships xmlns="http://schemas.openxmlformats.org/package/2006/relationships"><Relationship Id="rId1" Type="http://schemas.openxmlformats.org/officeDocument/2006/relationships/image" Target="../media/image-7-1.png"/><Relationship Id="rId2" Type="http://schemas.openxmlformats.org/officeDocument/2006/relationships/image" Target="../media/image-7-2.png"/><Relationship Id="rId3" Type="http://schemas.openxmlformats.org/officeDocument/2006/relationships/image" Target="../media/image-7-3.png"/><Relationship Id="rId4" Type="http://schemas.openxmlformats.org/officeDocument/2006/relationships/slideLayout" Target="../slideLayouts/slideLayout1.xml"/><Relationship Id="rId5" Type="http://schemas.openxmlformats.org/officeDocument/2006/relationships/notesSlide" Target="../notesSlides/notesSlide7.xml"/></Relationships>
</file>

<file path=ppt/slides/_rels/slide8.xml.rels><?xml version="1.0" encoding="UTF-8" standalone="yes"?>
<Relationships xmlns="http://schemas.openxmlformats.org/package/2006/relationships"><Relationship Id="rId1" Type="http://schemas.openxmlformats.org/officeDocument/2006/relationships/image" Target="../media/image-8-1.png"/><Relationship Id="rId2" Type="http://schemas.openxmlformats.org/officeDocument/2006/relationships/image" Target="../media/image-8-2.png"/><Relationship Id="rId3" Type="http://schemas.openxmlformats.org/officeDocument/2006/relationships/image" Target="../media/image-8-3.png"/><Relationship Id="rId4" Type="http://schemas.openxmlformats.org/officeDocument/2006/relationships/slideLayout" Target="../slideLayouts/slideLayout1.xml"/><Relationship Id="rId5" Type="http://schemas.openxmlformats.org/officeDocument/2006/relationships/notesSlide" Target="../notesSlides/notesSlide8.xml"/></Relationships>
</file>

<file path=ppt/slides/_rels/slide9.xml.rels><?xml version="1.0" encoding="UTF-8" standalone="yes"?>
<Relationships xmlns="http://schemas.openxmlformats.org/package/2006/relationships"><Relationship Id="rId1" Type="http://schemas.openxmlformats.org/officeDocument/2006/relationships/image" Target="../media/image-9-1.png"/><Relationship Id="rId2" Type="http://schemas.openxmlformats.org/officeDocument/2006/relationships/image" Target="../media/image-9-1.png"/><Relationship Id="rId3" Type="http://schemas.openxmlformats.org/officeDocument/2006/relationships/slideLayout" Target="../slideLayouts/slideLayout1.xml"/><Relationship Id="rId4" Type="http://schemas.openxmlformats.org/officeDocument/2006/relationships/notesSlide" Target="../notesSlides/notesSlide9.xml"/></Relationships>
</file>

<file path=ppt/slides/_rels/slide10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0-1.png"/><Relationship Id="rId2" Type="http://schemas.openxmlformats.org/officeDocument/2006/relationships/image" Target="../media/image-10-2.png"/><Relationship Id="rId3" Type="http://schemas.openxmlformats.org/officeDocument/2006/relationships/slideLayout" Target="../slideLayouts/slideLayout1.xml"/><Relationship Id="rId4" Type="http://schemas.openxmlformats.org/officeDocument/2006/relationships/notesSlide" Target="../notesSlides/notesSlide10.xml"/></Relationships>
</file>

<file path=ppt/slides/_rels/slide11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1-1.png"/><Relationship Id="rId2" Type="http://schemas.openxmlformats.org/officeDocument/2006/relationships/image" Target="../media/image-11-2.png"/><Relationship Id="rId3" Type="http://schemas.openxmlformats.org/officeDocument/2006/relationships/image" Target="../media/image-11-3.png"/><Relationship Id="rId4" Type="http://schemas.openxmlformats.org/officeDocument/2006/relationships/slideLayout" Target="../slideLayouts/slideLayout1.xml"/><Relationship Id="rId5" Type="http://schemas.openxmlformats.org/officeDocument/2006/relationships/notesSlide" Target="../notesSlides/notesSlide11.xml"/></Relationships>
</file>

<file path=ppt/slides/_rels/slide12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2-1.png"/><Relationship Id="rId2" Type="http://schemas.openxmlformats.org/officeDocument/2006/relationships/image" Target="../media/image-12-2.png"/><Relationship Id="rId3" Type="http://schemas.openxmlformats.org/officeDocument/2006/relationships/image" Target="../media/image-12-3.png"/><Relationship Id="rId4" Type="http://schemas.openxmlformats.org/officeDocument/2006/relationships/image" Target="../media/image-12-4.png"/><Relationship Id="rId5" Type="http://schemas.openxmlformats.org/officeDocument/2006/relationships/image" Target="../media/image-12-5.png"/><Relationship Id="rId6" Type="http://schemas.openxmlformats.org/officeDocument/2006/relationships/image" Target="../media/image-12-6.png"/><Relationship Id="rId7" Type="http://schemas.openxmlformats.org/officeDocument/2006/relationships/slideLayout" Target="../slideLayouts/slideLayout1.xml"/><Relationship Id="rId8" Type="http://schemas.openxmlformats.org/officeDocument/2006/relationships/notesSlide" Target="../notesSlides/notesSlide12.xml"/></Relationships>
</file>

<file path=ppt/slides/_rels/slide13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3-1.png"/><Relationship Id="rId2" Type="http://schemas.openxmlformats.org/officeDocument/2006/relationships/image" Target="../media/image-13-2.png"/><Relationship Id="rId3" Type="http://schemas.openxmlformats.org/officeDocument/2006/relationships/image" Target="../media/image-13-3.png"/><Relationship Id="rId4" Type="http://schemas.openxmlformats.org/officeDocument/2006/relationships/slideLayout" Target="../slideLayouts/slideLayout1.xml"/><Relationship Id="rId5" Type="http://schemas.openxmlformats.org/officeDocument/2006/relationships/notesSlide" Target="../notesSlides/notesSlide13.xml"/></Relationships>
</file>

<file path=ppt/slides/_rels/slide14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4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4.xml"/></Relationships>
</file>

<file path=ppt/slides/_rels/slide15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5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5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bg>
      <p:bgPr>
        <a:solidFill>
          <a:srgbClr val="14322D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Image 0" descr="assets/crest_light.png">    </p:cNvPr>
          <p:cNvPicPr>
            <a:picLocks noChangeAspect="1"/>
          </p:cNvPicPr>
          <p:nvPr/>
        </p:nvPicPr>
        <p:blipFill>
          <a:blip r:embed="rId1">
            <a:alphaModFix amt="16000"/>
          </a:blip>
          <a:stretch>
            <a:fillRect/>
          </a:stretch>
        </p:blipFill>
        <p:spPr>
          <a:xfrm>
            <a:off x="7772400" y="3200400"/>
            <a:ext cx="3931920" cy="3419856"/>
          </a:xfrm>
          <a:prstGeom prst="rect">
            <a:avLst/>
          </a:prstGeom>
        </p:spPr>
      </p:pic>
      <p:sp>
        <p:nvSpPr>
          <p:cNvPr id="3" name="Shape 0"/>
          <p:cNvSpPr/>
          <p:nvPr/>
        </p:nvSpPr>
        <p:spPr>
          <a:xfrm>
            <a:off x="640080" y="1554480"/>
            <a:ext cx="201168" cy="201168"/>
          </a:xfrm>
          <a:prstGeom prst="rect">
            <a:avLst/>
          </a:prstGeom>
          <a:solidFill>
            <a:srgbClr val="B07D2B"/>
          </a:solidFill>
          <a:ln/>
        </p:spPr>
      </p:sp>
      <p:sp>
        <p:nvSpPr>
          <p:cNvPr id="4" name="Text 1"/>
          <p:cNvSpPr/>
          <p:nvPr/>
        </p:nvSpPr>
        <p:spPr>
          <a:xfrm>
            <a:off x="1005840" y="1481328"/>
            <a:ext cx="100584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spc="200" kern="0" dirty="0">
                <a:solidFill>
                  <a:srgbClr val="BFE0D7"/>
                </a:solidFill>
                <a:latin typeface="Century Gothic" pitchFamily="34" charset="0"/>
                <a:ea typeface="Century Gothic" pitchFamily="34" charset="-122"/>
                <a:cs typeface="Century Gothic" pitchFamily="34" charset="-120"/>
              </a:rPr>
              <a:t>TEACHING EXCELLENCE PROGRAMME  ·  Pillar Four</a:t>
            </a:r>
            <a:endParaRPr lang="en-US" sz="1300" dirty="0"/>
          </a:p>
        </p:txBody>
      </p:sp>
      <p:sp>
        <p:nvSpPr>
          <p:cNvPr id="5" name="Text 2"/>
          <p:cNvSpPr/>
          <p:nvPr/>
        </p:nvSpPr>
        <p:spPr>
          <a:xfrm>
            <a:off x="640080" y="2103120"/>
            <a:ext cx="1060704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800" b="1" dirty="0">
                <a:solidFill>
                  <a:srgbClr val="FFFFFF"/>
                </a:solidFill>
                <a:latin typeface="Century Gothic" pitchFamily="34" charset="0"/>
                <a:ea typeface="Century Gothic" pitchFamily="34" charset="-122"/>
                <a:cs typeface="Century Gothic" pitchFamily="34" charset="-120"/>
              </a:rPr>
              <a:t>Checking for Understanding</a:t>
            </a:r>
            <a:endParaRPr lang="en-US" sz="3800" dirty="0"/>
          </a:p>
        </p:txBody>
      </p:sp>
      <p:sp>
        <p:nvSpPr>
          <p:cNvPr id="6" name="Text 3"/>
          <p:cNvSpPr/>
          <p:nvPr/>
        </p:nvSpPr>
        <p:spPr>
          <a:xfrm>
            <a:off x="640080" y="3383280"/>
            <a:ext cx="1042416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300" dirty="0">
                <a:solidFill>
                  <a:srgbClr val="BFE0D7"/>
                </a:solidFill>
                <a:latin typeface="Century Gothic" pitchFamily="34" charset="0"/>
                <a:ea typeface="Century Gothic" pitchFamily="34" charset="-122"/>
                <a:cs typeface="Century Gothic" pitchFamily="34" charset="-120"/>
              </a:rPr>
              <a:t>Turning ‘is everyone with me?’ into a question with an answer</a:t>
            </a:r>
            <a:endParaRPr lang="en-US" sz="2300" dirty="0"/>
          </a:p>
        </p:txBody>
      </p:sp>
      <p:sp>
        <p:nvSpPr>
          <p:cNvPr id="7" name="Text 4"/>
          <p:cNvSpPr/>
          <p:nvPr/>
        </p:nvSpPr>
        <p:spPr>
          <a:xfrm>
            <a:off x="640080" y="5120640"/>
            <a:ext cx="100584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FFFFFF"/>
                </a:solidFill>
                <a:latin typeface="Century Gothic" pitchFamily="34" charset="0"/>
                <a:ea typeface="Century Gothic" pitchFamily="34" charset="-122"/>
                <a:cs typeface="Century Gothic" pitchFamily="34" charset="-120"/>
              </a:rPr>
              <a:t>Facilitator session</a:t>
            </a:r>
            <a:pPr indent="0" marL="0">
              <a:buNone/>
            </a:pPr>
            <a:r>
              <a:rPr lang="en-US" sz="1400" dirty="0">
                <a:solidFill>
                  <a:srgbClr val="BFE0D7"/>
                </a:solidFill>
                <a:latin typeface="Century Gothic" pitchFamily="34" charset="0"/>
                <a:ea typeface="Century Gothic" pitchFamily="34" charset="-122"/>
                <a:cs typeface="Century Gothic" pitchFamily="34" charset="-120"/>
              </a:rPr>
              <a:t>   ·   pairs with the Checking for Understanding booklet</a:t>
            </a:r>
            <a:endParaRPr lang="en-US" sz="1400" dirty="0"/>
          </a:p>
        </p:txBody>
      </p:sp>
      <p:sp>
        <p:nvSpPr>
          <p:cNvPr id="8" name="Text 5"/>
          <p:cNvSpPr/>
          <p:nvPr/>
        </p:nvSpPr>
        <p:spPr>
          <a:xfrm>
            <a:off x="640080" y="6309360"/>
            <a:ext cx="100584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8FB8AE"/>
                </a:solidFill>
                <a:latin typeface="Century Gothic" pitchFamily="34" charset="0"/>
                <a:ea typeface="Century Gothic" pitchFamily="34" charset="-122"/>
                <a:cs typeface="Century Gothic" pitchFamily="34" charset="-120"/>
              </a:rPr>
              <a:t>A professional development programme developed by Nishkam Schools</a:t>
            </a:r>
            <a:endParaRPr lang="en-US" sz="1100" dirty="0"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Image 0" descr="assets/crest.png">    </p:cNvPr>
          <p:cNvPicPr>
            <a:picLocks noChangeAspect="1"/>
          </p:cNvPicPr>
          <p:nvPr/>
        </p:nvPicPr>
        <p:blipFill>
          <a:blip r:embed="rId1">
            <a:alphaModFix amt="48000"/>
          </a:blip>
          <a:stretch>
            <a:fillRect/>
          </a:stretch>
        </p:blipFill>
        <p:spPr>
          <a:xfrm>
            <a:off x="10707624" y="384048"/>
            <a:ext cx="841248" cy="731520"/>
          </a:xfrm>
          <a:prstGeom prst="rect">
            <a:avLst/>
          </a:prstGeom>
        </p:spPr>
      </p:pic>
      <p:sp>
        <p:nvSpPr>
          <p:cNvPr id="3" name="Shape 0"/>
          <p:cNvSpPr/>
          <p:nvPr/>
        </p:nvSpPr>
        <p:spPr>
          <a:xfrm>
            <a:off x="640080" y="585216"/>
            <a:ext cx="146304" cy="146304"/>
          </a:xfrm>
          <a:prstGeom prst="rect">
            <a:avLst/>
          </a:prstGeom>
          <a:solidFill>
            <a:srgbClr val="B07D2B"/>
          </a:solidFill>
          <a:ln/>
        </p:spPr>
      </p:sp>
      <p:sp>
        <p:nvSpPr>
          <p:cNvPr id="4" name="Text 1"/>
          <p:cNvSpPr/>
          <p:nvPr/>
        </p:nvSpPr>
        <p:spPr>
          <a:xfrm>
            <a:off x="914400" y="502920"/>
            <a:ext cx="9628632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spc="200" kern="0" dirty="0">
                <a:solidFill>
                  <a:srgbClr val="3F9488"/>
                </a:solidFill>
                <a:latin typeface="Century Gothic" pitchFamily="34" charset="0"/>
                <a:ea typeface="Century Gothic" pitchFamily="34" charset="-122"/>
                <a:cs typeface="Century Gothic" pitchFamily="34" charset="-120"/>
              </a:rPr>
              <a:t>ONE PROGRAMME</a:t>
            </a:r>
            <a:endParaRPr lang="en-US" sz="1100" dirty="0"/>
          </a:p>
        </p:txBody>
      </p:sp>
      <p:sp>
        <p:nvSpPr>
          <p:cNvPr id="5" name="Text 2"/>
          <p:cNvSpPr/>
          <p:nvPr/>
        </p:nvSpPr>
        <p:spPr>
          <a:xfrm>
            <a:off x="640080" y="868680"/>
            <a:ext cx="9994392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700" b="1" dirty="0">
                <a:solidFill>
                  <a:srgbClr val="14322D"/>
                </a:solidFill>
                <a:latin typeface="Century Gothic" pitchFamily="34" charset="0"/>
                <a:ea typeface="Century Gothic" pitchFamily="34" charset="-122"/>
                <a:cs typeface="Century Gothic" pitchFamily="34" charset="-120"/>
              </a:rPr>
              <a:t>Six pillars, one shared method</a:t>
            </a:r>
            <a:endParaRPr lang="en-US" sz="2700" dirty="0"/>
          </a:p>
        </p:txBody>
      </p:sp>
      <p:sp>
        <p:nvSpPr>
          <p:cNvPr id="6" name="Text 3"/>
          <p:cNvSpPr/>
          <p:nvPr/>
        </p:nvSpPr>
        <p:spPr>
          <a:xfrm>
            <a:off x="685800" y="1874520"/>
            <a:ext cx="5852160" cy="38404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spcAft>
                <a:spcPts val="1100"/>
              </a:spcAft>
              <a:buNone/>
            </a:pPr>
            <a:r>
              <a:rPr lang="en-US" sz="1500" dirty="0">
                <a:solidFill>
                  <a:srgbClr val="1A1F1D"/>
                </a:solidFill>
                <a:latin typeface="Century Gothic" pitchFamily="34" charset="0"/>
                <a:ea typeface="Century Gothic" pitchFamily="34" charset="-122"/>
                <a:cs typeface="Century Gothic" pitchFamily="34" charset="-120"/>
              </a:rPr>
              <a:t>1 · Behaviour &amp; Climate</a:t>
            </a:r>
            <a:endParaRPr lang="en-US" sz="1500" dirty="0"/>
          </a:p>
          <a:p>
            <a:pPr indent="0" marL="0">
              <a:spcAft>
                <a:spcPts val="1100"/>
              </a:spcAft>
              <a:buNone/>
            </a:pPr>
            <a:r>
              <a:rPr lang="en-US" sz="1500" dirty="0">
                <a:solidFill>
                  <a:srgbClr val="1A1F1D"/>
                </a:solidFill>
                <a:latin typeface="Century Gothic" pitchFamily="34" charset="0"/>
                <a:ea typeface="Century Gothic" pitchFamily="34" charset="-122"/>
                <a:cs typeface="Century Gothic" pitchFamily="34" charset="-120"/>
              </a:rPr>
              <a:t>2 · Adaptive Teaching &amp; Inclusion</a:t>
            </a:r>
            <a:endParaRPr lang="en-US" sz="1500" dirty="0"/>
          </a:p>
          <a:p>
            <a:pPr indent="0" marL="0">
              <a:spcAft>
                <a:spcPts val="1100"/>
              </a:spcAft>
              <a:buNone/>
            </a:pPr>
            <a:r>
              <a:rPr lang="en-US" sz="1500" dirty="0">
                <a:solidFill>
                  <a:srgbClr val="1A1F1D"/>
                </a:solidFill>
                <a:latin typeface="Century Gothic" pitchFamily="34" charset="0"/>
                <a:ea typeface="Century Gothic" pitchFamily="34" charset="-122"/>
                <a:cs typeface="Century Gothic" pitchFamily="34" charset="-120"/>
              </a:rPr>
              <a:t>3 · Instruction &amp; Modelling</a:t>
            </a:r>
            <a:endParaRPr lang="en-US" sz="1500" dirty="0"/>
          </a:p>
          <a:p>
            <a:pPr indent="0" marL="0">
              <a:spcAft>
                <a:spcPts val="1100"/>
              </a:spcAft>
              <a:buNone/>
            </a:pPr>
            <a:r>
              <a:rPr lang="en-US" sz="1500" b="1" dirty="0">
                <a:solidFill>
                  <a:srgbClr val="14322D"/>
                </a:solidFill>
                <a:latin typeface="Century Gothic" pitchFamily="34" charset="0"/>
                <a:ea typeface="Century Gothic" pitchFamily="34" charset="-122"/>
                <a:cs typeface="Century Gothic" pitchFamily="34" charset="-120"/>
              </a:rPr>
              <a:t>4 · Checking for Understanding</a:t>
            </a:r>
            <a:endParaRPr lang="en-US" sz="1500" dirty="0"/>
          </a:p>
          <a:p>
            <a:pPr indent="0" marL="0">
              <a:spcAft>
                <a:spcPts val="1100"/>
              </a:spcAft>
              <a:buNone/>
            </a:pPr>
            <a:r>
              <a:rPr lang="en-US" sz="1500" dirty="0">
                <a:solidFill>
                  <a:srgbClr val="1A1F1D"/>
                </a:solidFill>
                <a:latin typeface="Century Gothic" pitchFamily="34" charset="0"/>
                <a:ea typeface="Century Gothic" pitchFamily="34" charset="-122"/>
                <a:cs typeface="Century Gothic" pitchFamily="34" charset="-120"/>
              </a:rPr>
              <a:t>5 · Questioning &amp; Classroom Dialogue</a:t>
            </a:r>
            <a:endParaRPr lang="en-US" sz="1500" dirty="0"/>
          </a:p>
          <a:p>
            <a:pPr indent="0" marL="0">
              <a:spcAft>
                <a:spcPts val="1100"/>
              </a:spcAft>
              <a:buNone/>
            </a:pPr>
            <a:r>
              <a:rPr lang="en-US" sz="1500" dirty="0">
                <a:solidFill>
                  <a:srgbClr val="1A1F1D"/>
                </a:solidFill>
                <a:latin typeface="Century Gothic" pitchFamily="34" charset="0"/>
                <a:ea typeface="Century Gothic" pitchFamily="34" charset="-122"/>
                <a:cs typeface="Century Gothic" pitchFamily="34" charset="-120"/>
              </a:rPr>
              <a:t>6 · Standards &amp; Curriculum</a:t>
            </a:r>
            <a:endParaRPr lang="en-US" sz="1500" dirty="0"/>
          </a:p>
        </p:txBody>
      </p:sp>
      <p:sp>
        <p:nvSpPr>
          <p:cNvPr id="7" name="Shape 4"/>
          <p:cNvSpPr/>
          <p:nvPr/>
        </p:nvSpPr>
        <p:spPr>
          <a:xfrm>
            <a:off x="640080" y="3086100"/>
            <a:ext cx="64008" cy="292608"/>
          </a:xfrm>
          <a:prstGeom prst="rect">
            <a:avLst/>
          </a:prstGeom>
          <a:solidFill>
            <a:srgbClr val="B07D2B"/>
          </a:solidFill>
          <a:ln/>
        </p:spPr>
      </p:sp>
      <p:sp>
        <p:nvSpPr>
          <p:cNvPr id="8" name="Shape 5"/>
          <p:cNvSpPr/>
          <p:nvPr/>
        </p:nvSpPr>
        <p:spPr>
          <a:xfrm>
            <a:off x="6858000" y="1783080"/>
            <a:ext cx="4663440" cy="3977640"/>
          </a:xfrm>
          <a:prstGeom prst="rect">
            <a:avLst/>
          </a:prstGeom>
          <a:solidFill>
            <a:srgbClr val="E8F1EE"/>
          </a:solidFill>
          <a:ln w="12700">
            <a:solidFill>
              <a:srgbClr val="3F9488"/>
            </a:solidFill>
            <a:prstDash val="solid"/>
          </a:ln>
        </p:spPr>
      </p:sp>
      <p:sp>
        <p:nvSpPr>
          <p:cNvPr id="9" name="Shape 6"/>
          <p:cNvSpPr/>
          <p:nvPr/>
        </p:nvSpPr>
        <p:spPr>
          <a:xfrm>
            <a:off x="6858000" y="1783080"/>
            <a:ext cx="64008" cy="3977640"/>
          </a:xfrm>
          <a:prstGeom prst="rect">
            <a:avLst/>
          </a:prstGeom>
          <a:solidFill>
            <a:srgbClr val="3F9488"/>
          </a:solidFill>
          <a:ln/>
        </p:spPr>
      </p:sp>
      <p:pic>
        <p:nvPicPr>
          <p:cNvPr id="10" name="Image 1" descr="assets/icon11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7114032" y="1993392"/>
            <a:ext cx="457200" cy="457200"/>
          </a:xfrm>
          <a:prstGeom prst="rect">
            <a:avLst/>
          </a:prstGeom>
        </p:spPr>
      </p:pic>
      <p:sp>
        <p:nvSpPr>
          <p:cNvPr id="11" name="Text 7"/>
          <p:cNvSpPr/>
          <p:nvPr/>
        </p:nvSpPr>
        <p:spPr>
          <a:xfrm>
            <a:off x="7680960" y="2011680"/>
            <a:ext cx="365760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14322D"/>
                </a:solidFill>
                <a:latin typeface="Century Gothic" pitchFamily="34" charset="0"/>
                <a:ea typeface="Century Gothic" pitchFamily="34" charset="-122"/>
                <a:cs typeface="Century Gothic" pitchFamily="34" charset="-120"/>
              </a:rPr>
              <a:t>How teachers use it</a:t>
            </a:r>
            <a:endParaRPr lang="en-US" sz="1600" dirty="0"/>
          </a:p>
        </p:txBody>
      </p:sp>
      <p:sp>
        <p:nvSpPr>
          <p:cNvPr id="12" name="Text 8"/>
          <p:cNvSpPr/>
          <p:nvPr/>
        </p:nvSpPr>
        <p:spPr>
          <a:xfrm>
            <a:off x="7114032" y="2606040"/>
            <a:ext cx="4206240" cy="30175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350" b="1" dirty="0">
                <a:solidFill>
                  <a:srgbClr val="000000"/>
                </a:solidFill>
                <a:latin typeface="Century Gothic" pitchFamily="34" charset="0"/>
                <a:ea typeface="Century Gothic" pitchFamily="34" charset="-122"/>
                <a:cs typeface="Century Gothic" pitchFamily="34" charset="-120"/>
              </a:rPr>
              <a:t>Independent study</a:t>
            </a:r>
            <a:endParaRPr lang="en-US" sz="1350" dirty="0"/>
          </a:p>
          <a:p>
            <a:pPr indent="0" marL="0">
              <a:spcAft>
                <a:spcPts val="800"/>
              </a:spcAft>
              <a:buNone/>
            </a:pPr>
            <a:r>
              <a:rPr lang="en-US" sz="1200" dirty="0">
                <a:solidFill>
                  <a:srgbClr val="6B736E"/>
                </a:solidFill>
                <a:latin typeface="Century Gothic" pitchFamily="34" charset="0"/>
                <a:ea typeface="Century Gothic" pitchFamily="34" charset="-122"/>
                <a:cs typeface="Century Gothic" pitchFamily="34" charset="-120"/>
              </a:rPr>
              <a:t>the booklet, worked through alone</a:t>
            </a:r>
            <a:endParaRPr lang="en-US" sz="1350" dirty="0"/>
          </a:p>
          <a:p>
            <a:pPr indent="0" marL="0">
              <a:buNone/>
            </a:pPr>
            <a:r>
              <a:rPr lang="en-US" sz="1350" b="1" dirty="0">
                <a:solidFill>
                  <a:srgbClr val="000000"/>
                </a:solidFill>
                <a:latin typeface="Century Gothic" pitchFamily="34" charset="0"/>
                <a:ea typeface="Century Gothic" pitchFamily="34" charset="-122"/>
                <a:cs typeface="Century Gothic" pitchFamily="34" charset="-120"/>
              </a:rPr>
              <a:t>Coaching quartets</a:t>
            </a:r>
            <a:endParaRPr lang="en-US" sz="1350" dirty="0"/>
          </a:p>
          <a:p>
            <a:pPr indent="0" marL="0">
              <a:spcAft>
                <a:spcPts val="800"/>
              </a:spcAft>
              <a:buNone/>
            </a:pPr>
            <a:r>
              <a:rPr lang="en-US" sz="1200" dirty="0">
                <a:solidFill>
                  <a:srgbClr val="6B736E"/>
                </a:solidFill>
                <a:latin typeface="Century Gothic" pitchFamily="34" charset="0"/>
                <a:ea typeface="Century Gothic" pitchFamily="34" charset="-122"/>
                <a:cs typeface="Century Gothic" pitchFamily="34" charset="-120"/>
              </a:rPr>
              <a:t>three or four colleagues rehearse together</a:t>
            </a:r>
            <a:endParaRPr lang="en-US" sz="1350" dirty="0"/>
          </a:p>
          <a:p>
            <a:pPr indent="0" marL="0">
              <a:buNone/>
            </a:pPr>
            <a:r>
              <a:rPr lang="en-US" sz="1350" b="1" dirty="0">
                <a:solidFill>
                  <a:srgbClr val="000000"/>
                </a:solidFill>
                <a:latin typeface="Century Gothic" pitchFamily="34" charset="0"/>
                <a:ea typeface="Century Gothic" pitchFamily="34" charset="-122"/>
                <a:cs typeface="Century Gothic" pitchFamily="34" charset="-120"/>
              </a:rPr>
              <a:t>Subject teams</a:t>
            </a:r>
            <a:endParaRPr lang="en-US" sz="1350" dirty="0"/>
          </a:p>
          <a:p>
            <a:pPr indent="0" marL="0">
              <a:spcAft>
                <a:spcPts val="800"/>
              </a:spcAft>
              <a:buNone/>
            </a:pPr>
            <a:r>
              <a:rPr lang="en-US" sz="1200" dirty="0">
                <a:solidFill>
                  <a:srgbClr val="6B736E"/>
                </a:solidFill>
                <a:latin typeface="Century Gothic" pitchFamily="34" charset="0"/>
                <a:ea typeface="Century Gothic" pitchFamily="34" charset="-122"/>
                <a:cs typeface="Century Gothic" pitchFamily="34" charset="-120"/>
              </a:rPr>
              <a:t>adapting each method to the subject</a:t>
            </a:r>
            <a:endParaRPr lang="en-US" sz="1350" dirty="0"/>
          </a:p>
          <a:p>
            <a:pPr indent="0" marL="0">
              <a:buNone/>
            </a:pPr>
            <a:r>
              <a:rPr lang="en-US" sz="1350" b="1" dirty="0">
                <a:solidFill>
                  <a:srgbClr val="000000"/>
                </a:solidFill>
                <a:latin typeface="Century Gothic" pitchFamily="34" charset="0"/>
                <a:ea typeface="Century Gothic" pitchFamily="34" charset="-122"/>
                <a:cs typeface="Century Gothic" pitchFamily="34" charset="-120"/>
              </a:rPr>
              <a:t>Whole-school CPD</a:t>
            </a:r>
            <a:endParaRPr lang="en-US" sz="1350" dirty="0"/>
          </a:p>
          <a:p>
            <a:pPr indent="0" marL="0">
              <a:buNone/>
            </a:pPr>
            <a:r>
              <a:rPr lang="en-US" sz="1200" dirty="0">
                <a:solidFill>
                  <a:srgbClr val="6B736E"/>
                </a:solidFill>
                <a:latin typeface="Century Gothic" pitchFamily="34" charset="0"/>
                <a:ea typeface="Century Gothic" pitchFamily="34" charset="-122"/>
                <a:cs typeface="Century Gothic" pitchFamily="34" charset="-120"/>
              </a:rPr>
              <a:t>this session</a:t>
            </a:r>
            <a:endParaRPr lang="en-US" sz="1350" dirty="0"/>
          </a:p>
        </p:txBody>
      </p:sp>
      <p:sp>
        <p:nvSpPr>
          <p:cNvPr id="13" name="Text 9"/>
          <p:cNvSpPr/>
          <p:nvPr/>
        </p:nvSpPr>
        <p:spPr>
          <a:xfrm>
            <a:off x="640080" y="6455664"/>
            <a:ext cx="7315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800" dirty="0">
                <a:solidFill>
                  <a:srgbClr val="6B736E"/>
                </a:solidFill>
                <a:latin typeface="Century Gothic" pitchFamily="34" charset="0"/>
                <a:ea typeface="Century Gothic" pitchFamily="34" charset="-122"/>
                <a:cs typeface="Century Gothic" pitchFamily="34" charset="-120"/>
              </a:rPr>
              <a:t>Teaching Excellence Programme · Checking for Understanding</a:t>
            </a:r>
            <a:endParaRPr lang="en-US" sz="800" dirty="0"/>
          </a:p>
        </p:txBody>
      </p:sp>
      <p:sp>
        <p:nvSpPr>
          <p:cNvPr id="14" name="Text 10"/>
          <p:cNvSpPr/>
          <p:nvPr/>
        </p:nvSpPr>
        <p:spPr>
          <a:xfrm>
            <a:off x="7891272" y="6455664"/>
            <a:ext cx="3657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6B736E"/>
                </a:solidFill>
                <a:latin typeface="Century Gothic" pitchFamily="34" charset="0"/>
                <a:ea typeface="Century Gothic" pitchFamily="34" charset="-122"/>
                <a:cs typeface="Century Gothic" pitchFamily="34" charset="-120"/>
              </a:rPr>
              <a:t>A Nishkam Schools programme</a:t>
            </a:r>
            <a:pPr algn="r" indent="0" marL="0">
              <a:buNone/>
            </a:pPr>
            <a:r>
              <a:rPr lang="en-US" sz="800" dirty="0">
                <a:solidFill>
                  <a:srgbClr val="6B736E"/>
                </a:solidFill>
                <a:latin typeface="Century Gothic" pitchFamily="34" charset="0"/>
                <a:ea typeface="Century Gothic" pitchFamily="34" charset="-122"/>
                <a:cs typeface="Century Gothic" pitchFamily="34" charset="-120"/>
              </a:rPr>
              <a:t>    ·    2</a:t>
            </a:r>
            <a:endParaRPr lang="en-US" sz="800" dirty="0"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Image 0" descr="assets/crest.png">    </p:cNvPr>
          <p:cNvPicPr>
            <a:picLocks noChangeAspect="1"/>
          </p:cNvPicPr>
          <p:nvPr/>
        </p:nvPicPr>
        <p:blipFill>
          <a:blip r:embed="rId1">
            <a:alphaModFix amt="48000"/>
          </a:blip>
          <a:stretch>
            <a:fillRect/>
          </a:stretch>
        </p:blipFill>
        <p:spPr>
          <a:xfrm>
            <a:off x="10707624" y="384048"/>
            <a:ext cx="841248" cy="731520"/>
          </a:xfrm>
          <a:prstGeom prst="rect">
            <a:avLst/>
          </a:prstGeom>
        </p:spPr>
      </p:pic>
      <p:sp>
        <p:nvSpPr>
          <p:cNvPr id="3" name="Shape 0"/>
          <p:cNvSpPr/>
          <p:nvPr/>
        </p:nvSpPr>
        <p:spPr>
          <a:xfrm>
            <a:off x="640080" y="585216"/>
            <a:ext cx="146304" cy="146304"/>
          </a:xfrm>
          <a:prstGeom prst="rect">
            <a:avLst/>
          </a:prstGeom>
          <a:solidFill>
            <a:srgbClr val="B07D2B"/>
          </a:solidFill>
          <a:ln/>
        </p:spPr>
      </p:sp>
      <p:sp>
        <p:nvSpPr>
          <p:cNvPr id="4" name="Text 1"/>
          <p:cNvSpPr/>
          <p:nvPr/>
        </p:nvSpPr>
        <p:spPr>
          <a:xfrm>
            <a:off x="914400" y="502920"/>
            <a:ext cx="9628632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spc="200" kern="0" dirty="0">
                <a:solidFill>
                  <a:srgbClr val="3F9488"/>
                </a:solidFill>
                <a:latin typeface="Century Gothic" pitchFamily="34" charset="0"/>
                <a:ea typeface="Century Gothic" pitchFamily="34" charset="-122"/>
                <a:cs typeface="Century Gothic" pitchFamily="34" charset="-120"/>
              </a:rPr>
              <a:t>THIS SESSION</a:t>
            </a:r>
            <a:endParaRPr lang="en-US" sz="1100" dirty="0"/>
          </a:p>
        </p:txBody>
      </p:sp>
      <p:sp>
        <p:nvSpPr>
          <p:cNvPr id="5" name="Text 2"/>
          <p:cNvSpPr/>
          <p:nvPr/>
        </p:nvSpPr>
        <p:spPr>
          <a:xfrm>
            <a:off x="640080" y="868680"/>
            <a:ext cx="9994392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700" b="1" dirty="0">
                <a:solidFill>
                  <a:srgbClr val="14322D"/>
                </a:solidFill>
                <a:latin typeface="Century Gothic" pitchFamily="34" charset="0"/>
                <a:ea typeface="Century Gothic" pitchFamily="34" charset="-122"/>
                <a:cs typeface="Century Gothic" pitchFamily="34" charset="-120"/>
              </a:rPr>
              <a:t>What this hour does</a:t>
            </a:r>
            <a:endParaRPr lang="en-US" sz="2700" dirty="0"/>
          </a:p>
        </p:txBody>
      </p:sp>
      <p:sp>
        <p:nvSpPr>
          <p:cNvPr id="6" name="Text 3"/>
          <p:cNvSpPr/>
          <p:nvPr/>
        </p:nvSpPr>
        <p:spPr>
          <a:xfrm>
            <a:off x="640080" y="1965960"/>
            <a:ext cx="7772400" cy="310896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342900" indent="-342900">
              <a:spcAft>
                <a:spcPts val="1300"/>
              </a:spcAft>
              <a:buSzPct val="100000"/>
              <a:buChar char="•"/>
            </a:pPr>
            <a:r>
              <a:rPr lang="en-US" sz="1700" dirty="0">
                <a:solidFill>
                  <a:srgbClr val="1A1F1D"/>
                </a:solidFill>
                <a:latin typeface="Century Gothic" pitchFamily="34" charset="0"/>
                <a:ea typeface="Century Gothic" pitchFamily="34" charset="-122"/>
                <a:cs typeface="Century Gothic" pitchFamily="34" charset="-120"/>
              </a:rPr>
              <a:t>Replace the guess about who understands with evidence from every pupil.</a:t>
            </a:r>
            <a:endParaRPr lang="en-US" sz="1700" dirty="0"/>
          </a:p>
          <a:p>
            <a:pPr marL="342900" indent="-342900">
              <a:spcAft>
                <a:spcPts val="1300"/>
              </a:spcAft>
              <a:buSzPct val="100000"/>
              <a:buChar char="•"/>
            </a:pPr>
            <a:r>
              <a:rPr lang="en-US" sz="1700" dirty="0">
                <a:solidFill>
                  <a:srgbClr val="1A1F1D"/>
                </a:solidFill>
                <a:latin typeface="Century Gothic" pitchFamily="34" charset="0"/>
                <a:ea typeface="Century Gothic" pitchFamily="34" charset="-122"/>
                <a:cs typeface="Century Gothic" pitchFamily="34" charset="-120"/>
              </a:rPr>
              <a:t>Build the mini-whiteboard routine and the hinge question.</a:t>
            </a:r>
            <a:endParaRPr lang="en-US" sz="1700" dirty="0"/>
          </a:p>
          <a:p>
            <a:pPr marL="342900" indent="-342900">
              <a:spcAft>
                <a:spcPts val="1300"/>
              </a:spcAft>
              <a:buSzPct val="100000"/>
              <a:buChar char="•"/>
            </a:pPr>
            <a:r>
              <a:rPr lang="en-US" sz="1700" dirty="0">
                <a:solidFill>
                  <a:srgbClr val="1A1F1D"/>
                </a:solidFill>
                <a:latin typeface="Century Gothic" pitchFamily="34" charset="0"/>
                <a:ea typeface="Century Gothic" pitchFamily="34" charset="-122"/>
                <a:cs typeface="Century Gothic" pitchFamily="34" charset="-120"/>
              </a:rPr>
              <a:t>Rehearse circulation that checks, rather than wanders.</a:t>
            </a:r>
            <a:endParaRPr lang="en-US" sz="1700" dirty="0"/>
          </a:p>
          <a:p>
            <a:pPr marL="342900" indent="-342900">
              <a:spcAft>
                <a:spcPts val="1300"/>
              </a:spcAft>
              <a:buSzPct val="100000"/>
              <a:buChar char="•"/>
            </a:pPr>
            <a:r>
              <a:rPr lang="en-US" sz="1700" dirty="0">
                <a:solidFill>
                  <a:srgbClr val="1A1F1D"/>
                </a:solidFill>
                <a:latin typeface="Century Gothic" pitchFamily="34" charset="0"/>
                <a:ea typeface="Century Gothic" pitchFamily="34" charset="-122"/>
                <a:cs typeface="Century Gothic" pitchFamily="34" charset="-120"/>
              </a:rPr>
              <a:t>Leave with one hinge question planned for an upcoming lesson.</a:t>
            </a:r>
            <a:endParaRPr lang="en-US" sz="1700" dirty="0"/>
          </a:p>
        </p:txBody>
      </p:sp>
      <p:sp>
        <p:nvSpPr>
          <p:cNvPr id="7" name="Shape 4"/>
          <p:cNvSpPr/>
          <p:nvPr/>
        </p:nvSpPr>
        <p:spPr>
          <a:xfrm>
            <a:off x="8869680" y="1965960"/>
            <a:ext cx="2651760" cy="2651760"/>
          </a:xfrm>
          <a:prstGeom prst="rect">
            <a:avLst/>
          </a:prstGeom>
          <a:solidFill>
            <a:srgbClr val="F4ECE0"/>
          </a:solidFill>
          <a:ln w="12700">
            <a:solidFill>
              <a:srgbClr val="B07D2B"/>
            </a:solidFill>
            <a:prstDash val="solid"/>
          </a:ln>
        </p:spPr>
      </p:sp>
      <p:sp>
        <p:nvSpPr>
          <p:cNvPr id="8" name="Shape 5"/>
          <p:cNvSpPr/>
          <p:nvPr/>
        </p:nvSpPr>
        <p:spPr>
          <a:xfrm>
            <a:off x="8869680" y="1965960"/>
            <a:ext cx="64008" cy="2651760"/>
          </a:xfrm>
          <a:prstGeom prst="rect">
            <a:avLst/>
          </a:prstGeom>
          <a:solidFill>
            <a:srgbClr val="B07D2B"/>
          </a:solidFill>
          <a:ln/>
        </p:spPr>
      </p:sp>
      <p:pic>
        <p:nvPicPr>
          <p:cNvPr id="9" name="Image 1" descr="assets/icon8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9098280" y="2194560"/>
            <a:ext cx="420624" cy="420624"/>
          </a:xfrm>
          <a:prstGeom prst="rect">
            <a:avLst/>
          </a:prstGeom>
        </p:spPr>
      </p:pic>
      <p:sp>
        <p:nvSpPr>
          <p:cNvPr id="10" name="Text 6"/>
          <p:cNvSpPr/>
          <p:nvPr/>
        </p:nvSpPr>
        <p:spPr>
          <a:xfrm>
            <a:off x="9098280" y="2697480"/>
            <a:ext cx="224028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14322D"/>
                </a:solidFill>
                <a:latin typeface="Century Gothic" pitchFamily="34" charset="0"/>
                <a:ea typeface="Century Gothic" pitchFamily="34" charset="-122"/>
                <a:cs typeface="Century Gothic" pitchFamily="34" charset="-120"/>
              </a:rPr>
              <a:t>Keep the booklet open</a:t>
            </a:r>
            <a:endParaRPr lang="en-US" sz="1400" dirty="0"/>
          </a:p>
        </p:txBody>
      </p:sp>
      <p:sp>
        <p:nvSpPr>
          <p:cNvPr id="11" name="Text 7"/>
          <p:cNvSpPr/>
          <p:nvPr/>
        </p:nvSpPr>
        <p:spPr>
          <a:xfrm>
            <a:off x="9098280" y="3246120"/>
            <a:ext cx="228600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50" dirty="0">
                <a:solidFill>
                  <a:srgbClr val="1A1F1D"/>
                </a:solidFill>
                <a:latin typeface="Century Gothic" pitchFamily="34" charset="0"/>
                <a:ea typeface="Century Gothic" pitchFamily="34" charset="-122"/>
                <a:cs typeface="Century Gothic" pitchFamily="34" charset="-120"/>
              </a:rPr>
              <a:t>The slides lead the room; the booklet is where you record your thinking and the tasks.</a:t>
            </a:r>
            <a:endParaRPr lang="en-US" sz="1250" dirty="0"/>
          </a:p>
        </p:txBody>
      </p:sp>
      <p:pic>
        <p:nvPicPr>
          <p:cNvPr id="12" name="Image 2" descr="assets/icon9.png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640080" y="5495544"/>
            <a:ext cx="310896" cy="310896"/>
          </a:xfrm>
          <a:prstGeom prst="rect">
            <a:avLst/>
          </a:prstGeom>
        </p:spPr>
      </p:pic>
      <p:sp>
        <p:nvSpPr>
          <p:cNvPr id="13" name="Text 8"/>
          <p:cNvSpPr/>
          <p:nvPr/>
        </p:nvSpPr>
        <p:spPr>
          <a:xfrm>
            <a:off x="1097280" y="5477256"/>
            <a:ext cx="10451592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b="1" dirty="0">
                <a:solidFill>
                  <a:srgbClr val="14322D"/>
                </a:solidFill>
                <a:latin typeface="Century Gothic" pitchFamily="34" charset="0"/>
                <a:ea typeface="Century Gothic" pitchFamily="34" charset="-122"/>
                <a:cs typeface="Century Gothic" pitchFamily="34" charset="-120"/>
              </a:rPr>
              <a:t>Discuss  </a:t>
            </a:r>
            <a:pPr indent="0" marL="0">
              <a:buNone/>
            </a:pPr>
            <a:r>
              <a:rPr lang="en-US" sz="1250" dirty="0">
                <a:solidFill>
                  <a:srgbClr val="1A1F1D"/>
                </a:solidFill>
                <a:latin typeface="Century Gothic" pitchFamily="34" charset="0"/>
                <a:ea typeface="Century Gothic" pitchFamily="34" charset="-122"/>
                <a:cs typeface="Century Gothic" pitchFamily="34" charset="-120"/>
              </a:rPr>
              <a:t>How do you currently know a class has understood, before you mark their books?</a:t>
            </a:r>
            <a:endParaRPr lang="en-US" sz="1250" dirty="0"/>
          </a:p>
        </p:txBody>
      </p:sp>
      <p:sp>
        <p:nvSpPr>
          <p:cNvPr id="14" name="Text 9"/>
          <p:cNvSpPr/>
          <p:nvPr/>
        </p:nvSpPr>
        <p:spPr>
          <a:xfrm>
            <a:off x="640080" y="6455664"/>
            <a:ext cx="7315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800" dirty="0">
                <a:solidFill>
                  <a:srgbClr val="6B736E"/>
                </a:solidFill>
                <a:latin typeface="Century Gothic" pitchFamily="34" charset="0"/>
                <a:ea typeface="Century Gothic" pitchFamily="34" charset="-122"/>
                <a:cs typeface="Century Gothic" pitchFamily="34" charset="-120"/>
              </a:rPr>
              <a:t>Teaching Excellence Programme · Checking for Understanding</a:t>
            </a:r>
            <a:endParaRPr lang="en-US" sz="800" dirty="0"/>
          </a:p>
        </p:txBody>
      </p:sp>
      <p:sp>
        <p:nvSpPr>
          <p:cNvPr id="15" name="Text 10"/>
          <p:cNvSpPr/>
          <p:nvPr/>
        </p:nvSpPr>
        <p:spPr>
          <a:xfrm>
            <a:off x="7891272" y="6455664"/>
            <a:ext cx="3657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6B736E"/>
                </a:solidFill>
                <a:latin typeface="Century Gothic" pitchFamily="34" charset="0"/>
                <a:ea typeface="Century Gothic" pitchFamily="34" charset="-122"/>
                <a:cs typeface="Century Gothic" pitchFamily="34" charset="-120"/>
              </a:rPr>
              <a:t>A Nishkam Schools programme</a:t>
            </a:r>
            <a:pPr algn="r" indent="0" marL="0">
              <a:buNone/>
            </a:pPr>
            <a:r>
              <a:rPr lang="en-US" sz="800" dirty="0">
                <a:solidFill>
                  <a:srgbClr val="6B736E"/>
                </a:solidFill>
                <a:latin typeface="Century Gothic" pitchFamily="34" charset="0"/>
                <a:ea typeface="Century Gothic" pitchFamily="34" charset="-122"/>
                <a:cs typeface="Century Gothic" pitchFamily="34" charset="-120"/>
              </a:rPr>
              <a:t>    ·    3</a:t>
            </a:r>
            <a:endParaRPr lang="en-US" sz="800" dirty="0"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Image 0" descr="assets/crest.png">    </p:cNvPr>
          <p:cNvPicPr>
            <a:picLocks noChangeAspect="1"/>
          </p:cNvPicPr>
          <p:nvPr/>
        </p:nvPicPr>
        <p:blipFill>
          <a:blip r:embed="rId1">
            <a:alphaModFix amt="48000"/>
          </a:blip>
          <a:stretch>
            <a:fillRect/>
          </a:stretch>
        </p:blipFill>
        <p:spPr>
          <a:xfrm>
            <a:off x="10707624" y="384048"/>
            <a:ext cx="841248" cy="731520"/>
          </a:xfrm>
          <a:prstGeom prst="rect">
            <a:avLst/>
          </a:prstGeom>
        </p:spPr>
      </p:pic>
      <p:sp>
        <p:nvSpPr>
          <p:cNvPr id="3" name="Shape 0"/>
          <p:cNvSpPr/>
          <p:nvPr/>
        </p:nvSpPr>
        <p:spPr>
          <a:xfrm>
            <a:off x="640080" y="585216"/>
            <a:ext cx="146304" cy="146304"/>
          </a:xfrm>
          <a:prstGeom prst="rect">
            <a:avLst/>
          </a:prstGeom>
          <a:solidFill>
            <a:srgbClr val="B07D2B"/>
          </a:solidFill>
          <a:ln/>
        </p:spPr>
      </p:sp>
      <p:sp>
        <p:nvSpPr>
          <p:cNvPr id="4" name="Text 1"/>
          <p:cNvSpPr/>
          <p:nvPr/>
        </p:nvSpPr>
        <p:spPr>
          <a:xfrm>
            <a:off x="914400" y="502920"/>
            <a:ext cx="9628632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spc="200" kern="0" dirty="0">
                <a:solidFill>
                  <a:srgbClr val="3F9488"/>
                </a:solidFill>
                <a:latin typeface="Century Gothic" pitchFamily="34" charset="0"/>
                <a:ea typeface="Century Gothic" pitchFamily="34" charset="-122"/>
                <a:cs typeface="Century Gothic" pitchFamily="34" charset="-120"/>
              </a:rPr>
              <a:t>WHY THIS MATTERS</a:t>
            </a:r>
            <a:endParaRPr lang="en-US" sz="1100" dirty="0"/>
          </a:p>
        </p:txBody>
      </p:sp>
      <p:sp>
        <p:nvSpPr>
          <p:cNvPr id="5" name="Text 2"/>
          <p:cNvSpPr/>
          <p:nvPr/>
        </p:nvSpPr>
        <p:spPr>
          <a:xfrm>
            <a:off x="640080" y="868680"/>
            <a:ext cx="9994392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700" b="1" dirty="0">
                <a:solidFill>
                  <a:srgbClr val="14322D"/>
                </a:solidFill>
                <a:latin typeface="Century Gothic" pitchFamily="34" charset="0"/>
                <a:ea typeface="Century Gothic" pitchFamily="34" charset="-122"/>
                <a:cs typeface="Century Gothic" pitchFamily="34" charset="-120"/>
              </a:rPr>
              <a:t>Two ways to check a class</a:t>
            </a:r>
            <a:endParaRPr lang="en-US" sz="2700" dirty="0"/>
          </a:p>
        </p:txBody>
      </p:sp>
      <p:sp>
        <p:nvSpPr>
          <p:cNvPr id="6" name="Shape 3"/>
          <p:cNvSpPr/>
          <p:nvPr/>
        </p:nvSpPr>
        <p:spPr>
          <a:xfrm>
            <a:off x="640080" y="1783080"/>
            <a:ext cx="5074920" cy="3154680"/>
          </a:xfrm>
          <a:prstGeom prst="rect">
            <a:avLst/>
          </a:prstGeom>
          <a:solidFill>
            <a:srgbClr val="F4F1EC"/>
          </a:solidFill>
          <a:ln w="12700">
            <a:solidFill>
              <a:srgbClr val="C0613F"/>
            </a:solidFill>
            <a:prstDash val="solid"/>
          </a:ln>
        </p:spPr>
      </p:sp>
      <p:sp>
        <p:nvSpPr>
          <p:cNvPr id="7" name="Shape 4"/>
          <p:cNvSpPr/>
          <p:nvPr/>
        </p:nvSpPr>
        <p:spPr>
          <a:xfrm>
            <a:off x="640080" y="1783080"/>
            <a:ext cx="64008" cy="3154680"/>
          </a:xfrm>
          <a:prstGeom prst="rect">
            <a:avLst/>
          </a:prstGeom>
          <a:solidFill>
            <a:srgbClr val="C0613F"/>
          </a:solidFill>
          <a:ln/>
        </p:spPr>
      </p:sp>
      <p:pic>
        <p:nvPicPr>
          <p:cNvPr id="8" name="Image 1" descr="assets/icon5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868680" y="1920240"/>
            <a:ext cx="384048" cy="384048"/>
          </a:xfrm>
          <a:prstGeom prst="rect">
            <a:avLst/>
          </a:prstGeom>
        </p:spPr>
      </p:pic>
      <p:sp>
        <p:nvSpPr>
          <p:cNvPr id="9" name="Text 5"/>
          <p:cNvSpPr/>
          <p:nvPr/>
        </p:nvSpPr>
        <p:spPr>
          <a:xfrm>
            <a:off x="1371600" y="1920240"/>
            <a:ext cx="416052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8A4836"/>
                </a:solidFill>
                <a:latin typeface="Century Gothic" pitchFamily="34" charset="0"/>
                <a:ea typeface="Century Gothic" pitchFamily="34" charset="-122"/>
                <a:cs typeface="Century Gothic" pitchFamily="34" charset="-120"/>
              </a:rPr>
              <a:t>The question that gathers nothing</a:t>
            </a:r>
            <a:endParaRPr lang="en-US" sz="1600" dirty="0"/>
          </a:p>
        </p:txBody>
      </p:sp>
      <p:sp>
        <p:nvSpPr>
          <p:cNvPr id="10" name="Text 6"/>
          <p:cNvSpPr/>
          <p:nvPr/>
        </p:nvSpPr>
        <p:spPr>
          <a:xfrm>
            <a:off x="868680" y="2423160"/>
            <a:ext cx="4617720" cy="23774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342900" indent="-342900">
              <a:spcAft>
                <a:spcPts val="600"/>
              </a:spcAft>
              <a:buSzPct val="100000"/>
              <a:buChar char="•"/>
            </a:pPr>
            <a:r>
              <a:rPr lang="en-US" sz="1300" dirty="0">
                <a:solidFill>
                  <a:srgbClr val="1A1F1D"/>
                </a:solidFill>
                <a:latin typeface="Century Gothic" pitchFamily="34" charset="0"/>
                <a:ea typeface="Century Gothic" pitchFamily="34" charset="-122"/>
                <a:cs typeface="Century Gothic" pitchFamily="34" charset="-120"/>
              </a:rPr>
              <a:t>‘Does everyone understand?’</a:t>
            </a:r>
            <a:endParaRPr lang="en-US" sz="1300" dirty="0"/>
          </a:p>
          <a:p>
            <a:pPr marL="342900" indent="-342900">
              <a:spcAft>
                <a:spcPts val="600"/>
              </a:spcAft>
              <a:buSzPct val="100000"/>
              <a:buChar char="•"/>
            </a:pPr>
            <a:r>
              <a:rPr lang="en-US" sz="1300" dirty="0">
                <a:solidFill>
                  <a:srgbClr val="1A1F1D"/>
                </a:solidFill>
                <a:latin typeface="Century Gothic" pitchFamily="34" charset="0"/>
                <a:ea typeface="Century Gothic" pitchFamily="34" charset="-122"/>
                <a:cs typeface="Century Gothic" pitchFamily="34" charset="-120"/>
              </a:rPr>
              <a:t>The confident few nod; the lost stay quiet.</a:t>
            </a:r>
            <a:endParaRPr lang="en-US" sz="1300" dirty="0"/>
          </a:p>
          <a:p>
            <a:pPr marL="342900" indent="-342900">
              <a:spcAft>
                <a:spcPts val="600"/>
              </a:spcAft>
              <a:buSzPct val="100000"/>
              <a:buChar char="•"/>
            </a:pPr>
            <a:r>
              <a:rPr lang="en-US" sz="1300" dirty="0">
                <a:solidFill>
                  <a:srgbClr val="1A1F1D"/>
                </a:solidFill>
                <a:latin typeface="Century Gothic" pitchFamily="34" charset="0"/>
                <a:ea typeface="Century Gothic" pitchFamily="34" charset="-122"/>
                <a:cs typeface="Century Gothic" pitchFamily="34" charset="-120"/>
              </a:rPr>
              <a:t>Hands up: you hear from those who already know.</a:t>
            </a:r>
            <a:endParaRPr lang="en-US" sz="1300" dirty="0"/>
          </a:p>
          <a:p>
            <a:pPr marL="342900" indent="-342900">
              <a:spcAft>
                <a:spcPts val="600"/>
              </a:spcAft>
              <a:buSzPct val="100000"/>
              <a:buChar char="•"/>
            </a:pPr>
            <a:r>
              <a:rPr lang="en-US" sz="1300" dirty="0">
                <a:solidFill>
                  <a:srgbClr val="1A1F1D"/>
                </a:solidFill>
                <a:latin typeface="Century Gothic" pitchFamily="34" charset="0"/>
                <a:ea typeface="Century Gothic" pitchFamily="34" charset="-122"/>
                <a:cs typeface="Century Gothic" pitchFamily="34" charset="-120"/>
              </a:rPr>
              <a:t>The lesson moves on over the heads of some.</a:t>
            </a:r>
            <a:endParaRPr lang="en-US" sz="1300" dirty="0"/>
          </a:p>
        </p:txBody>
      </p:sp>
      <p:sp>
        <p:nvSpPr>
          <p:cNvPr id="11" name="Shape 7"/>
          <p:cNvSpPr/>
          <p:nvPr/>
        </p:nvSpPr>
        <p:spPr>
          <a:xfrm>
            <a:off x="6126480" y="1783080"/>
            <a:ext cx="5074920" cy="3154680"/>
          </a:xfrm>
          <a:prstGeom prst="rect">
            <a:avLst/>
          </a:prstGeom>
          <a:solidFill>
            <a:srgbClr val="E8F1EE"/>
          </a:solidFill>
          <a:ln w="12700">
            <a:solidFill>
              <a:srgbClr val="3F9488"/>
            </a:solidFill>
            <a:prstDash val="solid"/>
          </a:ln>
        </p:spPr>
      </p:sp>
      <p:sp>
        <p:nvSpPr>
          <p:cNvPr id="12" name="Shape 8"/>
          <p:cNvSpPr/>
          <p:nvPr/>
        </p:nvSpPr>
        <p:spPr>
          <a:xfrm>
            <a:off x="6126480" y="1783080"/>
            <a:ext cx="64008" cy="3154680"/>
          </a:xfrm>
          <a:prstGeom prst="rect">
            <a:avLst/>
          </a:prstGeom>
          <a:solidFill>
            <a:srgbClr val="3F9488"/>
          </a:solidFill>
          <a:ln/>
        </p:spPr>
      </p:sp>
      <p:pic>
        <p:nvPicPr>
          <p:cNvPr id="13" name="Image 2" descr="assets/icon6.png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6355080" y="1920240"/>
            <a:ext cx="384048" cy="384048"/>
          </a:xfrm>
          <a:prstGeom prst="rect">
            <a:avLst/>
          </a:prstGeom>
        </p:spPr>
      </p:pic>
      <p:sp>
        <p:nvSpPr>
          <p:cNvPr id="14" name="Text 9"/>
          <p:cNvSpPr/>
          <p:nvPr/>
        </p:nvSpPr>
        <p:spPr>
          <a:xfrm>
            <a:off x="6858000" y="1920240"/>
            <a:ext cx="416052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14322D"/>
                </a:solidFill>
                <a:latin typeface="Century Gothic" pitchFamily="34" charset="0"/>
                <a:ea typeface="Century Gothic" pitchFamily="34" charset="-122"/>
                <a:cs typeface="Century Gothic" pitchFamily="34" charset="-120"/>
              </a:rPr>
              <a:t>The check with an answer</a:t>
            </a:r>
            <a:endParaRPr lang="en-US" sz="1600" dirty="0"/>
          </a:p>
        </p:txBody>
      </p:sp>
      <p:sp>
        <p:nvSpPr>
          <p:cNvPr id="15" name="Text 10"/>
          <p:cNvSpPr/>
          <p:nvPr/>
        </p:nvSpPr>
        <p:spPr>
          <a:xfrm>
            <a:off x="6355080" y="2423160"/>
            <a:ext cx="4617720" cy="23774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342900" indent="-342900">
              <a:spcAft>
                <a:spcPts val="600"/>
              </a:spcAft>
              <a:buSzPct val="100000"/>
              <a:buChar char="•"/>
            </a:pPr>
            <a:r>
              <a:rPr lang="en-US" sz="1300" dirty="0">
                <a:solidFill>
                  <a:srgbClr val="1A1F1D"/>
                </a:solidFill>
                <a:latin typeface="Century Gothic" pitchFamily="34" charset="0"/>
                <a:ea typeface="Century Gothic" pitchFamily="34" charset="-122"/>
                <a:cs typeface="Century Gothic" pitchFamily="34" charset="-120"/>
              </a:rPr>
              <a:t>A question every pupil answers at once.</a:t>
            </a:r>
            <a:endParaRPr lang="en-US" sz="1300" dirty="0"/>
          </a:p>
          <a:p>
            <a:pPr marL="342900" indent="-342900">
              <a:spcAft>
                <a:spcPts val="600"/>
              </a:spcAft>
              <a:buSzPct val="100000"/>
              <a:buChar char="•"/>
            </a:pPr>
            <a:r>
              <a:rPr lang="en-US" sz="1300" dirty="0">
                <a:solidFill>
                  <a:srgbClr val="1A1F1D"/>
                </a:solidFill>
                <a:latin typeface="Century Gothic" pitchFamily="34" charset="0"/>
                <a:ea typeface="Century Gothic" pitchFamily="34" charset="-122"/>
                <a:cs typeface="Century Gothic" pitchFamily="34" charset="-120"/>
              </a:rPr>
              <a:t>Thirty boards up; the room read in a glance.</a:t>
            </a:r>
            <a:endParaRPr lang="en-US" sz="1300" dirty="0"/>
          </a:p>
          <a:p>
            <a:pPr marL="342900" indent="-342900">
              <a:spcAft>
                <a:spcPts val="600"/>
              </a:spcAft>
              <a:buSzPct val="100000"/>
              <a:buChar char="•"/>
            </a:pPr>
            <a:r>
              <a:rPr lang="en-US" sz="1300" dirty="0">
                <a:solidFill>
                  <a:srgbClr val="1A1F1D"/>
                </a:solidFill>
                <a:latin typeface="Century Gothic" pitchFamily="34" charset="0"/>
                <a:ea typeface="Century Gothic" pitchFamily="34" charset="-122"/>
                <a:cs typeface="Century Gothic" pitchFamily="34" charset="-120"/>
              </a:rPr>
              <a:t>A planned hinge decides: move on, or reteach.</a:t>
            </a:r>
            <a:endParaRPr lang="en-US" sz="1300" dirty="0"/>
          </a:p>
          <a:p>
            <a:pPr marL="342900" indent="-342900">
              <a:spcAft>
                <a:spcPts val="600"/>
              </a:spcAft>
              <a:buSzPct val="100000"/>
              <a:buChar char="•"/>
            </a:pPr>
            <a:r>
              <a:rPr lang="en-US" sz="1300" dirty="0">
                <a:solidFill>
                  <a:srgbClr val="1A1F1D"/>
                </a:solidFill>
                <a:latin typeface="Century Gothic" pitchFamily="34" charset="0"/>
                <a:ea typeface="Century Gothic" pitchFamily="34" charset="-122"/>
                <a:cs typeface="Century Gothic" pitchFamily="34" charset="-120"/>
              </a:rPr>
              <a:t>No pupil hides, and none is left behind.</a:t>
            </a:r>
            <a:endParaRPr lang="en-US" sz="1300" dirty="0"/>
          </a:p>
        </p:txBody>
      </p:sp>
      <p:pic>
        <p:nvPicPr>
          <p:cNvPr id="16" name="Image 3" descr="assets/icon9.png">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640080" y="5175504"/>
            <a:ext cx="310896" cy="310896"/>
          </a:xfrm>
          <a:prstGeom prst="rect">
            <a:avLst/>
          </a:prstGeom>
        </p:spPr>
      </p:pic>
      <p:sp>
        <p:nvSpPr>
          <p:cNvPr id="17" name="Text 11"/>
          <p:cNvSpPr/>
          <p:nvPr/>
        </p:nvSpPr>
        <p:spPr>
          <a:xfrm>
            <a:off x="1097280" y="5157216"/>
            <a:ext cx="10451592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b="1" dirty="0">
                <a:solidFill>
                  <a:srgbClr val="14322D"/>
                </a:solidFill>
                <a:latin typeface="Century Gothic" pitchFamily="34" charset="0"/>
                <a:ea typeface="Century Gothic" pitchFamily="34" charset="-122"/>
                <a:cs typeface="Century Gothic" pitchFamily="34" charset="-120"/>
              </a:rPr>
              <a:t>Discuss  </a:t>
            </a:r>
            <a:pPr indent="0" marL="0">
              <a:buNone/>
            </a:pPr>
            <a:r>
              <a:rPr lang="en-US" sz="1250" dirty="0">
                <a:solidFill>
                  <a:srgbClr val="1A1F1D"/>
                </a:solidFill>
                <a:latin typeface="Century Gothic" pitchFamily="34" charset="0"/>
                <a:ea typeface="Century Gothic" pitchFamily="34" charset="-122"/>
                <a:cs typeface="Century Gothic" pitchFamily="34" charset="-120"/>
              </a:rPr>
              <a:t>Which check do you rely on most — and what is it missing?</a:t>
            </a:r>
            <a:endParaRPr lang="en-US" sz="1250" dirty="0"/>
          </a:p>
        </p:txBody>
      </p:sp>
      <p:sp>
        <p:nvSpPr>
          <p:cNvPr id="18" name="Text 12"/>
          <p:cNvSpPr/>
          <p:nvPr/>
        </p:nvSpPr>
        <p:spPr>
          <a:xfrm>
            <a:off x="640080" y="6455664"/>
            <a:ext cx="7315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800" dirty="0">
                <a:solidFill>
                  <a:srgbClr val="6B736E"/>
                </a:solidFill>
                <a:latin typeface="Century Gothic" pitchFamily="34" charset="0"/>
                <a:ea typeface="Century Gothic" pitchFamily="34" charset="-122"/>
                <a:cs typeface="Century Gothic" pitchFamily="34" charset="-120"/>
              </a:rPr>
              <a:t>Teaching Excellence Programme · Checking for Understanding</a:t>
            </a:r>
            <a:endParaRPr lang="en-US" sz="800" dirty="0"/>
          </a:p>
        </p:txBody>
      </p:sp>
      <p:sp>
        <p:nvSpPr>
          <p:cNvPr id="19" name="Text 13"/>
          <p:cNvSpPr/>
          <p:nvPr/>
        </p:nvSpPr>
        <p:spPr>
          <a:xfrm>
            <a:off x="7891272" y="6455664"/>
            <a:ext cx="3657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6B736E"/>
                </a:solidFill>
                <a:latin typeface="Century Gothic" pitchFamily="34" charset="0"/>
                <a:ea typeface="Century Gothic" pitchFamily="34" charset="-122"/>
                <a:cs typeface="Century Gothic" pitchFamily="34" charset="-120"/>
              </a:rPr>
              <a:t>A Nishkam Schools programme</a:t>
            </a:r>
            <a:pPr algn="r" indent="0" marL="0">
              <a:buNone/>
            </a:pPr>
            <a:r>
              <a:rPr lang="en-US" sz="800" dirty="0">
                <a:solidFill>
                  <a:srgbClr val="6B736E"/>
                </a:solidFill>
                <a:latin typeface="Century Gothic" pitchFamily="34" charset="0"/>
                <a:ea typeface="Century Gothic" pitchFamily="34" charset="-122"/>
                <a:cs typeface="Century Gothic" pitchFamily="34" charset="-120"/>
              </a:rPr>
              <a:t>    ·    4</a:t>
            </a:r>
            <a:endParaRPr lang="en-US" sz="800" dirty="0"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">
    <p:bg>
      <p:bgPr>
        <a:solidFill>
          <a:srgbClr val="14322D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Image 0" descr="assets/crest_light.png">    </p:cNvPr>
          <p:cNvPicPr>
            <a:picLocks noChangeAspect="1"/>
          </p:cNvPicPr>
          <p:nvPr/>
        </p:nvPicPr>
        <p:blipFill>
          <a:blip r:embed="rId1">
            <a:alphaModFix amt="60000"/>
          </a:blip>
          <a:stretch>
            <a:fillRect/>
          </a:stretch>
        </p:blipFill>
        <p:spPr>
          <a:xfrm>
            <a:off x="10707624" y="384048"/>
            <a:ext cx="841248" cy="731520"/>
          </a:xfrm>
          <a:prstGeom prst="rect">
            <a:avLst/>
          </a:prstGeom>
        </p:spPr>
      </p:pic>
      <p:sp>
        <p:nvSpPr>
          <p:cNvPr id="3" name="Shape 0"/>
          <p:cNvSpPr/>
          <p:nvPr/>
        </p:nvSpPr>
        <p:spPr>
          <a:xfrm>
            <a:off x="640080" y="2286000"/>
            <a:ext cx="201168" cy="201168"/>
          </a:xfrm>
          <a:prstGeom prst="rect">
            <a:avLst/>
          </a:prstGeom>
          <a:solidFill>
            <a:srgbClr val="B07D2B"/>
          </a:solidFill>
          <a:ln/>
        </p:spPr>
      </p:sp>
      <p:sp>
        <p:nvSpPr>
          <p:cNvPr id="4" name="Text 1"/>
          <p:cNvSpPr/>
          <p:nvPr/>
        </p:nvSpPr>
        <p:spPr>
          <a:xfrm>
            <a:off x="640080" y="2606040"/>
            <a:ext cx="104241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800" b="1" dirty="0">
                <a:solidFill>
                  <a:srgbClr val="FFFFFF"/>
                </a:solidFill>
                <a:latin typeface="Century Gothic" pitchFamily="34" charset="0"/>
                <a:ea typeface="Century Gothic" pitchFamily="34" charset="-122"/>
                <a:cs typeface="Century Gothic" pitchFamily="34" charset="-120"/>
              </a:rPr>
              <a:t>A teacher who does not know what pupils understand is teaching to a room they cannot see.</a:t>
            </a:r>
            <a:endParaRPr lang="en-US" sz="2800" dirty="0"/>
          </a:p>
        </p:txBody>
      </p:sp>
      <p:sp>
        <p:nvSpPr>
          <p:cNvPr id="5" name="Text 2"/>
          <p:cNvSpPr/>
          <p:nvPr/>
        </p:nvSpPr>
        <p:spPr>
          <a:xfrm>
            <a:off x="640080" y="4480560"/>
            <a:ext cx="1042416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i="1" dirty="0">
                <a:solidFill>
                  <a:srgbClr val="BFE0D7"/>
                </a:solidFill>
                <a:latin typeface="Century Gothic" pitchFamily="34" charset="0"/>
                <a:ea typeface="Century Gothic" pitchFamily="34" charset="-122"/>
                <a:cs typeface="Century Gothic" pitchFamily="34" charset="-120"/>
              </a:rPr>
              <a:t>The check is not a pause in the teaching. It is the steering.  </a:t>
            </a:r>
            <a:pPr indent="0" marL="0">
              <a:buNone/>
            </a:pPr>
            <a:r>
              <a:rPr lang="en-US" sz="1600" dirty="0">
                <a:solidFill>
                  <a:srgbClr val="8FB8AE"/>
                </a:solidFill>
                <a:latin typeface="Century Gothic" pitchFamily="34" charset="0"/>
                <a:ea typeface="Century Gothic" pitchFamily="34" charset="-122"/>
                <a:cs typeface="Century Gothic" pitchFamily="34" charset="-120"/>
              </a:rPr>
              <a:t>— a principle of this programme</a:t>
            </a:r>
            <a:endParaRPr lang="en-US" sz="1600" dirty="0"/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Image 0" descr="assets/crest.png">    </p:cNvPr>
          <p:cNvPicPr>
            <a:picLocks noChangeAspect="1"/>
          </p:cNvPicPr>
          <p:nvPr/>
        </p:nvPicPr>
        <p:blipFill>
          <a:blip r:embed="rId1">
            <a:alphaModFix amt="48000"/>
          </a:blip>
          <a:stretch>
            <a:fillRect/>
          </a:stretch>
        </p:blipFill>
        <p:spPr>
          <a:xfrm>
            <a:off x="10707624" y="384048"/>
            <a:ext cx="841248" cy="731520"/>
          </a:xfrm>
          <a:prstGeom prst="rect">
            <a:avLst/>
          </a:prstGeom>
        </p:spPr>
      </p:pic>
      <p:sp>
        <p:nvSpPr>
          <p:cNvPr id="3" name="Shape 0"/>
          <p:cNvSpPr/>
          <p:nvPr/>
        </p:nvSpPr>
        <p:spPr>
          <a:xfrm>
            <a:off x="640080" y="585216"/>
            <a:ext cx="146304" cy="146304"/>
          </a:xfrm>
          <a:prstGeom prst="rect">
            <a:avLst/>
          </a:prstGeom>
          <a:solidFill>
            <a:srgbClr val="B07D2B"/>
          </a:solidFill>
          <a:ln/>
        </p:spPr>
      </p:sp>
      <p:sp>
        <p:nvSpPr>
          <p:cNvPr id="4" name="Text 1"/>
          <p:cNvSpPr/>
          <p:nvPr/>
        </p:nvSpPr>
        <p:spPr>
          <a:xfrm>
            <a:off x="914400" y="502920"/>
            <a:ext cx="9628632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spc="200" kern="0" dirty="0">
                <a:solidFill>
                  <a:srgbClr val="3F9488"/>
                </a:solidFill>
                <a:latin typeface="Century Gothic" pitchFamily="34" charset="0"/>
                <a:ea typeface="Century Gothic" pitchFamily="34" charset="-122"/>
                <a:cs typeface="Century Gothic" pitchFamily="34" charset="-120"/>
              </a:rPr>
              <a:t>THE CORE IDEAS</a:t>
            </a:r>
            <a:endParaRPr lang="en-US" sz="1100" dirty="0"/>
          </a:p>
        </p:txBody>
      </p:sp>
      <p:sp>
        <p:nvSpPr>
          <p:cNvPr id="5" name="Text 2"/>
          <p:cNvSpPr/>
          <p:nvPr/>
        </p:nvSpPr>
        <p:spPr>
          <a:xfrm>
            <a:off x="640080" y="868680"/>
            <a:ext cx="9994392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700" b="1" dirty="0">
                <a:solidFill>
                  <a:srgbClr val="14322D"/>
                </a:solidFill>
                <a:latin typeface="Century Gothic" pitchFamily="34" charset="0"/>
                <a:ea typeface="Century Gothic" pitchFamily="34" charset="-122"/>
                <a:cs typeface="Century Gothic" pitchFamily="34" charset="-120"/>
              </a:rPr>
              <a:t>Four ideas that carry the pillar</a:t>
            </a:r>
            <a:endParaRPr lang="en-US" sz="2700" dirty="0"/>
          </a:p>
        </p:txBody>
      </p:sp>
      <p:sp>
        <p:nvSpPr>
          <p:cNvPr id="6" name="Shape 3"/>
          <p:cNvSpPr/>
          <p:nvPr/>
        </p:nvSpPr>
        <p:spPr>
          <a:xfrm>
            <a:off x="640080" y="1828800"/>
            <a:ext cx="5074920" cy="1554480"/>
          </a:xfrm>
          <a:prstGeom prst="rect">
            <a:avLst/>
          </a:prstGeom>
          <a:solidFill>
            <a:srgbClr val="F7FAF8"/>
          </a:solidFill>
          <a:ln w="12700">
            <a:solidFill>
              <a:srgbClr val="3F9488"/>
            </a:solidFill>
            <a:prstDash val="solid"/>
          </a:ln>
        </p:spPr>
      </p:sp>
      <p:sp>
        <p:nvSpPr>
          <p:cNvPr id="7" name="Shape 4"/>
          <p:cNvSpPr/>
          <p:nvPr/>
        </p:nvSpPr>
        <p:spPr>
          <a:xfrm>
            <a:off x="640080" y="1828800"/>
            <a:ext cx="64008" cy="1554480"/>
          </a:xfrm>
          <a:prstGeom prst="rect">
            <a:avLst/>
          </a:prstGeom>
          <a:solidFill>
            <a:srgbClr val="3F9488"/>
          </a:solidFill>
          <a:ln/>
        </p:spPr>
      </p:sp>
      <p:pic>
        <p:nvPicPr>
          <p:cNvPr id="8" name="Image 1" descr="assets/icon14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896112" y="2066544"/>
            <a:ext cx="457200" cy="457200"/>
          </a:xfrm>
          <a:prstGeom prst="rect">
            <a:avLst/>
          </a:prstGeom>
        </p:spPr>
      </p:pic>
      <p:sp>
        <p:nvSpPr>
          <p:cNvPr id="9" name="Text 5"/>
          <p:cNvSpPr/>
          <p:nvPr/>
        </p:nvSpPr>
        <p:spPr>
          <a:xfrm>
            <a:off x="1508760" y="2048256"/>
            <a:ext cx="402336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14322D"/>
                </a:solidFill>
                <a:latin typeface="Century Gothic" pitchFamily="34" charset="0"/>
                <a:ea typeface="Century Gothic" pitchFamily="34" charset="-122"/>
                <a:cs typeface="Century Gothic" pitchFamily="34" charset="-120"/>
              </a:rPr>
              <a:t>All-pupil response</a:t>
            </a:r>
            <a:endParaRPr lang="en-US" sz="1600" dirty="0"/>
          </a:p>
        </p:txBody>
      </p:sp>
      <p:sp>
        <p:nvSpPr>
          <p:cNvPr id="10" name="Text 6"/>
          <p:cNvSpPr/>
          <p:nvPr/>
        </p:nvSpPr>
        <p:spPr>
          <a:xfrm>
            <a:off x="896112" y="2578608"/>
            <a:ext cx="457200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50" dirty="0">
                <a:solidFill>
                  <a:srgbClr val="1A1F1D"/>
                </a:solidFill>
                <a:latin typeface="Century Gothic" pitchFamily="34" charset="0"/>
                <a:ea typeface="Century Gothic" pitchFamily="34" charset="-122"/>
                <a:cs typeface="Century Gothic" pitchFamily="34" charset="-120"/>
              </a:rPr>
              <a:t>Every pupil answers at once, so you read the whole room, not the confident few.</a:t>
            </a:r>
            <a:endParaRPr lang="en-US" sz="1250" dirty="0"/>
          </a:p>
        </p:txBody>
      </p:sp>
      <p:sp>
        <p:nvSpPr>
          <p:cNvPr id="11" name="Shape 7"/>
          <p:cNvSpPr/>
          <p:nvPr/>
        </p:nvSpPr>
        <p:spPr>
          <a:xfrm>
            <a:off x="6126480" y="1828800"/>
            <a:ext cx="5074920" cy="1554480"/>
          </a:xfrm>
          <a:prstGeom prst="rect">
            <a:avLst/>
          </a:prstGeom>
          <a:solidFill>
            <a:srgbClr val="F7FAF8"/>
          </a:solidFill>
          <a:ln w="12700">
            <a:solidFill>
              <a:srgbClr val="3F9488"/>
            </a:solidFill>
            <a:prstDash val="solid"/>
          </a:ln>
        </p:spPr>
      </p:sp>
      <p:sp>
        <p:nvSpPr>
          <p:cNvPr id="12" name="Shape 8"/>
          <p:cNvSpPr/>
          <p:nvPr/>
        </p:nvSpPr>
        <p:spPr>
          <a:xfrm>
            <a:off x="6126480" y="1828800"/>
            <a:ext cx="64008" cy="1554480"/>
          </a:xfrm>
          <a:prstGeom prst="rect">
            <a:avLst/>
          </a:prstGeom>
          <a:solidFill>
            <a:srgbClr val="3F9488"/>
          </a:solidFill>
          <a:ln/>
        </p:spPr>
      </p:sp>
      <p:pic>
        <p:nvPicPr>
          <p:cNvPr id="13" name="Image 2" descr="assets/icon4.png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6382512" y="2066544"/>
            <a:ext cx="457200" cy="457200"/>
          </a:xfrm>
          <a:prstGeom prst="rect">
            <a:avLst/>
          </a:prstGeom>
        </p:spPr>
      </p:pic>
      <p:sp>
        <p:nvSpPr>
          <p:cNvPr id="14" name="Text 9"/>
          <p:cNvSpPr/>
          <p:nvPr/>
        </p:nvSpPr>
        <p:spPr>
          <a:xfrm>
            <a:off x="6995160" y="2048256"/>
            <a:ext cx="402336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14322D"/>
                </a:solidFill>
                <a:latin typeface="Century Gothic" pitchFamily="34" charset="0"/>
                <a:ea typeface="Century Gothic" pitchFamily="34" charset="-122"/>
                <a:cs typeface="Century Gothic" pitchFamily="34" charset="-120"/>
              </a:rPr>
              <a:t>The hinge question</a:t>
            </a:r>
            <a:endParaRPr lang="en-US" sz="1600" dirty="0"/>
          </a:p>
        </p:txBody>
      </p:sp>
      <p:sp>
        <p:nvSpPr>
          <p:cNvPr id="15" name="Text 10"/>
          <p:cNvSpPr/>
          <p:nvPr/>
        </p:nvSpPr>
        <p:spPr>
          <a:xfrm>
            <a:off x="6382512" y="2578608"/>
            <a:ext cx="457200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50" dirty="0">
                <a:solidFill>
                  <a:srgbClr val="1A1F1D"/>
                </a:solidFill>
                <a:latin typeface="Century Gothic" pitchFamily="34" charset="0"/>
                <a:ea typeface="Century Gothic" pitchFamily="34" charset="-122"/>
                <a:cs typeface="Century Gothic" pitchFamily="34" charset="-120"/>
              </a:rPr>
              <a:t>One planned question whose answers decide whether the lesson moves on.</a:t>
            </a:r>
            <a:endParaRPr lang="en-US" sz="1250" dirty="0"/>
          </a:p>
        </p:txBody>
      </p:sp>
      <p:sp>
        <p:nvSpPr>
          <p:cNvPr id="16" name="Shape 11"/>
          <p:cNvSpPr/>
          <p:nvPr/>
        </p:nvSpPr>
        <p:spPr>
          <a:xfrm>
            <a:off x="640080" y="3703320"/>
            <a:ext cx="5074920" cy="1554480"/>
          </a:xfrm>
          <a:prstGeom prst="rect">
            <a:avLst/>
          </a:prstGeom>
          <a:solidFill>
            <a:srgbClr val="F7FAF8"/>
          </a:solidFill>
          <a:ln w="12700">
            <a:solidFill>
              <a:srgbClr val="3F9488"/>
            </a:solidFill>
            <a:prstDash val="solid"/>
          </a:ln>
        </p:spPr>
      </p:sp>
      <p:sp>
        <p:nvSpPr>
          <p:cNvPr id="17" name="Shape 12"/>
          <p:cNvSpPr/>
          <p:nvPr/>
        </p:nvSpPr>
        <p:spPr>
          <a:xfrm>
            <a:off x="640080" y="3703320"/>
            <a:ext cx="64008" cy="1554480"/>
          </a:xfrm>
          <a:prstGeom prst="rect">
            <a:avLst/>
          </a:prstGeom>
          <a:solidFill>
            <a:srgbClr val="3F9488"/>
          </a:solidFill>
          <a:ln/>
        </p:spPr>
      </p:sp>
      <p:pic>
        <p:nvPicPr>
          <p:cNvPr id="18" name="Image 3" descr="assets/icon7.png">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896112" y="3941064"/>
            <a:ext cx="457200" cy="457200"/>
          </a:xfrm>
          <a:prstGeom prst="rect">
            <a:avLst/>
          </a:prstGeom>
        </p:spPr>
      </p:pic>
      <p:sp>
        <p:nvSpPr>
          <p:cNvPr id="19" name="Text 13"/>
          <p:cNvSpPr/>
          <p:nvPr/>
        </p:nvSpPr>
        <p:spPr>
          <a:xfrm>
            <a:off x="1508760" y="3922776"/>
            <a:ext cx="402336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14322D"/>
                </a:solidFill>
                <a:latin typeface="Century Gothic" pitchFamily="34" charset="0"/>
                <a:ea typeface="Century Gothic" pitchFamily="34" charset="-122"/>
                <a:cs typeface="Century Gothic" pitchFamily="34" charset="-120"/>
              </a:rPr>
              <a:t>Purposeful circulation</a:t>
            </a:r>
            <a:endParaRPr lang="en-US" sz="1600" dirty="0"/>
          </a:p>
        </p:txBody>
      </p:sp>
      <p:sp>
        <p:nvSpPr>
          <p:cNvPr id="20" name="Text 14"/>
          <p:cNvSpPr/>
          <p:nvPr/>
        </p:nvSpPr>
        <p:spPr>
          <a:xfrm>
            <a:off x="896112" y="4453128"/>
            <a:ext cx="457200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50" dirty="0">
                <a:solidFill>
                  <a:srgbClr val="1A1F1D"/>
                </a:solidFill>
                <a:latin typeface="Century Gothic" pitchFamily="34" charset="0"/>
                <a:ea typeface="Century Gothic" pitchFamily="34" charset="-122"/>
                <a:cs typeface="Century Gothic" pitchFamily="34" charset="-120"/>
              </a:rPr>
              <a:t>Movement with three jobs: on task, on track, supported.</a:t>
            </a:r>
            <a:endParaRPr lang="en-US" sz="1250" dirty="0"/>
          </a:p>
        </p:txBody>
      </p:sp>
      <p:sp>
        <p:nvSpPr>
          <p:cNvPr id="21" name="Shape 15"/>
          <p:cNvSpPr/>
          <p:nvPr/>
        </p:nvSpPr>
        <p:spPr>
          <a:xfrm>
            <a:off x="6126480" y="3703320"/>
            <a:ext cx="5074920" cy="1554480"/>
          </a:xfrm>
          <a:prstGeom prst="rect">
            <a:avLst/>
          </a:prstGeom>
          <a:solidFill>
            <a:srgbClr val="F7FAF8"/>
          </a:solidFill>
          <a:ln w="12700">
            <a:solidFill>
              <a:srgbClr val="3F9488"/>
            </a:solidFill>
            <a:prstDash val="solid"/>
          </a:ln>
        </p:spPr>
      </p:sp>
      <p:sp>
        <p:nvSpPr>
          <p:cNvPr id="22" name="Shape 16"/>
          <p:cNvSpPr/>
          <p:nvPr/>
        </p:nvSpPr>
        <p:spPr>
          <a:xfrm>
            <a:off x="6126480" y="3703320"/>
            <a:ext cx="64008" cy="1554480"/>
          </a:xfrm>
          <a:prstGeom prst="rect">
            <a:avLst/>
          </a:prstGeom>
          <a:solidFill>
            <a:srgbClr val="3F9488"/>
          </a:solidFill>
          <a:ln/>
        </p:spPr>
      </p:sp>
      <p:pic>
        <p:nvPicPr>
          <p:cNvPr id="23" name="Image 4" descr="assets/icon12.png">    </p:cNvPr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6382512" y="3941064"/>
            <a:ext cx="457200" cy="457200"/>
          </a:xfrm>
          <a:prstGeom prst="rect">
            <a:avLst/>
          </a:prstGeom>
        </p:spPr>
      </p:pic>
      <p:sp>
        <p:nvSpPr>
          <p:cNvPr id="24" name="Text 17"/>
          <p:cNvSpPr/>
          <p:nvPr/>
        </p:nvSpPr>
        <p:spPr>
          <a:xfrm>
            <a:off x="6995160" y="3922776"/>
            <a:ext cx="402336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14322D"/>
                </a:solidFill>
                <a:latin typeface="Century Gothic" pitchFamily="34" charset="0"/>
                <a:ea typeface="Century Gothic" pitchFamily="34" charset="-122"/>
                <a:cs typeface="Century Gothic" pitchFamily="34" charset="-120"/>
              </a:rPr>
              <a:t>Act on the evidence</a:t>
            </a:r>
            <a:endParaRPr lang="en-US" sz="1600" dirty="0"/>
          </a:p>
        </p:txBody>
      </p:sp>
      <p:sp>
        <p:nvSpPr>
          <p:cNvPr id="25" name="Text 18"/>
          <p:cNvSpPr/>
          <p:nvPr/>
        </p:nvSpPr>
        <p:spPr>
          <a:xfrm>
            <a:off x="6382512" y="4453128"/>
            <a:ext cx="457200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50" dirty="0">
                <a:solidFill>
                  <a:srgbClr val="1A1F1D"/>
                </a:solidFill>
                <a:latin typeface="Century Gothic" pitchFamily="34" charset="0"/>
                <a:ea typeface="Century Gothic" pitchFamily="34" charset="-122"/>
                <a:cs typeface="Century Gothic" pitchFamily="34" charset="-120"/>
              </a:rPr>
              <a:t>The discipline to loop back when the boards show confusion.</a:t>
            </a:r>
            <a:endParaRPr lang="en-US" sz="1250" dirty="0"/>
          </a:p>
        </p:txBody>
      </p:sp>
      <p:pic>
        <p:nvPicPr>
          <p:cNvPr id="26" name="Image 5" descr="assets/icon9.png">    </p:cNvPr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640080" y="5495544"/>
            <a:ext cx="310896" cy="310896"/>
          </a:xfrm>
          <a:prstGeom prst="rect">
            <a:avLst/>
          </a:prstGeom>
        </p:spPr>
      </p:pic>
      <p:sp>
        <p:nvSpPr>
          <p:cNvPr id="27" name="Text 19"/>
          <p:cNvSpPr/>
          <p:nvPr/>
        </p:nvSpPr>
        <p:spPr>
          <a:xfrm>
            <a:off x="1097280" y="5477256"/>
            <a:ext cx="10451592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b="1" dirty="0">
                <a:solidFill>
                  <a:srgbClr val="14322D"/>
                </a:solidFill>
                <a:latin typeface="Century Gothic" pitchFamily="34" charset="0"/>
                <a:ea typeface="Century Gothic" pitchFamily="34" charset="-122"/>
                <a:cs typeface="Century Gothic" pitchFamily="34" charset="-120"/>
              </a:rPr>
              <a:t>Discuss  </a:t>
            </a:r>
            <a:pPr indent="0" marL="0">
              <a:buNone/>
            </a:pPr>
            <a:r>
              <a:rPr lang="en-US" sz="1250" dirty="0">
                <a:solidFill>
                  <a:srgbClr val="1A1F1D"/>
                </a:solidFill>
                <a:latin typeface="Century Gothic" pitchFamily="34" charset="0"/>
                <a:ea typeface="Century Gothic" pitchFamily="34" charset="-122"/>
                <a:cs typeface="Century Gothic" pitchFamily="34" charset="-120"/>
              </a:rPr>
              <a:t>Which of the four is least developed in your practice?</a:t>
            </a:r>
            <a:endParaRPr lang="en-US" sz="1250" dirty="0"/>
          </a:p>
        </p:txBody>
      </p:sp>
      <p:sp>
        <p:nvSpPr>
          <p:cNvPr id="28" name="Text 20"/>
          <p:cNvSpPr/>
          <p:nvPr/>
        </p:nvSpPr>
        <p:spPr>
          <a:xfrm>
            <a:off x="640080" y="6455664"/>
            <a:ext cx="7315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800" dirty="0">
                <a:solidFill>
                  <a:srgbClr val="6B736E"/>
                </a:solidFill>
                <a:latin typeface="Century Gothic" pitchFamily="34" charset="0"/>
                <a:ea typeface="Century Gothic" pitchFamily="34" charset="-122"/>
                <a:cs typeface="Century Gothic" pitchFamily="34" charset="-120"/>
              </a:rPr>
              <a:t>Teaching Excellence Programme · Checking for Understanding</a:t>
            </a:r>
            <a:endParaRPr lang="en-US" sz="800" dirty="0"/>
          </a:p>
        </p:txBody>
      </p:sp>
      <p:sp>
        <p:nvSpPr>
          <p:cNvPr id="29" name="Text 21"/>
          <p:cNvSpPr/>
          <p:nvPr/>
        </p:nvSpPr>
        <p:spPr>
          <a:xfrm>
            <a:off x="7891272" y="6455664"/>
            <a:ext cx="3657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6B736E"/>
                </a:solidFill>
                <a:latin typeface="Century Gothic" pitchFamily="34" charset="0"/>
                <a:ea typeface="Century Gothic" pitchFamily="34" charset="-122"/>
                <a:cs typeface="Century Gothic" pitchFamily="34" charset="-120"/>
              </a:rPr>
              <a:t>A Nishkam Schools programme</a:t>
            </a:r>
            <a:pPr algn="r" indent="0" marL="0">
              <a:buNone/>
            </a:pPr>
            <a:r>
              <a:rPr lang="en-US" sz="800" dirty="0">
                <a:solidFill>
                  <a:srgbClr val="6B736E"/>
                </a:solidFill>
                <a:latin typeface="Century Gothic" pitchFamily="34" charset="0"/>
                <a:ea typeface="Century Gothic" pitchFamily="34" charset="-122"/>
                <a:cs typeface="Century Gothic" pitchFamily="34" charset="-120"/>
              </a:rPr>
              <a:t>    ·    6</a:t>
            </a:r>
            <a:endParaRPr lang="en-US" sz="800" dirty="0"/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Image 0" descr="assets/crest.png">    </p:cNvPr>
          <p:cNvPicPr>
            <a:picLocks noChangeAspect="1"/>
          </p:cNvPicPr>
          <p:nvPr/>
        </p:nvPicPr>
        <p:blipFill>
          <a:blip r:embed="rId1">
            <a:alphaModFix amt="48000"/>
          </a:blip>
          <a:stretch>
            <a:fillRect/>
          </a:stretch>
        </p:blipFill>
        <p:spPr>
          <a:xfrm>
            <a:off x="10707624" y="384048"/>
            <a:ext cx="841248" cy="731520"/>
          </a:xfrm>
          <a:prstGeom prst="rect">
            <a:avLst/>
          </a:prstGeom>
        </p:spPr>
      </p:pic>
      <p:sp>
        <p:nvSpPr>
          <p:cNvPr id="3" name="Shape 0"/>
          <p:cNvSpPr/>
          <p:nvPr/>
        </p:nvSpPr>
        <p:spPr>
          <a:xfrm>
            <a:off x="640080" y="585216"/>
            <a:ext cx="146304" cy="146304"/>
          </a:xfrm>
          <a:prstGeom prst="rect">
            <a:avLst/>
          </a:prstGeom>
          <a:solidFill>
            <a:srgbClr val="B07D2B"/>
          </a:solidFill>
          <a:ln/>
        </p:spPr>
      </p:sp>
      <p:sp>
        <p:nvSpPr>
          <p:cNvPr id="4" name="Text 1"/>
          <p:cNvSpPr/>
          <p:nvPr/>
        </p:nvSpPr>
        <p:spPr>
          <a:xfrm>
            <a:off x="914400" y="502920"/>
            <a:ext cx="9628632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spc="200" kern="0" dirty="0">
                <a:solidFill>
                  <a:srgbClr val="3F9488"/>
                </a:solidFill>
                <a:latin typeface="Century Gothic" pitchFamily="34" charset="0"/>
                <a:ea typeface="Century Gothic" pitchFamily="34" charset="-122"/>
                <a:cs typeface="Century Gothic" pitchFamily="34" charset="-120"/>
              </a:rPr>
              <a:t>THE THINKING</a:t>
            </a:r>
            <a:endParaRPr lang="en-US" sz="1100" dirty="0"/>
          </a:p>
        </p:txBody>
      </p:sp>
      <p:sp>
        <p:nvSpPr>
          <p:cNvPr id="5" name="Text 2"/>
          <p:cNvSpPr/>
          <p:nvPr/>
        </p:nvSpPr>
        <p:spPr>
          <a:xfrm>
            <a:off x="640080" y="868680"/>
            <a:ext cx="9994392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700" b="1" dirty="0">
                <a:solidFill>
                  <a:srgbClr val="14322D"/>
                </a:solidFill>
                <a:latin typeface="Century Gothic" pitchFamily="34" charset="0"/>
                <a:ea typeface="Century Gothic" pitchFamily="34" charset="-122"/>
                <a:cs typeface="Century Gothic" pitchFamily="34" charset="-120"/>
              </a:rPr>
              <a:t>Where this comes from</a:t>
            </a:r>
            <a:endParaRPr lang="en-US" sz="2700" dirty="0"/>
          </a:p>
        </p:txBody>
      </p:sp>
      <p:pic>
        <p:nvPicPr>
          <p:cNvPr id="6" name="Image 1" descr="assets/icon3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40080" y="1874520"/>
            <a:ext cx="502920" cy="502920"/>
          </a:xfrm>
          <a:prstGeom prst="rect">
            <a:avLst/>
          </a:prstGeom>
        </p:spPr>
      </p:pic>
      <p:sp>
        <p:nvSpPr>
          <p:cNvPr id="7" name="Text 3"/>
          <p:cNvSpPr/>
          <p:nvPr/>
        </p:nvSpPr>
        <p:spPr>
          <a:xfrm>
            <a:off x="1325880" y="1828800"/>
            <a:ext cx="7040880" cy="329184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buNone/>
            </a:pPr>
            <a:r>
              <a:rPr lang="en-US" sz="1500" b="1" dirty="0">
                <a:solidFill>
                  <a:srgbClr val="1A1F1D"/>
                </a:solidFill>
                <a:latin typeface="Century Gothic" pitchFamily="34" charset="0"/>
                <a:ea typeface="Century Gothic" pitchFamily="34" charset="-122"/>
                <a:cs typeface="Century Gothic" pitchFamily="34" charset="-120"/>
              </a:rPr>
              <a:t>Dylan Wiliam — </a:t>
            </a:r>
            <a:pPr indent="0" marL="0">
              <a:spcAft>
                <a:spcPts val="1000"/>
              </a:spcAft>
              <a:buNone/>
            </a:pPr>
            <a:r>
              <a:rPr lang="en-US" sz="1500" dirty="0">
                <a:solidFill>
                  <a:srgbClr val="1A1F1D"/>
                </a:solidFill>
                <a:latin typeface="Century Gothic" pitchFamily="34" charset="0"/>
                <a:ea typeface="Century Gothic" pitchFamily="34" charset="-122"/>
                <a:cs typeface="Century Gothic" pitchFamily="34" charset="-120"/>
              </a:rPr>
              <a:t>checking makes teaching responsive: gather evidence of where pupils are, and adjust the next move.</a:t>
            </a:r>
            <a:endParaRPr lang="en-US" sz="1500" dirty="0"/>
          </a:p>
          <a:p>
            <a:pPr indent="0" marL="0">
              <a:buNone/>
            </a:pPr>
            <a:r>
              <a:rPr lang="en-US" sz="1500" b="1" dirty="0">
                <a:solidFill>
                  <a:srgbClr val="1A1F1D"/>
                </a:solidFill>
                <a:latin typeface="Century Gothic" pitchFamily="34" charset="0"/>
                <a:ea typeface="Century Gothic" pitchFamily="34" charset="-122"/>
                <a:cs typeface="Century Gothic" pitchFamily="34" charset="-120"/>
              </a:rPr>
              <a:t>Hinge questions — </a:t>
            </a:r>
            <a:pPr indent="0" marL="0">
              <a:spcAft>
                <a:spcPts val="1000"/>
              </a:spcAft>
              <a:buNone/>
            </a:pPr>
            <a:r>
              <a:rPr lang="en-US" sz="1500" dirty="0">
                <a:solidFill>
                  <a:srgbClr val="1A1F1D"/>
                </a:solidFill>
                <a:latin typeface="Century Gothic" pitchFamily="34" charset="0"/>
                <a:ea typeface="Century Gothic" pitchFamily="34" charset="-122"/>
                <a:cs typeface="Century Gothic" pitchFamily="34" charset="-120"/>
              </a:rPr>
              <a:t>a single, well-chosen question whose answers decide whether to move on or reteach.</a:t>
            </a:r>
            <a:endParaRPr lang="en-US" sz="1500" dirty="0"/>
          </a:p>
          <a:p>
            <a:pPr indent="0" marL="0">
              <a:buNone/>
            </a:pPr>
            <a:r>
              <a:rPr lang="en-US" sz="1500" b="1" dirty="0">
                <a:solidFill>
                  <a:srgbClr val="1A1F1D"/>
                </a:solidFill>
                <a:latin typeface="Century Gothic" pitchFamily="34" charset="0"/>
                <a:ea typeface="Century Gothic" pitchFamily="34" charset="-122"/>
                <a:cs typeface="Century Gothic" pitchFamily="34" charset="-120"/>
              </a:rPr>
              <a:t>Doug Lemov — </a:t>
            </a:r>
            <a:pPr indent="0" marL="0">
              <a:spcAft>
                <a:spcPts val="1000"/>
              </a:spcAft>
              <a:buNone/>
            </a:pPr>
            <a:r>
              <a:rPr lang="en-US" sz="1500" dirty="0">
                <a:solidFill>
                  <a:srgbClr val="1A1F1D"/>
                </a:solidFill>
                <a:latin typeface="Century Gothic" pitchFamily="34" charset="0"/>
                <a:ea typeface="Century Gothic" pitchFamily="34" charset="-122"/>
                <a:cs typeface="Century Gothic" pitchFamily="34" charset="-120"/>
              </a:rPr>
              <a:t>‘Show Me’ and efficient checks that gather data from the whole class at once.</a:t>
            </a:r>
            <a:endParaRPr lang="en-US" sz="1500" dirty="0"/>
          </a:p>
          <a:p>
            <a:pPr indent="0" marL="0">
              <a:buNone/>
            </a:pPr>
            <a:r>
              <a:rPr lang="en-US" sz="1500" b="1" dirty="0">
                <a:solidFill>
                  <a:srgbClr val="1A1F1D"/>
                </a:solidFill>
                <a:latin typeface="Century Gothic" pitchFamily="34" charset="0"/>
                <a:ea typeface="Century Gothic" pitchFamily="34" charset="-122"/>
                <a:cs typeface="Century Gothic" pitchFamily="34" charset="-120"/>
              </a:rPr>
              <a:t>Barak Rosenshine — </a:t>
            </a:r>
            <a:pPr indent="0" marL="0">
              <a:buNone/>
            </a:pPr>
            <a:r>
              <a:rPr lang="en-US" sz="1500" dirty="0">
                <a:solidFill>
                  <a:srgbClr val="1A1F1D"/>
                </a:solidFill>
                <a:latin typeface="Century Gothic" pitchFamily="34" charset="0"/>
                <a:ea typeface="Century Gothic" pitchFamily="34" charset="-122"/>
                <a:cs typeface="Century Gothic" pitchFamily="34" charset="-120"/>
              </a:rPr>
              <a:t>the most effective teachers check frequently and secure a high success rate.</a:t>
            </a:r>
            <a:endParaRPr lang="en-US" sz="1500" dirty="0"/>
          </a:p>
        </p:txBody>
      </p:sp>
      <p:sp>
        <p:nvSpPr>
          <p:cNvPr id="8" name="Shape 4"/>
          <p:cNvSpPr/>
          <p:nvPr/>
        </p:nvSpPr>
        <p:spPr>
          <a:xfrm>
            <a:off x="8686800" y="1828800"/>
            <a:ext cx="2834640" cy="2377440"/>
          </a:xfrm>
          <a:prstGeom prst="rect">
            <a:avLst/>
          </a:prstGeom>
          <a:solidFill>
            <a:srgbClr val="F4ECE0"/>
          </a:solidFill>
          <a:ln w="12700">
            <a:solidFill>
              <a:srgbClr val="B07D2B"/>
            </a:solidFill>
            <a:prstDash val="solid"/>
          </a:ln>
        </p:spPr>
      </p:sp>
      <p:sp>
        <p:nvSpPr>
          <p:cNvPr id="9" name="Shape 5"/>
          <p:cNvSpPr/>
          <p:nvPr/>
        </p:nvSpPr>
        <p:spPr>
          <a:xfrm>
            <a:off x="8686800" y="1828800"/>
            <a:ext cx="64008" cy="2377440"/>
          </a:xfrm>
          <a:prstGeom prst="rect">
            <a:avLst/>
          </a:prstGeom>
          <a:solidFill>
            <a:srgbClr val="B07D2B"/>
          </a:solidFill>
          <a:ln/>
        </p:spPr>
      </p:sp>
      <p:pic>
        <p:nvPicPr>
          <p:cNvPr id="10" name="Image 2" descr="assets/icon9.png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8915400" y="2011680"/>
            <a:ext cx="365760" cy="365760"/>
          </a:xfrm>
          <a:prstGeom prst="rect">
            <a:avLst/>
          </a:prstGeom>
        </p:spPr>
      </p:pic>
      <p:sp>
        <p:nvSpPr>
          <p:cNvPr id="11" name="Text 6"/>
          <p:cNvSpPr/>
          <p:nvPr/>
        </p:nvSpPr>
        <p:spPr>
          <a:xfrm>
            <a:off x="9326880" y="2011680"/>
            <a:ext cx="201168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14322D"/>
                </a:solidFill>
                <a:latin typeface="Century Gothic" pitchFamily="34" charset="0"/>
                <a:ea typeface="Century Gothic" pitchFamily="34" charset="-122"/>
                <a:cs typeface="Century Gothic" pitchFamily="34" charset="-120"/>
              </a:rPr>
              <a:t>Discuss</a:t>
            </a:r>
            <a:endParaRPr lang="en-US" sz="1500" dirty="0"/>
          </a:p>
        </p:txBody>
      </p:sp>
      <p:sp>
        <p:nvSpPr>
          <p:cNvPr id="12" name="Text 7"/>
          <p:cNvSpPr/>
          <p:nvPr/>
        </p:nvSpPr>
        <p:spPr>
          <a:xfrm>
            <a:off x="8915400" y="2560320"/>
            <a:ext cx="2423160" cy="14630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300" dirty="0">
                <a:solidFill>
                  <a:srgbClr val="1A1F1D"/>
                </a:solidFill>
                <a:latin typeface="Century Gothic" pitchFamily="34" charset="0"/>
                <a:ea typeface="Century Gothic" pitchFamily="34" charset="-122"/>
                <a:cs typeface="Century Gothic" pitchFamily="34" charset="-120"/>
              </a:rPr>
              <a:t>Where in a lesson do you most need evidence you are not currently gathering?</a:t>
            </a:r>
            <a:endParaRPr lang="en-US" sz="1300" dirty="0"/>
          </a:p>
        </p:txBody>
      </p:sp>
      <p:sp>
        <p:nvSpPr>
          <p:cNvPr id="13" name="Text 8"/>
          <p:cNvSpPr/>
          <p:nvPr/>
        </p:nvSpPr>
        <p:spPr>
          <a:xfrm>
            <a:off x="640080" y="5715000"/>
            <a:ext cx="10908792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i="1" dirty="0">
                <a:solidFill>
                  <a:srgbClr val="6B736E"/>
                </a:solidFill>
                <a:latin typeface="Century Gothic" pitchFamily="34" charset="0"/>
                <a:ea typeface="Century Gothic" pitchFamily="34" charset="-122"/>
                <a:cs typeface="Century Gothic" pitchFamily="34" charset="-120"/>
              </a:rPr>
              <a:t>Wiliam, Embedded Formative Assessment · Lemov, Teach Like a Champion · Rosenshine, Principles of Instruction.</a:t>
            </a:r>
            <a:endParaRPr lang="en-US" sz="1050" dirty="0"/>
          </a:p>
        </p:txBody>
      </p:sp>
      <p:sp>
        <p:nvSpPr>
          <p:cNvPr id="14" name="Text 9"/>
          <p:cNvSpPr/>
          <p:nvPr/>
        </p:nvSpPr>
        <p:spPr>
          <a:xfrm>
            <a:off x="640080" y="6455664"/>
            <a:ext cx="7315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800" dirty="0">
                <a:solidFill>
                  <a:srgbClr val="6B736E"/>
                </a:solidFill>
                <a:latin typeface="Century Gothic" pitchFamily="34" charset="0"/>
                <a:ea typeface="Century Gothic" pitchFamily="34" charset="-122"/>
                <a:cs typeface="Century Gothic" pitchFamily="34" charset="-120"/>
              </a:rPr>
              <a:t>Teaching Excellence Programme · Checking for Understanding</a:t>
            </a:r>
            <a:endParaRPr lang="en-US" sz="800" dirty="0"/>
          </a:p>
        </p:txBody>
      </p:sp>
      <p:sp>
        <p:nvSpPr>
          <p:cNvPr id="15" name="Text 10"/>
          <p:cNvSpPr/>
          <p:nvPr/>
        </p:nvSpPr>
        <p:spPr>
          <a:xfrm>
            <a:off x="7891272" y="6455664"/>
            <a:ext cx="3657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6B736E"/>
                </a:solidFill>
                <a:latin typeface="Century Gothic" pitchFamily="34" charset="0"/>
                <a:ea typeface="Century Gothic" pitchFamily="34" charset="-122"/>
                <a:cs typeface="Century Gothic" pitchFamily="34" charset="-120"/>
              </a:rPr>
              <a:t>A Nishkam Schools programme</a:t>
            </a:r>
            <a:pPr algn="r" indent="0" marL="0">
              <a:buNone/>
            </a:pPr>
            <a:r>
              <a:rPr lang="en-US" sz="800" dirty="0">
                <a:solidFill>
                  <a:srgbClr val="6B736E"/>
                </a:solidFill>
                <a:latin typeface="Century Gothic" pitchFamily="34" charset="0"/>
                <a:ea typeface="Century Gothic" pitchFamily="34" charset="-122"/>
                <a:cs typeface="Century Gothic" pitchFamily="34" charset="-120"/>
              </a:rPr>
              <a:t>    ·    7</a:t>
            </a:r>
            <a:endParaRPr lang="en-US" sz="800" dirty="0"/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8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Image 0" descr="assets/crest.png">    </p:cNvPr>
          <p:cNvPicPr>
            <a:picLocks noChangeAspect="1"/>
          </p:cNvPicPr>
          <p:nvPr/>
        </p:nvPicPr>
        <p:blipFill>
          <a:blip r:embed="rId1">
            <a:alphaModFix amt="48000"/>
          </a:blip>
          <a:stretch>
            <a:fillRect/>
          </a:stretch>
        </p:blipFill>
        <p:spPr>
          <a:xfrm>
            <a:off x="10707624" y="384048"/>
            <a:ext cx="841248" cy="731520"/>
          </a:xfrm>
          <a:prstGeom prst="rect">
            <a:avLst/>
          </a:prstGeom>
        </p:spPr>
      </p:pic>
      <p:sp>
        <p:nvSpPr>
          <p:cNvPr id="3" name="Shape 0"/>
          <p:cNvSpPr/>
          <p:nvPr/>
        </p:nvSpPr>
        <p:spPr>
          <a:xfrm>
            <a:off x="640080" y="585216"/>
            <a:ext cx="146304" cy="146304"/>
          </a:xfrm>
          <a:prstGeom prst="rect">
            <a:avLst/>
          </a:prstGeom>
          <a:solidFill>
            <a:srgbClr val="B07D2B"/>
          </a:solidFill>
          <a:ln/>
        </p:spPr>
      </p:sp>
      <p:sp>
        <p:nvSpPr>
          <p:cNvPr id="4" name="Text 1"/>
          <p:cNvSpPr/>
          <p:nvPr/>
        </p:nvSpPr>
        <p:spPr>
          <a:xfrm>
            <a:off x="914400" y="502920"/>
            <a:ext cx="9628632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spc="200" kern="0" dirty="0">
                <a:solidFill>
                  <a:srgbClr val="3F9488"/>
                </a:solidFill>
                <a:latin typeface="Century Gothic" pitchFamily="34" charset="0"/>
                <a:ea typeface="Century Gothic" pitchFamily="34" charset="-122"/>
                <a:cs typeface="Century Gothic" pitchFamily="34" charset="-120"/>
              </a:rPr>
              <a:t>THE ROUTINE</a:t>
            </a:r>
            <a:endParaRPr lang="en-US" sz="1100" dirty="0"/>
          </a:p>
        </p:txBody>
      </p:sp>
      <p:sp>
        <p:nvSpPr>
          <p:cNvPr id="5" name="Text 2"/>
          <p:cNvSpPr/>
          <p:nvPr/>
        </p:nvSpPr>
        <p:spPr>
          <a:xfrm>
            <a:off x="640080" y="868680"/>
            <a:ext cx="9994392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700" b="1" dirty="0">
                <a:solidFill>
                  <a:srgbClr val="14322D"/>
                </a:solidFill>
                <a:latin typeface="Century Gothic" pitchFamily="34" charset="0"/>
                <a:ea typeface="Century Gothic" pitchFamily="34" charset="-122"/>
                <a:cs typeface="Century Gothic" pitchFamily="34" charset="-120"/>
              </a:rPr>
              <a:t>The mini-whiteboard checkpoint</a:t>
            </a:r>
            <a:endParaRPr lang="en-US" sz="2700" dirty="0"/>
          </a:p>
        </p:txBody>
      </p:sp>
      <p:sp>
        <p:nvSpPr>
          <p:cNvPr id="6" name="Shape 3"/>
          <p:cNvSpPr/>
          <p:nvPr/>
        </p:nvSpPr>
        <p:spPr>
          <a:xfrm>
            <a:off x="640080" y="1783080"/>
            <a:ext cx="3566160" cy="3429000"/>
          </a:xfrm>
          <a:prstGeom prst="rect">
            <a:avLst/>
          </a:prstGeom>
          <a:solidFill>
            <a:srgbClr val="F7FAF8"/>
          </a:solidFill>
          <a:ln w="12700">
            <a:solidFill>
              <a:srgbClr val="3F9488"/>
            </a:solidFill>
            <a:prstDash val="solid"/>
          </a:ln>
        </p:spPr>
      </p:sp>
      <p:sp>
        <p:nvSpPr>
          <p:cNvPr id="7" name="Shape 4"/>
          <p:cNvSpPr/>
          <p:nvPr/>
        </p:nvSpPr>
        <p:spPr>
          <a:xfrm>
            <a:off x="640080" y="1783080"/>
            <a:ext cx="64008" cy="3429000"/>
          </a:xfrm>
          <a:prstGeom prst="rect">
            <a:avLst/>
          </a:prstGeom>
          <a:solidFill>
            <a:srgbClr val="3F9488"/>
          </a:solidFill>
          <a:ln/>
        </p:spPr>
      </p:sp>
      <p:pic>
        <p:nvPicPr>
          <p:cNvPr id="8" name="Image 1" descr="assets/icon14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914400" y="1965960"/>
            <a:ext cx="411480" cy="411480"/>
          </a:xfrm>
          <a:prstGeom prst="rect">
            <a:avLst/>
          </a:prstGeom>
        </p:spPr>
      </p:pic>
      <p:sp>
        <p:nvSpPr>
          <p:cNvPr id="9" name="Text 5"/>
          <p:cNvSpPr/>
          <p:nvPr/>
        </p:nvSpPr>
        <p:spPr>
          <a:xfrm>
            <a:off x="1463040" y="1965960"/>
            <a:ext cx="256032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14322D"/>
                </a:solidFill>
                <a:latin typeface="Century Gothic" pitchFamily="34" charset="0"/>
                <a:ea typeface="Century Gothic" pitchFamily="34" charset="-122"/>
                <a:cs typeface="Century Gothic" pitchFamily="34" charset="-120"/>
              </a:rPr>
              <a:t>Everyone, at once</a:t>
            </a:r>
            <a:endParaRPr lang="en-US" sz="1800" dirty="0"/>
          </a:p>
        </p:txBody>
      </p:sp>
      <p:sp>
        <p:nvSpPr>
          <p:cNvPr id="10" name="Text 6"/>
          <p:cNvSpPr/>
          <p:nvPr/>
        </p:nvSpPr>
        <p:spPr>
          <a:xfrm>
            <a:off x="914400" y="2560320"/>
            <a:ext cx="3108960" cy="24688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spcAft>
                <a:spcPts val="700"/>
              </a:spcAft>
              <a:buNone/>
            </a:pPr>
            <a:r>
              <a:rPr lang="en-US" sz="1350" dirty="0">
                <a:solidFill>
                  <a:srgbClr val="1A1F1D"/>
                </a:solidFill>
                <a:latin typeface="Century Gothic" pitchFamily="34" charset="0"/>
                <a:ea typeface="Century Gothic" pitchFamily="34" charset="-122"/>
                <a:cs typeface="Century Gothic" pitchFamily="34" charset="-120"/>
              </a:rPr>
              <a:t>Mini-whiteboards turn ‘is everyone with me?’ into a question with thirty answers.</a:t>
            </a:r>
            <a:endParaRPr lang="en-US" sz="1350" dirty="0"/>
          </a:p>
          <a:p>
            <a:pPr indent="0" marL="0">
              <a:buNone/>
            </a:pPr>
            <a:r>
              <a:rPr lang="en-US" sz="1350" dirty="0">
                <a:solidFill>
                  <a:srgbClr val="1A1F1D"/>
                </a:solidFill>
                <a:latin typeface="Century Gothic" pitchFamily="34" charset="0"/>
                <a:ea typeface="Century Gothic" pitchFamily="34" charset="-122"/>
                <a:cs typeface="Century Gothic" pitchFamily="34" charset="-120"/>
              </a:rPr>
              <a:t>The hinge question is the planned checkpoint that decides the next move.</a:t>
            </a:r>
            <a:endParaRPr lang="en-US" sz="1350" dirty="0"/>
          </a:p>
        </p:txBody>
      </p:sp>
      <p:sp>
        <p:nvSpPr>
          <p:cNvPr id="11" name="Shape 7"/>
          <p:cNvSpPr/>
          <p:nvPr/>
        </p:nvSpPr>
        <p:spPr>
          <a:xfrm>
            <a:off x="4572000" y="1810512"/>
            <a:ext cx="365760" cy="365760"/>
          </a:xfrm>
          <a:prstGeom prst="ellipse">
            <a:avLst/>
          </a:prstGeom>
          <a:solidFill>
            <a:srgbClr val="14322D"/>
          </a:solidFill>
          <a:ln/>
        </p:spPr>
      </p:sp>
      <p:sp>
        <p:nvSpPr>
          <p:cNvPr id="12" name="Text 8"/>
          <p:cNvSpPr/>
          <p:nvPr/>
        </p:nvSpPr>
        <p:spPr>
          <a:xfrm>
            <a:off x="4572000" y="1810512"/>
            <a:ext cx="3657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FFFFFF"/>
                </a:solidFill>
                <a:latin typeface="Century Gothic" pitchFamily="34" charset="0"/>
                <a:ea typeface="Century Gothic" pitchFamily="34" charset="-122"/>
                <a:cs typeface="Century Gothic" pitchFamily="34" charset="-120"/>
              </a:rPr>
              <a:t>1</a:t>
            </a:r>
            <a:endParaRPr lang="en-US" sz="1300" dirty="0"/>
          </a:p>
        </p:txBody>
      </p:sp>
      <p:sp>
        <p:nvSpPr>
          <p:cNvPr id="13" name="Text 9"/>
          <p:cNvSpPr/>
          <p:nvPr/>
        </p:nvSpPr>
        <p:spPr>
          <a:xfrm>
            <a:off x="5120640" y="1764792"/>
            <a:ext cx="658368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dirty="0">
                <a:solidFill>
                  <a:srgbClr val="1A1F1D"/>
                </a:solidFill>
                <a:latin typeface="Century Gothic" pitchFamily="34" charset="0"/>
                <a:ea typeface="Century Gothic" pitchFamily="34" charset="-122"/>
                <a:cs typeface="Century Gothic" pitchFamily="34" charset="-120"/>
              </a:rPr>
              <a:t>Boards and pens on desks, ready (MW1).</a:t>
            </a:r>
            <a:endParaRPr lang="en-US" sz="1400" dirty="0"/>
          </a:p>
        </p:txBody>
      </p:sp>
      <p:sp>
        <p:nvSpPr>
          <p:cNvPr id="14" name="Shape 10"/>
          <p:cNvSpPr/>
          <p:nvPr/>
        </p:nvSpPr>
        <p:spPr>
          <a:xfrm>
            <a:off x="4572000" y="2377440"/>
            <a:ext cx="365760" cy="365760"/>
          </a:xfrm>
          <a:prstGeom prst="ellipse">
            <a:avLst/>
          </a:prstGeom>
          <a:solidFill>
            <a:srgbClr val="14322D"/>
          </a:solidFill>
          <a:ln/>
        </p:spPr>
      </p:sp>
      <p:sp>
        <p:nvSpPr>
          <p:cNvPr id="15" name="Text 11"/>
          <p:cNvSpPr/>
          <p:nvPr/>
        </p:nvSpPr>
        <p:spPr>
          <a:xfrm>
            <a:off x="4572000" y="2377440"/>
            <a:ext cx="3657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FFFFFF"/>
                </a:solidFill>
                <a:latin typeface="Century Gothic" pitchFamily="34" charset="0"/>
                <a:ea typeface="Century Gothic" pitchFamily="34" charset="-122"/>
                <a:cs typeface="Century Gothic" pitchFamily="34" charset="-120"/>
              </a:rPr>
              <a:t>2</a:t>
            </a:r>
            <a:endParaRPr lang="en-US" sz="1300" dirty="0"/>
          </a:p>
        </p:txBody>
      </p:sp>
      <p:sp>
        <p:nvSpPr>
          <p:cNvPr id="16" name="Text 12"/>
          <p:cNvSpPr/>
          <p:nvPr/>
        </p:nvSpPr>
        <p:spPr>
          <a:xfrm>
            <a:off x="5120640" y="2331720"/>
            <a:ext cx="658368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dirty="0">
                <a:solidFill>
                  <a:srgbClr val="1A1F1D"/>
                </a:solidFill>
                <a:latin typeface="Century Gothic" pitchFamily="34" charset="0"/>
                <a:ea typeface="Century Gothic" pitchFamily="34" charset="-122"/>
                <a:cs typeface="Century Gothic" pitchFamily="34" charset="-120"/>
              </a:rPr>
              <a:t>A clear task that is a genuine check; state the time limit (MW2–MW4).</a:t>
            </a:r>
            <a:endParaRPr lang="en-US" sz="1400" dirty="0"/>
          </a:p>
        </p:txBody>
      </p:sp>
      <p:sp>
        <p:nvSpPr>
          <p:cNvPr id="17" name="Shape 13"/>
          <p:cNvSpPr/>
          <p:nvPr/>
        </p:nvSpPr>
        <p:spPr>
          <a:xfrm>
            <a:off x="4572000" y="2944368"/>
            <a:ext cx="365760" cy="365760"/>
          </a:xfrm>
          <a:prstGeom prst="ellipse">
            <a:avLst/>
          </a:prstGeom>
          <a:solidFill>
            <a:srgbClr val="14322D"/>
          </a:solidFill>
          <a:ln/>
        </p:spPr>
      </p:sp>
      <p:sp>
        <p:nvSpPr>
          <p:cNvPr id="18" name="Text 14"/>
          <p:cNvSpPr/>
          <p:nvPr/>
        </p:nvSpPr>
        <p:spPr>
          <a:xfrm>
            <a:off x="4572000" y="2944368"/>
            <a:ext cx="3657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FFFFFF"/>
                </a:solidFill>
                <a:latin typeface="Century Gothic" pitchFamily="34" charset="0"/>
                <a:ea typeface="Century Gothic" pitchFamily="34" charset="-122"/>
                <a:cs typeface="Century Gothic" pitchFamily="34" charset="-120"/>
              </a:rPr>
              <a:t>3</a:t>
            </a:r>
            <a:endParaRPr lang="en-US" sz="1300" dirty="0"/>
          </a:p>
        </p:txBody>
      </p:sp>
      <p:sp>
        <p:nvSpPr>
          <p:cNvPr id="19" name="Text 15"/>
          <p:cNvSpPr/>
          <p:nvPr/>
        </p:nvSpPr>
        <p:spPr>
          <a:xfrm>
            <a:off x="5120640" y="2898648"/>
            <a:ext cx="658368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dirty="0">
                <a:solidFill>
                  <a:srgbClr val="1A1F1D"/>
                </a:solidFill>
                <a:latin typeface="Century Gothic" pitchFamily="34" charset="0"/>
                <a:ea typeface="Century Gothic" pitchFamily="34" charset="-122"/>
                <a:cs typeface="Century Gothic" pitchFamily="34" charset="-120"/>
              </a:rPr>
              <a:t>Silent thinking time before any response (MW6).</a:t>
            </a:r>
            <a:endParaRPr lang="en-US" sz="1400" dirty="0"/>
          </a:p>
        </p:txBody>
      </p:sp>
      <p:sp>
        <p:nvSpPr>
          <p:cNvPr id="20" name="Shape 16"/>
          <p:cNvSpPr/>
          <p:nvPr/>
        </p:nvSpPr>
        <p:spPr>
          <a:xfrm>
            <a:off x="4572000" y="3511296"/>
            <a:ext cx="365760" cy="365760"/>
          </a:xfrm>
          <a:prstGeom prst="ellipse">
            <a:avLst/>
          </a:prstGeom>
          <a:solidFill>
            <a:srgbClr val="14322D"/>
          </a:solidFill>
          <a:ln/>
        </p:spPr>
      </p:sp>
      <p:sp>
        <p:nvSpPr>
          <p:cNvPr id="21" name="Text 17"/>
          <p:cNvSpPr/>
          <p:nvPr/>
        </p:nvSpPr>
        <p:spPr>
          <a:xfrm>
            <a:off x="4572000" y="3511296"/>
            <a:ext cx="3657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FFFFFF"/>
                </a:solidFill>
                <a:latin typeface="Century Gothic" pitchFamily="34" charset="0"/>
                <a:ea typeface="Century Gothic" pitchFamily="34" charset="-122"/>
                <a:cs typeface="Century Gothic" pitchFamily="34" charset="-120"/>
              </a:rPr>
              <a:t>4</a:t>
            </a:r>
            <a:endParaRPr lang="en-US" sz="1300" dirty="0"/>
          </a:p>
        </p:txBody>
      </p:sp>
      <p:sp>
        <p:nvSpPr>
          <p:cNvPr id="22" name="Text 18"/>
          <p:cNvSpPr/>
          <p:nvPr/>
        </p:nvSpPr>
        <p:spPr>
          <a:xfrm>
            <a:off x="5120640" y="3465576"/>
            <a:ext cx="658368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dirty="0">
                <a:solidFill>
                  <a:srgbClr val="1A1F1D"/>
                </a:solidFill>
                <a:latin typeface="Century Gothic" pitchFamily="34" charset="0"/>
                <a:ea typeface="Century Gothic" pitchFamily="34" charset="-122"/>
                <a:cs typeface="Century Gothic" pitchFamily="34" charset="-120"/>
              </a:rPr>
              <a:t>‘3-2-1, show me’; all boards up together (MW7–MW8).</a:t>
            </a:r>
            <a:endParaRPr lang="en-US" sz="1400" dirty="0"/>
          </a:p>
        </p:txBody>
      </p:sp>
      <p:sp>
        <p:nvSpPr>
          <p:cNvPr id="23" name="Shape 19"/>
          <p:cNvSpPr/>
          <p:nvPr/>
        </p:nvSpPr>
        <p:spPr>
          <a:xfrm>
            <a:off x="4572000" y="4078224"/>
            <a:ext cx="365760" cy="365760"/>
          </a:xfrm>
          <a:prstGeom prst="ellipse">
            <a:avLst/>
          </a:prstGeom>
          <a:solidFill>
            <a:srgbClr val="14322D"/>
          </a:solidFill>
          <a:ln/>
        </p:spPr>
      </p:sp>
      <p:sp>
        <p:nvSpPr>
          <p:cNvPr id="24" name="Text 20"/>
          <p:cNvSpPr/>
          <p:nvPr/>
        </p:nvSpPr>
        <p:spPr>
          <a:xfrm>
            <a:off x="4572000" y="4078224"/>
            <a:ext cx="3657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FFFFFF"/>
                </a:solidFill>
                <a:latin typeface="Century Gothic" pitchFamily="34" charset="0"/>
                <a:ea typeface="Century Gothic" pitchFamily="34" charset="-122"/>
                <a:cs typeface="Century Gothic" pitchFamily="34" charset="-120"/>
              </a:rPr>
              <a:t>5</a:t>
            </a:r>
            <a:endParaRPr lang="en-US" sz="1300" dirty="0"/>
          </a:p>
        </p:txBody>
      </p:sp>
      <p:sp>
        <p:nvSpPr>
          <p:cNvPr id="25" name="Text 21"/>
          <p:cNvSpPr/>
          <p:nvPr/>
        </p:nvSpPr>
        <p:spPr>
          <a:xfrm>
            <a:off x="5120640" y="4032504"/>
            <a:ext cx="658368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dirty="0">
                <a:solidFill>
                  <a:srgbClr val="1A1F1D"/>
                </a:solidFill>
                <a:latin typeface="Century Gothic" pitchFamily="34" charset="0"/>
                <a:ea typeface="Century Gothic" pitchFamily="34" charset="-122"/>
                <a:cs typeface="Century Gothic" pitchFamily="34" charset="-120"/>
              </a:rPr>
              <a:t>Read the room, then decide: move on, or reteach.</a:t>
            </a:r>
            <a:endParaRPr lang="en-US" sz="1400" dirty="0"/>
          </a:p>
        </p:txBody>
      </p:sp>
      <p:pic>
        <p:nvPicPr>
          <p:cNvPr id="26" name="Image 2" descr="assets/icon9.png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640080" y="5495544"/>
            <a:ext cx="310896" cy="310896"/>
          </a:xfrm>
          <a:prstGeom prst="rect">
            <a:avLst/>
          </a:prstGeom>
        </p:spPr>
      </p:pic>
      <p:sp>
        <p:nvSpPr>
          <p:cNvPr id="27" name="Text 22"/>
          <p:cNvSpPr/>
          <p:nvPr/>
        </p:nvSpPr>
        <p:spPr>
          <a:xfrm>
            <a:off x="1097280" y="5477256"/>
            <a:ext cx="10451592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b="1" dirty="0">
                <a:solidFill>
                  <a:srgbClr val="14322D"/>
                </a:solidFill>
                <a:latin typeface="Century Gothic" pitchFamily="34" charset="0"/>
                <a:ea typeface="Century Gothic" pitchFamily="34" charset="-122"/>
                <a:cs typeface="Century Gothic" pitchFamily="34" charset="-120"/>
              </a:rPr>
              <a:t>Discuss  </a:t>
            </a:r>
            <a:pPr indent="0" marL="0">
              <a:buNone/>
            </a:pPr>
            <a:r>
              <a:rPr lang="en-US" sz="1250" dirty="0">
                <a:solidFill>
                  <a:srgbClr val="1A1F1D"/>
                </a:solidFill>
                <a:latin typeface="Century Gothic" pitchFamily="34" charset="0"/>
                <a:ea typeface="Century Gothic" pitchFamily="34" charset="-122"/>
                <a:cs typeface="Century Gothic" pitchFamily="34" charset="-120"/>
              </a:rPr>
              <a:t>Where is the moment in your next lesson that a hinge question should guard?</a:t>
            </a:r>
            <a:endParaRPr lang="en-US" sz="1250" dirty="0"/>
          </a:p>
        </p:txBody>
      </p:sp>
      <p:sp>
        <p:nvSpPr>
          <p:cNvPr id="28" name="Text 23"/>
          <p:cNvSpPr/>
          <p:nvPr/>
        </p:nvSpPr>
        <p:spPr>
          <a:xfrm>
            <a:off x="640080" y="5989320"/>
            <a:ext cx="10908792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i="1" dirty="0">
                <a:solidFill>
                  <a:srgbClr val="6B736E"/>
                </a:solidFill>
                <a:latin typeface="Century Gothic" pitchFamily="34" charset="0"/>
                <a:ea typeface="Century Gothic" pitchFamily="34" charset="-122"/>
                <a:cs typeface="Century Gothic" pitchFamily="34" charset="-120"/>
              </a:rPr>
              <a:t>The discipline is to act on what the boards show — including looping back.</a:t>
            </a:r>
            <a:endParaRPr lang="en-US" sz="1050" dirty="0"/>
          </a:p>
        </p:txBody>
      </p:sp>
      <p:sp>
        <p:nvSpPr>
          <p:cNvPr id="29" name="Text 24"/>
          <p:cNvSpPr/>
          <p:nvPr/>
        </p:nvSpPr>
        <p:spPr>
          <a:xfrm>
            <a:off x="640080" y="6455664"/>
            <a:ext cx="7315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800" dirty="0">
                <a:solidFill>
                  <a:srgbClr val="6B736E"/>
                </a:solidFill>
                <a:latin typeface="Century Gothic" pitchFamily="34" charset="0"/>
                <a:ea typeface="Century Gothic" pitchFamily="34" charset="-122"/>
                <a:cs typeface="Century Gothic" pitchFamily="34" charset="-120"/>
              </a:rPr>
              <a:t>Teaching Excellence Programme · Checking for Understanding</a:t>
            </a:r>
            <a:endParaRPr lang="en-US" sz="800" dirty="0"/>
          </a:p>
        </p:txBody>
      </p:sp>
      <p:sp>
        <p:nvSpPr>
          <p:cNvPr id="30" name="Text 25"/>
          <p:cNvSpPr/>
          <p:nvPr/>
        </p:nvSpPr>
        <p:spPr>
          <a:xfrm>
            <a:off x="7891272" y="6455664"/>
            <a:ext cx="3657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6B736E"/>
                </a:solidFill>
                <a:latin typeface="Century Gothic" pitchFamily="34" charset="0"/>
                <a:ea typeface="Century Gothic" pitchFamily="34" charset="-122"/>
                <a:cs typeface="Century Gothic" pitchFamily="34" charset="-120"/>
              </a:rPr>
              <a:t>A Nishkam Schools programme</a:t>
            </a:r>
            <a:pPr algn="r" indent="0" marL="0">
              <a:buNone/>
            </a:pPr>
            <a:r>
              <a:rPr lang="en-US" sz="800" dirty="0">
                <a:solidFill>
                  <a:srgbClr val="6B736E"/>
                </a:solidFill>
                <a:latin typeface="Century Gothic" pitchFamily="34" charset="0"/>
                <a:ea typeface="Century Gothic" pitchFamily="34" charset="-122"/>
                <a:cs typeface="Century Gothic" pitchFamily="34" charset="-120"/>
              </a:rPr>
              <a:t>    ·    8</a:t>
            </a:r>
            <a:endParaRPr lang="en-US" sz="800" dirty="0"/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9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Image 0" descr="assets/crest.png">    </p:cNvPr>
          <p:cNvPicPr>
            <a:picLocks noChangeAspect="1"/>
          </p:cNvPicPr>
          <p:nvPr/>
        </p:nvPicPr>
        <p:blipFill>
          <a:blip r:embed="rId1">
            <a:alphaModFix amt="48000"/>
          </a:blip>
          <a:stretch>
            <a:fillRect/>
          </a:stretch>
        </p:blipFill>
        <p:spPr>
          <a:xfrm>
            <a:off x="10707624" y="384048"/>
            <a:ext cx="841248" cy="731520"/>
          </a:xfrm>
          <a:prstGeom prst="rect">
            <a:avLst/>
          </a:prstGeom>
        </p:spPr>
      </p:pic>
      <p:sp>
        <p:nvSpPr>
          <p:cNvPr id="3" name="Shape 0"/>
          <p:cNvSpPr/>
          <p:nvPr/>
        </p:nvSpPr>
        <p:spPr>
          <a:xfrm>
            <a:off x="640080" y="585216"/>
            <a:ext cx="146304" cy="146304"/>
          </a:xfrm>
          <a:prstGeom prst="rect">
            <a:avLst/>
          </a:prstGeom>
          <a:solidFill>
            <a:srgbClr val="B07D2B"/>
          </a:solidFill>
          <a:ln/>
        </p:spPr>
      </p:sp>
      <p:sp>
        <p:nvSpPr>
          <p:cNvPr id="4" name="Text 1"/>
          <p:cNvSpPr/>
          <p:nvPr/>
        </p:nvSpPr>
        <p:spPr>
          <a:xfrm>
            <a:off x="914400" y="502920"/>
            <a:ext cx="9628632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spc="200" kern="0" dirty="0">
                <a:solidFill>
                  <a:srgbClr val="3F9488"/>
                </a:solidFill>
                <a:latin typeface="Century Gothic" pitchFamily="34" charset="0"/>
                <a:ea typeface="Century Gothic" pitchFamily="34" charset="-122"/>
                <a:cs typeface="Century Gothic" pitchFamily="34" charset="-120"/>
              </a:rPr>
              <a:t>THE NISHKAM FRAME</a:t>
            </a:r>
            <a:endParaRPr lang="en-US" sz="1100" dirty="0"/>
          </a:p>
        </p:txBody>
      </p:sp>
      <p:sp>
        <p:nvSpPr>
          <p:cNvPr id="5" name="Text 2"/>
          <p:cNvSpPr/>
          <p:nvPr/>
        </p:nvSpPr>
        <p:spPr>
          <a:xfrm>
            <a:off x="640080" y="868680"/>
            <a:ext cx="9994392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700" b="1" dirty="0">
                <a:solidFill>
                  <a:srgbClr val="14322D"/>
                </a:solidFill>
                <a:latin typeface="Century Gothic" pitchFamily="34" charset="0"/>
                <a:ea typeface="Century Gothic" pitchFamily="34" charset="-122"/>
                <a:cs typeface="Century Gothic" pitchFamily="34" charset="-120"/>
              </a:rPr>
              <a:t>Checking is diligence made visible</a:t>
            </a:r>
            <a:endParaRPr lang="en-US" sz="2700" dirty="0"/>
          </a:p>
        </p:txBody>
      </p:sp>
      <p:sp>
        <p:nvSpPr>
          <p:cNvPr id="6" name="Shape 3"/>
          <p:cNvSpPr/>
          <p:nvPr/>
        </p:nvSpPr>
        <p:spPr>
          <a:xfrm>
            <a:off x="640080" y="1874520"/>
            <a:ext cx="10908792" cy="3200400"/>
          </a:xfrm>
          <a:prstGeom prst="rect">
            <a:avLst/>
          </a:prstGeom>
          <a:solidFill>
            <a:srgbClr val="F4ECE0"/>
          </a:solidFill>
          <a:ln w="12700">
            <a:solidFill>
              <a:srgbClr val="B07D2B"/>
            </a:solidFill>
            <a:prstDash val="solid"/>
          </a:ln>
        </p:spPr>
      </p:sp>
      <p:sp>
        <p:nvSpPr>
          <p:cNvPr id="7" name="Shape 4"/>
          <p:cNvSpPr/>
          <p:nvPr/>
        </p:nvSpPr>
        <p:spPr>
          <a:xfrm>
            <a:off x="640080" y="1874520"/>
            <a:ext cx="64008" cy="3200400"/>
          </a:xfrm>
          <a:prstGeom prst="rect">
            <a:avLst/>
          </a:prstGeom>
          <a:solidFill>
            <a:srgbClr val="B07D2B"/>
          </a:solidFill>
          <a:ln/>
        </p:spPr>
      </p:sp>
      <p:pic>
        <p:nvPicPr>
          <p:cNvPr id="8" name="Image 1" descr="assets/crest.png">    </p:cNvPr>
          <p:cNvPicPr>
            <a:picLocks noChangeAspect="1"/>
          </p:cNvPicPr>
          <p:nvPr/>
        </p:nvPicPr>
        <p:blipFill>
          <a:blip r:embed="rId2">
            <a:alphaModFix amt="45000"/>
          </a:blip>
          <a:stretch>
            <a:fillRect/>
          </a:stretch>
        </p:blipFill>
        <p:spPr>
          <a:xfrm>
            <a:off x="10287000" y="3794760"/>
            <a:ext cx="914400" cy="795528"/>
          </a:xfrm>
          <a:prstGeom prst="rect">
            <a:avLst/>
          </a:prstGeom>
        </p:spPr>
      </p:pic>
      <p:sp>
        <p:nvSpPr>
          <p:cNvPr id="9" name="Text 5"/>
          <p:cNvSpPr/>
          <p:nvPr/>
        </p:nvSpPr>
        <p:spPr>
          <a:xfrm>
            <a:off x="1005840" y="2103120"/>
            <a:ext cx="45720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14322D"/>
                </a:solidFill>
                <a:latin typeface="Century Gothic" pitchFamily="34" charset="0"/>
                <a:ea typeface="Century Gothic" pitchFamily="34" charset="-122"/>
                <a:cs typeface="Century Gothic" pitchFamily="34" charset="-120"/>
              </a:rPr>
              <a:t>At Nishkam</a:t>
            </a:r>
            <a:endParaRPr lang="en-US" sz="1800" dirty="0"/>
          </a:p>
        </p:txBody>
      </p:sp>
      <p:sp>
        <p:nvSpPr>
          <p:cNvPr id="10" name="Text 6"/>
          <p:cNvSpPr/>
          <p:nvPr/>
        </p:nvSpPr>
        <p:spPr>
          <a:xfrm>
            <a:off x="1005840" y="2606040"/>
            <a:ext cx="6309360" cy="21031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550" b="1" dirty="0">
                <a:solidFill>
                  <a:srgbClr val="14322D"/>
                </a:solidFill>
                <a:latin typeface="Century Gothic" pitchFamily="34" charset="0"/>
                <a:ea typeface="Century Gothic" pitchFamily="34" charset="-122"/>
                <a:cs typeface="Century Gothic" pitchFamily="34" charset="-120"/>
              </a:rPr>
              <a:t>Diligence </a:t>
            </a:r>
            <a:pPr indent="0" marL="0">
              <a:spcAft>
                <a:spcPts val="900"/>
              </a:spcAft>
              <a:buNone/>
            </a:pPr>
            <a:r>
              <a:rPr lang="en-US" sz="1550" dirty="0">
                <a:solidFill>
                  <a:srgbClr val="1A1F1D"/>
                </a:solidFill>
                <a:latin typeface="Century Gothic" pitchFamily="34" charset="0"/>
                <a:ea typeface="Century Gothic" pitchFamily="34" charset="-122"/>
                <a:cs typeface="Century Gothic" pitchFamily="34" charset="-120"/>
              </a:rPr>
              <a:t>— the refusal to assume, and the care to find out.</a:t>
            </a:r>
            <a:endParaRPr lang="en-US" sz="1550" dirty="0"/>
          </a:p>
          <a:p>
            <a:pPr indent="0" marL="0">
              <a:buNone/>
            </a:pPr>
            <a:r>
              <a:rPr lang="en-US" sz="1550" b="1" dirty="0">
                <a:solidFill>
                  <a:srgbClr val="14322D"/>
                </a:solidFill>
                <a:latin typeface="Century Gothic" pitchFamily="34" charset="0"/>
                <a:ea typeface="Century Gothic" pitchFamily="34" charset="-122"/>
                <a:cs typeface="Century Gothic" pitchFamily="34" charset="-120"/>
              </a:rPr>
              <a:t>Peacefulness </a:t>
            </a:r>
            <a:pPr indent="0" marL="0">
              <a:spcAft>
                <a:spcPts val="900"/>
              </a:spcAft>
              <a:buNone/>
            </a:pPr>
            <a:r>
              <a:rPr lang="en-US" sz="1550" dirty="0">
                <a:solidFill>
                  <a:srgbClr val="1A1F1D"/>
                </a:solidFill>
                <a:latin typeface="Century Gothic" pitchFamily="34" charset="0"/>
                <a:ea typeface="Century Gothic" pitchFamily="34" charset="-122"/>
                <a:cs typeface="Century Gothic" pitchFamily="34" charset="-120"/>
              </a:rPr>
              <a:t>— the calm, silent thinking time the routine protects.</a:t>
            </a:r>
            <a:endParaRPr lang="en-US" sz="1550" dirty="0"/>
          </a:p>
          <a:p>
            <a:pPr indent="0" marL="0">
              <a:buNone/>
            </a:pPr>
            <a:r>
              <a:rPr lang="en-US" sz="1550" b="1" dirty="0">
                <a:solidFill>
                  <a:srgbClr val="14322D"/>
                </a:solidFill>
                <a:latin typeface="Century Gothic" pitchFamily="34" charset="0"/>
                <a:ea typeface="Century Gothic" pitchFamily="34" charset="-122"/>
                <a:cs typeface="Century Gothic" pitchFamily="34" charset="-120"/>
              </a:rPr>
              <a:t>Determination </a:t>
            </a:r>
            <a:pPr indent="0" marL="0">
              <a:buNone/>
            </a:pPr>
            <a:r>
              <a:rPr lang="en-US" sz="1550" dirty="0">
                <a:solidFill>
                  <a:srgbClr val="1A1F1D"/>
                </a:solidFill>
                <a:latin typeface="Century Gothic" pitchFamily="34" charset="0"/>
                <a:ea typeface="Century Gothic" pitchFamily="34" charset="-122"/>
                <a:cs typeface="Century Gothic" pitchFamily="34" charset="-120"/>
              </a:rPr>
              <a:t>— the willingness to reteach when the evidence says so.</a:t>
            </a:r>
            <a:endParaRPr lang="en-US" sz="1550" dirty="0"/>
          </a:p>
        </p:txBody>
      </p:sp>
      <p:sp>
        <p:nvSpPr>
          <p:cNvPr id="11" name="Text 7"/>
          <p:cNvSpPr/>
          <p:nvPr/>
        </p:nvSpPr>
        <p:spPr>
          <a:xfrm>
            <a:off x="7315200" y="2697480"/>
            <a:ext cx="4023360" cy="20116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00" b="1" dirty="0">
                <a:solidFill>
                  <a:srgbClr val="14322D"/>
                </a:solidFill>
                <a:latin typeface="Century Gothic" pitchFamily="34" charset="0"/>
                <a:ea typeface="Century Gothic" pitchFamily="34" charset="-122"/>
                <a:cs typeface="Century Gothic" pitchFamily="34" charset="-120"/>
              </a:rPr>
              <a:t>For any school:  </a:t>
            </a:r>
            <a:pPr indent="0" marL="0">
              <a:buNone/>
            </a:pPr>
            <a:r>
              <a:rPr lang="en-US" sz="1400" dirty="0">
                <a:solidFill>
                  <a:srgbClr val="1A1F1D"/>
                </a:solidFill>
                <a:latin typeface="Century Gothic" pitchFamily="34" charset="0"/>
                <a:ea typeface="Century Gothic" pitchFamily="34" charset="-122"/>
                <a:cs typeface="Century Gothic" pitchFamily="34" charset="-120"/>
              </a:rPr>
              <a:t>Every pupil answering at once serves the quiet one who would never volunteer that they are lost.</a:t>
            </a:r>
            <a:endParaRPr lang="en-US" sz="1400" dirty="0"/>
          </a:p>
        </p:txBody>
      </p:sp>
      <p:sp>
        <p:nvSpPr>
          <p:cNvPr id="12" name="Text 8"/>
          <p:cNvSpPr/>
          <p:nvPr/>
        </p:nvSpPr>
        <p:spPr>
          <a:xfrm>
            <a:off x="640080" y="6455664"/>
            <a:ext cx="7315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800" dirty="0">
                <a:solidFill>
                  <a:srgbClr val="6B736E"/>
                </a:solidFill>
                <a:latin typeface="Century Gothic" pitchFamily="34" charset="0"/>
                <a:ea typeface="Century Gothic" pitchFamily="34" charset="-122"/>
                <a:cs typeface="Century Gothic" pitchFamily="34" charset="-120"/>
              </a:rPr>
              <a:t>Teaching Excellence Programme · Checking for Understanding</a:t>
            </a:r>
            <a:endParaRPr lang="en-US" sz="800" dirty="0"/>
          </a:p>
        </p:txBody>
      </p:sp>
      <p:sp>
        <p:nvSpPr>
          <p:cNvPr id="13" name="Text 9"/>
          <p:cNvSpPr/>
          <p:nvPr/>
        </p:nvSpPr>
        <p:spPr>
          <a:xfrm>
            <a:off x="7891272" y="6455664"/>
            <a:ext cx="3657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6B736E"/>
                </a:solidFill>
                <a:latin typeface="Century Gothic" pitchFamily="34" charset="0"/>
                <a:ea typeface="Century Gothic" pitchFamily="34" charset="-122"/>
                <a:cs typeface="Century Gothic" pitchFamily="34" charset="-120"/>
              </a:rPr>
              <a:t>A Nishkam Schools programme</a:t>
            </a:r>
            <a:pPr algn="r" indent="0" marL="0">
              <a:buNone/>
            </a:pPr>
            <a:r>
              <a:rPr lang="en-US" sz="800" dirty="0">
                <a:solidFill>
                  <a:srgbClr val="6B736E"/>
                </a:solidFill>
                <a:latin typeface="Century Gothic" pitchFamily="34" charset="0"/>
                <a:ea typeface="Century Gothic" pitchFamily="34" charset="-122"/>
                <a:cs typeface="Century Gothic" pitchFamily="34" charset="-120"/>
              </a:rPr>
              <a:t>    ·    9</a:t>
            </a:r>
            <a:endParaRPr lang="en-US" sz="800" dirty="0"/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0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Image 0" descr="assets/crest.png">    </p:cNvPr>
          <p:cNvPicPr>
            <a:picLocks noChangeAspect="1"/>
          </p:cNvPicPr>
          <p:nvPr/>
        </p:nvPicPr>
        <p:blipFill>
          <a:blip r:embed="rId1">
            <a:alphaModFix amt="48000"/>
          </a:blip>
          <a:stretch>
            <a:fillRect/>
          </a:stretch>
        </p:blipFill>
        <p:spPr>
          <a:xfrm>
            <a:off x="10707624" y="384048"/>
            <a:ext cx="841248" cy="731520"/>
          </a:xfrm>
          <a:prstGeom prst="rect">
            <a:avLst/>
          </a:prstGeom>
        </p:spPr>
      </p:pic>
      <p:sp>
        <p:nvSpPr>
          <p:cNvPr id="3" name="Shape 0"/>
          <p:cNvSpPr/>
          <p:nvPr/>
        </p:nvSpPr>
        <p:spPr>
          <a:xfrm>
            <a:off x="640080" y="585216"/>
            <a:ext cx="146304" cy="146304"/>
          </a:xfrm>
          <a:prstGeom prst="rect">
            <a:avLst/>
          </a:prstGeom>
          <a:solidFill>
            <a:srgbClr val="B07D2B"/>
          </a:solidFill>
          <a:ln/>
        </p:spPr>
      </p:sp>
      <p:sp>
        <p:nvSpPr>
          <p:cNvPr id="4" name="Text 1"/>
          <p:cNvSpPr/>
          <p:nvPr/>
        </p:nvSpPr>
        <p:spPr>
          <a:xfrm>
            <a:off x="914400" y="502920"/>
            <a:ext cx="9628632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spc="200" kern="0" dirty="0">
                <a:solidFill>
                  <a:srgbClr val="3F9488"/>
                </a:solidFill>
                <a:latin typeface="Century Gothic" pitchFamily="34" charset="0"/>
                <a:ea typeface="Century Gothic" pitchFamily="34" charset="-122"/>
                <a:cs typeface="Century Gothic" pitchFamily="34" charset="-120"/>
              </a:rPr>
              <a:t>WHAT GOOD LOOKS LIKE</a:t>
            </a:r>
            <a:endParaRPr lang="en-US" sz="1100" dirty="0"/>
          </a:p>
        </p:txBody>
      </p:sp>
      <p:sp>
        <p:nvSpPr>
          <p:cNvPr id="5" name="Text 2"/>
          <p:cNvSpPr/>
          <p:nvPr/>
        </p:nvSpPr>
        <p:spPr>
          <a:xfrm>
            <a:off x="640080" y="868680"/>
            <a:ext cx="9994392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700" b="1" dirty="0">
                <a:solidFill>
                  <a:srgbClr val="14322D"/>
                </a:solidFill>
                <a:latin typeface="Century Gothic" pitchFamily="34" charset="0"/>
                <a:ea typeface="Century Gothic" pitchFamily="34" charset="-122"/>
                <a:cs typeface="Century Gothic" pitchFamily="34" charset="-120"/>
              </a:rPr>
              <a:t>The checking checklists</a:t>
            </a:r>
            <a:endParaRPr lang="en-US" sz="2700" dirty="0"/>
          </a:p>
        </p:txBody>
      </p:sp>
      <p:graphicFrame>
        <p:nvGraphicFramePr>
          <p:cNvPr id="11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640080" y="1783080"/>
          <a:ext cx="8503920" cy="914400"/>
        </p:xfrm>
        <a:graphic>
          <a:graphicData uri="http://schemas.openxmlformats.org/drawingml/2006/table">
            <a:tbl>
              <a:tblPr/>
              <a:tblGrid>
                <a:gridCol w="914400"/>
                <a:gridCol w="7589520"/>
              </a:tblGrid>
              <a:tr h="384048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150" b="1" dirty="0">
                          <a:solidFill>
                            <a:srgbClr val="14322D"/>
                          </a:solidFill>
                          <a:latin typeface="Century Gothic" pitchFamily="34" charset="0"/>
                          <a:ea typeface="Century Gothic" pitchFamily="34" charset="-122"/>
                          <a:cs typeface="Century Gothic" pitchFamily="34" charset="-120"/>
                        </a:rPr>
                        <a:t>MW4</a:t>
                      </a:r>
                      <a:endParaRPr lang="en-US" sz="1150" dirty="0">
                        <a:latin typeface="Century Gothic" charset="0"/>
                        <a:ea typeface="Century Gothic" charset="0"/>
                        <a:cs typeface="Century Gothic" charset="0"/>
                      </a:endParaRPr>
                    </a:p>
                  </a:txBody>
                  <a:tcPr marL="76200" marR="76200" marT="25400" marB="25400" anchor="ctr">
                    <a:lnL w="6350" cap="flat" cmpd="sng" algn="ctr">
                      <a:solidFill>
                        <a:srgbClr val="DDE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DE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DE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DE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AF2EE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150" dirty="0">
                          <a:solidFill>
                            <a:srgbClr val="1A1F1D"/>
                          </a:solidFill>
                          <a:latin typeface="Century Gothic" pitchFamily="34" charset="0"/>
                          <a:ea typeface="Century Gothic" pitchFamily="34" charset="-122"/>
                          <a:cs typeface="Century Gothic" pitchFamily="34" charset="-120"/>
                        </a:rPr>
                        <a:t>Time limit set and stated.</a:t>
                      </a:r>
                      <a:endParaRPr lang="en-US" sz="1150" dirty="0">
                        <a:latin typeface="Century Gothic" charset="0"/>
                        <a:ea typeface="Century Gothic" charset="0"/>
                        <a:cs typeface="Century Gothic" charset="0"/>
                      </a:endParaRPr>
                    </a:p>
                  </a:txBody>
                  <a:tcPr marL="76200" marR="76200" marT="25400" marB="25400" anchor="ctr">
                    <a:lnL w="6350" cap="flat" cmpd="sng" algn="ctr">
                      <a:solidFill>
                        <a:srgbClr val="DDE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DE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DE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DE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384048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150" b="1" dirty="0">
                          <a:solidFill>
                            <a:srgbClr val="14322D"/>
                          </a:solidFill>
                          <a:latin typeface="Century Gothic" pitchFamily="34" charset="0"/>
                          <a:ea typeface="Century Gothic" pitchFamily="34" charset="-122"/>
                          <a:cs typeface="Century Gothic" pitchFamily="34" charset="-120"/>
                        </a:rPr>
                        <a:t>MW6</a:t>
                      </a:r>
                      <a:endParaRPr lang="en-US" sz="1150" dirty="0">
                        <a:latin typeface="Century Gothic" charset="0"/>
                        <a:ea typeface="Century Gothic" charset="0"/>
                        <a:cs typeface="Century Gothic" charset="0"/>
                      </a:endParaRPr>
                    </a:p>
                  </a:txBody>
                  <a:tcPr marL="76200" marR="76200" marT="25400" marB="25400" anchor="ctr">
                    <a:lnL w="6350" cap="flat" cmpd="sng" algn="ctr">
                      <a:solidFill>
                        <a:srgbClr val="DDE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DE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DE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DE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AF2EE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150" dirty="0">
                          <a:solidFill>
                            <a:srgbClr val="1A1F1D"/>
                          </a:solidFill>
                          <a:latin typeface="Century Gothic" pitchFamily="34" charset="0"/>
                          <a:ea typeface="Century Gothic" pitchFamily="34" charset="-122"/>
                          <a:cs typeface="Century Gothic" pitchFamily="34" charset="-120"/>
                        </a:rPr>
                        <a:t>Silent thinking time before responses.</a:t>
                      </a:r>
                      <a:endParaRPr lang="en-US" sz="1150" dirty="0">
                        <a:latin typeface="Century Gothic" charset="0"/>
                        <a:ea typeface="Century Gothic" charset="0"/>
                        <a:cs typeface="Century Gothic" charset="0"/>
                      </a:endParaRPr>
                    </a:p>
                  </a:txBody>
                  <a:tcPr marL="76200" marR="76200" marT="25400" marB="25400" anchor="ctr">
                    <a:lnL w="6350" cap="flat" cmpd="sng" algn="ctr">
                      <a:solidFill>
                        <a:srgbClr val="DDE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DE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DE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DE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384048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150" b="1" dirty="0">
                          <a:solidFill>
                            <a:srgbClr val="14322D"/>
                          </a:solidFill>
                          <a:latin typeface="Century Gothic" pitchFamily="34" charset="0"/>
                          <a:ea typeface="Century Gothic" pitchFamily="34" charset="-122"/>
                          <a:cs typeface="Century Gothic" pitchFamily="34" charset="-120"/>
                        </a:rPr>
                        <a:t>MW7-8</a:t>
                      </a:r>
                      <a:endParaRPr lang="en-US" sz="1150" dirty="0">
                        <a:latin typeface="Century Gothic" charset="0"/>
                        <a:ea typeface="Century Gothic" charset="0"/>
                        <a:cs typeface="Century Gothic" charset="0"/>
                      </a:endParaRPr>
                    </a:p>
                  </a:txBody>
                  <a:tcPr marL="76200" marR="76200" marT="25400" marB="25400" anchor="ctr">
                    <a:lnL w="6350" cap="flat" cmpd="sng" algn="ctr">
                      <a:solidFill>
                        <a:srgbClr val="DDE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DE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DE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DE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AF2EE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150" dirty="0">
                          <a:solidFill>
                            <a:srgbClr val="1A1F1D"/>
                          </a:solidFill>
                          <a:latin typeface="Century Gothic" pitchFamily="34" charset="0"/>
                          <a:ea typeface="Century Gothic" pitchFamily="34" charset="-122"/>
                          <a:cs typeface="Century Gothic" pitchFamily="34" charset="-120"/>
                        </a:rPr>
                        <a:t>‘3-2-1 show me’ trigger; all boards raised.</a:t>
                      </a:r>
                      <a:endParaRPr lang="en-US" sz="1150" dirty="0">
                        <a:latin typeface="Century Gothic" charset="0"/>
                        <a:ea typeface="Century Gothic" charset="0"/>
                        <a:cs typeface="Century Gothic" charset="0"/>
                      </a:endParaRPr>
                    </a:p>
                  </a:txBody>
                  <a:tcPr marL="76200" marR="76200" marT="25400" marB="25400" anchor="ctr">
                    <a:lnL w="6350" cap="flat" cmpd="sng" algn="ctr">
                      <a:solidFill>
                        <a:srgbClr val="DDE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DE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DE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DE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384048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150" b="1" dirty="0">
                          <a:solidFill>
                            <a:srgbClr val="14322D"/>
                          </a:solidFill>
                          <a:latin typeface="Century Gothic" pitchFamily="34" charset="0"/>
                          <a:ea typeface="Century Gothic" pitchFamily="34" charset="-122"/>
                          <a:cs typeface="Century Gothic" pitchFamily="34" charset="-120"/>
                        </a:rPr>
                        <a:t>CCS3</a:t>
                      </a:r>
                      <a:endParaRPr lang="en-US" sz="1150" dirty="0">
                        <a:latin typeface="Century Gothic" charset="0"/>
                        <a:ea typeface="Century Gothic" charset="0"/>
                        <a:cs typeface="Century Gothic" charset="0"/>
                      </a:endParaRPr>
                    </a:p>
                  </a:txBody>
                  <a:tcPr marL="76200" marR="76200" marT="25400" marB="25400" anchor="ctr">
                    <a:lnL w="6350" cap="flat" cmpd="sng" algn="ctr">
                      <a:solidFill>
                        <a:srgbClr val="DDE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DE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DE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DE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AF2EE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150" dirty="0">
                          <a:solidFill>
                            <a:srgbClr val="1A1F1D"/>
                          </a:solidFill>
                          <a:latin typeface="Century Gothic" pitchFamily="34" charset="0"/>
                          <a:ea typeface="Century Gothic" pitchFamily="34" charset="-122"/>
                          <a:cs typeface="Century Gothic" pitchFamily="34" charset="-120"/>
                        </a:rPr>
                        <a:t>Confidence checked through questioning.</a:t>
                      </a:r>
                      <a:endParaRPr lang="en-US" sz="1150" dirty="0">
                        <a:latin typeface="Century Gothic" charset="0"/>
                        <a:ea typeface="Century Gothic" charset="0"/>
                        <a:cs typeface="Century Gothic" charset="0"/>
                      </a:endParaRPr>
                    </a:p>
                  </a:txBody>
                  <a:tcPr marL="76200" marR="76200" marT="25400" marB="25400" anchor="ctr">
                    <a:lnL w="6350" cap="flat" cmpd="sng" algn="ctr">
                      <a:solidFill>
                        <a:srgbClr val="DDE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DE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DE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DE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384048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150" b="1" dirty="0">
                          <a:solidFill>
                            <a:srgbClr val="14322D"/>
                          </a:solidFill>
                          <a:latin typeface="Century Gothic" pitchFamily="34" charset="0"/>
                          <a:ea typeface="Century Gothic" pitchFamily="34" charset="-122"/>
                          <a:cs typeface="Century Gothic" pitchFamily="34" charset="-120"/>
                        </a:rPr>
                        <a:t>CCS5</a:t>
                      </a:r>
                      <a:endParaRPr lang="en-US" sz="1150" dirty="0">
                        <a:latin typeface="Century Gothic" charset="0"/>
                        <a:ea typeface="Century Gothic" charset="0"/>
                        <a:cs typeface="Century Gothic" charset="0"/>
                      </a:endParaRPr>
                    </a:p>
                  </a:txBody>
                  <a:tcPr marL="76200" marR="76200" marT="25400" marB="25400" anchor="ctr">
                    <a:lnL w="6350" cap="flat" cmpd="sng" algn="ctr">
                      <a:solidFill>
                        <a:srgbClr val="DDE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DE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DE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DE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AF2EE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150" dirty="0">
                          <a:solidFill>
                            <a:srgbClr val="1A1F1D"/>
                          </a:solidFill>
                          <a:latin typeface="Century Gothic" pitchFamily="34" charset="0"/>
                          <a:ea typeface="Century Gothic" pitchFamily="34" charset="-122"/>
                          <a:cs typeface="Century Gothic" pitchFamily="34" charset="-120"/>
                        </a:rPr>
                        <a:t>Strong position taken to scan the room.</a:t>
                      </a:r>
                      <a:endParaRPr lang="en-US" sz="1150" dirty="0">
                        <a:latin typeface="Century Gothic" charset="0"/>
                        <a:ea typeface="Century Gothic" charset="0"/>
                        <a:cs typeface="Century Gothic" charset="0"/>
                      </a:endParaRPr>
                    </a:p>
                  </a:txBody>
                  <a:tcPr marL="76200" marR="76200" marT="25400" marB="25400" anchor="ctr">
                    <a:lnL w="6350" cap="flat" cmpd="sng" algn="ctr">
                      <a:solidFill>
                        <a:srgbClr val="DDE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DE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DE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DE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384048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150" b="1" dirty="0">
                          <a:solidFill>
                            <a:srgbClr val="14322D"/>
                          </a:solidFill>
                          <a:latin typeface="Century Gothic" pitchFamily="34" charset="0"/>
                          <a:ea typeface="Century Gothic" pitchFamily="34" charset="-122"/>
                          <a:cs typeface="Century Gothic" pitchFamily="34" charset="-120"/>
                        </a:rPr>
                        <a:t>CCS9</a:t>
                      </a:r>
                      <a:endParaRPr lang="en-US" sz="1150" dirty="0">
                        <a:latin typeface="Century Gothic" charset="0"/>
                        <a:ea typeface="Century Gothic" charset="0"/>
                        <a:cs typeface="Century Gothic" charset="0"/>
                      </a:endParaRPr>
                    </a:p>
                  </a:txBody>
                  <a:tcPr marL="76200" marR="76200" marT="25400" marB="25400" anchor="ctr">
                    <a:lnL w="6350" cap="flat" cmpd="sng" algn="ctr">
                      <a:solidFill>
                        <a:srgbClr val="DDE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DE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DE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DE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AF2EE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150" dirty="0">
                          <a:solidFill>
                            <a:srgbClr val="1A1F1D"/>
                          </a:solidFill>
                          <a:latin typeface="Century Gothic" pitchFamily="34" charset="0"/>
                          <a:ea typeface="Century Gothic" pitchFamily="34" charset="-122"/>
                          <a:cs typeface="Century Gothic" pitchFamily="34" charset="-120"/>
                        </a:rPr>
                        <a:t>The working environment stays calm and purposeful.</a:t>
                      </a:r>
                      <a:endParaRPr lang="en-US" sz="1150" dirty="0">
                        <a:latin typeface="Century Gothic" charset="0"/>
                        <a:ea typeface="Century Gothic" charset="0"/>
                        <a:cs typeface="Century Gothic" charset="0"/>
                      </a:endParaRPr>
                    </a:p>
                  </a:txBody>
                  <a:tcPr marL="76200" marR="76200" marT="25400" marB="25400" anchor="ctr">
                    <a:lnL w="6350" cap="flat" cmpd="sng" algn="ctr">
                      <a:solidFill>
                        <a:srgbClr val="DDE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DE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DE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DE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</a:tbl>
          </a:graphicData>
        </a:graphic>
      </p:graphicFrame>
      <p:sp>
        <p:nvSpPr>
          <p:cNvPr id="7" name="Shape 3"/>
          <p:cNvSpPr/>
          <p:nvPr/>
        </p:nvSpPr>
        <p:spPr>
          <a:xfrm>
            <a:off x="9326880" y="1783080"/>
            <a:ext cx="2194560" cy="2103120"/>
          </a:xfrm>
          <a:prstGeom prst="rect">
            <a:avLst/>
          </a:prstGeom>
          <a:solidFill>
            <a:srgbClr val="E8F1EE"/>
          </a:solidFill>
          <a:ln w="12700">
            <a:solidFill>
              <a:srgbClr val="3F9488"/>
            </a:solidFill>
            <a:prstDash val="solid"/>
          </a:ln>
        </p:spPr>
      </p:sp>
      <p:sp>
        <p:nvSpPr>
          <p:cNvPr id="8" name="Shape 4"/>
          <p:cNvSpPr/>
          <p:nvPr/>
        </p:nvSpPr>
        <p:spPr>
          <a:xfrm>
            <a:off x="9326880" y="1783080"/>
            <a:ext cx="64008" cy="2103120"/>
          </a:xfrm>
          <a:prstGeom prst="rect">
            <a:avLst/>
          </a:prstGeom>
          <a:solidFill>
            <a:srgbClr val="3F9488"/>
          </a:solidFill>
          <a:ln/>
        </p:spPr>
      </p:sp>
      <p:pic>
        <p:nvPicPr>
          <p:cNvPr id="9" name="Image 1" descr="assets/icon16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9528048" y="1938528"/>
            <a:ext cx="384048" cy="384048"/>
          </a:xfrm>
          <a:prstGeom prst="rect">
            <a:avLst/>
          </a:prstGeom>
        </p:spPr>
      </p:pic>
      <p:sp>
        <p:nvSpPr>
          <p:cNvPr id="10" name="Text 5"/>
          <p:cNvSpPr/>
          <p:nvPr/>
        </p:nvSpPr>
        <p:spPr>
          <a:xfrm>
            <a:off x="9528048" y="2423160"/>
            <a:ext cx="1874520" cy="13716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00" dirty="0">
                <a:solidFill>
                  <a:srgbClr val="1A1F1D"/>
                </a:solidFill>
                <a:latin typeface="Century Gothic" pitchFamily="34" charset="0"/>
                <a:ea typeface="Century Gothic" pitchFamily="34" charset="-122"/>
                <a:cs typeface="Century Gothic" pitchFamily="34" charset="-120"/>
              </a:rPr>
              <a:t>Use these to observe, or to be observed.</a:t>
            </a:r>
            <a:endParaRPr lang="en-US" sz="1200" dirty="0"/>
          </a:p>
        </p:txBody>
      </p:sp>
      <p:sp>
        <p:nvSpPr>
          <p:cNvPr id="11" name="Text 6"/>
          <p:cNvSpPr/>
          <p:nvPr/>
        </p:nvSpPr>
        <p:spPr>
          <a:xfrm>
            <a:off x="640080" y="5806440"/>
            <a:ext cx="8229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i="1" dirty="0">
                <a:solidFill>
                  <a:srgbClr val="6B736E"/>
                </a:solidFill>
                <a:latin typeface="Century Gothic" pitchFamily="34" charset="0"/>
                <a:ea typeface="Century Gothic" pitchFamily="34" charset="-122"/>
                <a:cs typeface="Century Gothic" pitchFamily="34" charset="-120"/>
              </a:rPr>
              <a:t>The full MW and CCS checklists sit behind the modules online.</a:t>
            </a:r>
            <a:endParaRPr lang="en-US" sz="1050" dirty="0"/>
          </a:p>
        </p:txBody>
      </p:sp>
      <p:sp>
        <p:nvSpPr>
          <p:cNvPr id="12" name="Text 7"/>
          <p:cNvSpPr/>
          <p:nvPr/>
        </p:nvSpPr>
        <p:spPr>
          <a:xfrm>
            <a:off x="640080" y="6455664"/>
            <a:ext cx="7315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800" dirty="0">
                <a:solidFill>
                  <a:srgbClr val="6B736E"/>
                </a:solidFill>
                <a:latin typeface="Century Gothic" pitchFamily="34" charset="0"/>
                <a:ea typeface="Century Gothic" pitchFamily="34" charset="-122"/>
                <a:cs typeface="Century Gothic" pitchFamily="34" charset="-120"/>
              </a:rPr>
              <a:t>Teaching Excellence Programme · Checking for Understanding</a:t>
            </a:r>
            <a:endParaRPr lang="en-US" sz="800" dirty="0"/>
          </a:p>
        </p:txBody>
      </p:sp>
      <p:sp>
        <p:nvSpPr>
          <p:cNvPr id="13" name="Text 8"/>
          <p:cNvSpPr/>
          <p:nvPr/>
        </p:nvSpPr>
        <p:spPr>
          <a:xfrm>
            <a:off x="7891272" y="6455664"/>
            <a:ext cx="3657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6B736E"/>
                </a:solidFill>
                <a:latin typeface="Century Gothic" pitchFamily="34" charset="0"/>
                <a:ea typeface="Century Gothic" pitchFamily="34" charset="-122"/>
                <a:cs typeface="Century Gothic" pitchFamily="34" charset="-120"/>
              </a:rPr>
              <a:t>A Nishkam Schools programme</a:t>
            </a:r>
            <a:pPr algn="r" indent="0" marL="0">
              <a:buNone/>
            </a:pPr>
            <a:r>
              <a:rPr lang="en-US" sz="800" dirty="0">
                <a:solidFill>
                  <a:srgbClr val="6B736E"/>
                </a:solidFill>
                <a:latin typeface="Century Gothic" pitchFamily="34" charset="0"/>
                <a:ea typeface="Century Gothic" pitchFamily="34" charset="-122"/>
                <a:cs typeface="Century Gothic" pitchFamily="34" charset="-120"/>
              </a:rPr>
              <a:t>    ·    10</a:t>
            </a:r>
            <a:endParaRPr lang="en-US" sz="800" dirty="0"/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1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Image 0" descr="assets/crest.png">    </p:cNvPr>
          <p:cNvPicPr>
            <a:picLocks noChangeAspect="1"/>
          </p:cNvPicPr>
          <p:nvPr/>
        </p:nvPicPr>
        <p:blipFill>
          <a:blip r:embed="rId1">
            <a:alphaModFix amt="48000"/>
          </a:blip>
          <a:stretch>
            <a:fillRect/>
          </a:stretch>
        </p:blipFill>
        <p:spPr>
          <a:xfrm>
            <a:off x="10707624" y="384048"/>
            <a:ext cx="841248" cy="731520"/>
          </a:xfrm>
          <a:prstGeom prst="rect">
            <a:avLst/>
          </a:prstGeom>
        </p:spPr>
      </p:pic>
      <p:sp>
        <p:nvSpPr>
          <p:cNvPr id="3" name="Shape 0"/>
          <p:cNvSpPr/>
          <p:nvPr/>
        </p:nvSpPr>
        <p:spPr>
          <a:xfrm>
            <a:off x="640080" y="585216"/>
            <a:ext cx="146304" cy="146304"/>
          </a:xfrm>
          <a:prstGeom prst="rect">
            <a:avLst/>
          </a:prstGeom>
          <a:solidFill>
            <a:srgbClr val="B07D2B"/>
          </a:solidFill>
          <a:ln/>
        </p:spPr>
      </p:sp>
      <p:sp>
        <p:nvSpPr>
          <p:cNvPr id="4" name="Text 1"/>
          <p:cNvSpPr/>
          <p:nvPr/>
        </p:nvSpPr>
        <p:spPr>
          <a:xfrm>
            <a:off x="914400" y="502920"/>
            <a:ext cx="9628632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spc="200" kern="0" dirty="0">
                <a:solidFill>
                  <a:srgbClr val="3F9488"/>
                </a:solidFill>
                <a:latin typeface="Century Gothic" pitchFamily="34" charset="0"/>
                <a:ea typeface="Century Gothic" pitchFamily="34" charset="-122"/>
                <a:cs typeface="Century Gothic" pitchFamily="34" charset="-120"/>
              </a:rPr>
              <a:t>DELIBERATE PRACTICE</a:t>
            </a:r>
            <a:endParaRPr lang="en-US" sz="1100" dirty="0"/>
          </a:p>
        </p:txBody>
      </p:sp>
      <p:sp>
        <p:nvSpPr>
          <p:cNvPr id="5" name="Text 2"/>
          <p:cNvSpPr/>
          <p:nvPr/>
        </p:nvSpPr>
        <p:spPr>
          <a:xfrm>
            <a:off x="640080" y="868680"/>
            <a:ext cx="9994392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700" b="1" dirty="0">
                <a:solidFill>
                  <a:srgbClr val="14322D"/>
                </a:solidFill>
                <a:latin typeface="Century Gothic" pitchFamily="34" charset="0"/>
                <a:ea typeface="Century Gothic" pitchFamily="34" charset="-122"/>
                <a:cs typeface="Century Gothic" pitchFamily="34" charset="-120"/>
              </a:rPr>
              <a:t>Rehearse the whiteboard check</a:t>
            </a:r>
            <a:endParaRPr lang="en-US" sz="2700" dirty="0"/>
          </a:p>
        </p:txBody>
      </p:sp>
      <p:sp>
        <p:nvSpPr>
          <p:cNvPr id="6" name="Shape 3"/>
          <p:cNvSpPr/>
          <p:nvPr/>
        </p:nvSpPr>
        <p:spPr>
          <a:xfrm>
            <a:off x="640080" y="1783080"/>
            <a:ext cx="5212080" cy="3611880"/>
          </a:xfrm>
          <a:prstGeom prst="rect">
            <a:avLst/>
          </a:prstGeom>
          <a:solidFill>
            <a:srgbClr val="F7FAF8"/>
          </a:solidFill>
          <a:ln w="12700">
            <a:solidFill>
              <a:srgbClr val="3F9488"/>
            </a:solidFill>
            <a:prstDash val="solid"/>
          </a:ln>
        </p:spPr>
      </p:sp>
      <p:sp>
        <p:nvSpPr>
          <p:cNvPr id="7" name="Shape 4"/>
          <p:cNvSpPr/>
          <p:nvPr/>
        </p:nvSpPr>
        <p:spPr>
          <a:xfrm>
            <a:off x="640080" y="1783080"/>
            <a:ext cx="64008" cy="3611880"/>
          </a:xfrm>
          <a:prstGeom prst="rect">
            <a:avLst/>
          </a:prstGeom>
          <a:solidFill>
            <a:srgbClr val="3F9488"/>
          </a:solidFill>
          <a:ln/>
        </p:spPr>
      </p:sp>
      <p:pic>
        <p:nvPicPr>
          <p:cNvPr id="8" name="Image 1" descr="assets/icon15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896112" y="1965960"/>
            <a:ext cx="411480" cy="411480"/>
          </a:xfrm>
          <a:prstGeom prst="rect">
            <a:avLst/>
          </a:prstGeom>
        </p:spPr>
      </p:pic>
      <p:sp>
        <p:nvSpPr>
          <p:cNvPr id="9" name="Text 5"/>
          <p:cNvSpPr/>
          <p:nvPr/>
        </p:nvSpPr>
        <p:spPr>
          <a:xfrm>
            <a:off x="1444752" y="1965960"/>
            <a:ext cx="411480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14322D"/>
                </a:solidFill>
                <a:latin typeface="Century Gothic" pitchFamily="34" charset="0"/>
                <a:ea typeface="Century Gothic" pitchFamily="34" charset="-122"/>
                <a:cs typeface="Century Gothic" pitchFamily="34" charset="-120"/>
              </a:rPr>
              <a:t>The set-up</a:t>
            </a:r>
            <a:endParaRPr lang="en-US" sz="1600" dirty="0"/>
          </a:p>
        </p:txBody>
      </p:sp>
      <p:sp>
        <p:nvSpPr>
          <p:cNvPr id="10" name="Text 6"/>
          <p:cNvSpPr/>
          <p:nvPr/>
        </p:nvSpPr>
        <p:spPr>
          <a:xfrm>
            <a:off x="896112" y="2560320"/>
            <a:ext cx="4709160" cy="2743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350" dirty="0">
                <a:solidFill>
                  <a:srgbClr val="1A1F1D"/>
                </a:solidFill>
                <a:latin typeface="Century Gothic" pitchFamily="34" charset="0"/>
                <a:ea typeface="Century Gothic" pitchFamily="34" charset="-122"/>
                <a:cs typeface="Century Gothic" pitchFamily="34" charset="-120"/>
              </a:rPr>
              <a:t>In pairs, the partner gives a one-sentence MWB question. The teacher delivers it, names the time, holds silent thinking time, triggers ‘3-2-1, show me’, and reads the boards.</a:t>
            </a:r>
            <a:endParaRPr lang="en-US" sz="1350" dirty="0"/>
          </a:p>
        </p:txBody>
      </p:sp>
      <p:sp>
        <p:nvSpPr>
          <p:cNvPr id="11" name="Shape 7"/>
          <p:cNvSpPr/>
          <p:nvPr/>
        </p:nvSpPr>
        <p:spPr>
          <a:xfrm>
            <a:off x="6126480" y="1783080"/>
            <a:ext cx="5120640" cy="3611880"/>
          </a:xfrm>
          <a:prstGeom prst="rect">
            <a:avLst/>
          </a:prstGeom>
          <a:solidFill>
            <a:srgbClr val="F4ECE0"/>
          </a:solidFill>
          <a:ln w="12700">
            <a:solidFill>
              <a:srgbClr val="B07D2B"/>
            </a:solidFill>
            <a:prstDash val="solid"/>
          </a:ln>
        </p:spPr>
      </p:sp>
      <p:sp>
        <p:nvSpPr>
          <p:cNvPr id="12" name="Shape 8"/>
          <p:cNvSpPr/>
          <p:nvPr/>
        </p:nvSpPr>
        <p:spPr>
          <a:xfrm>
            <a:off x="6126480" y="1783080"/>
            <a:ext cx="64008" cy="3611880"/>
          </a:xfrm>
          <a:prstGeom prst="rect">
            <a:avLst/>
          </a:prstGeom>
          <a:solidFill>
            <a:srgbClr val="B07D2B"/>
          </a:solidFill>
          <a:ln/>
        </p:spPr>
      </p:sp>
      <p:pic>
        <p:nvPicPr>
          <p:cNvPr id="13" name="Image 2" descr="assets/icon2.png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6382512" y="1965960"/>
            <a:ext cx="411480" cy="411480"/>
          </a:xfrm>
          <a:prstGeom prst="rect">
            <a:avLst/>
          </a:prstGeom>
        </p:spPr>
      </p:pic>
      <p:sp>
        <p:nvSpPr>
          <p:cNvPr id="14" name="Text 9"/>
          <p:cNvSpPr/>
          <p:nvPr/>
        </p:nvSpPr>
        <p:spPr>
          <a:xfrm>
            <a:off x="6931152" y="1965960"/>
            <a:ext cx="411480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14322D"/>
                </a:solidFill>
                <a:latin typeface="Century Gothic" pitchFamily="34" charset="0"/>
                <a:ea typeface="Century Gothic" pitchFamily="34" charset="-122"/>
                <a:cs typeface="Century Gothic" pitchFamily="34" charset="-120"/>
              </a:rPr>
              <a:t>Coach, watch for</a:t>
            </a:r>
            <a:endParaRPr lang="en-US" sz="1600" dirty="0"/>
          </a:p>
        </p:txBody>
      </p:sp>
      <p:sp>
        <p:nvSpPr>
          <p:cNvPr id="15" name="Text 10"/>
          <p:cNvSpPr/>
          <p:nvPr/>
        </p:nvSpPr>
        <p:spPr>
          <a:xfrm>
            <a:off x="6382512" y="2560320"/>
            <a:ext cx="4617720" cy="2743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342900" indent="-342900">
              <a:spcAft>
                <a:spcPts val="800"/>
              </a:spcAft>
              <a:buSzPct val="100000"/>
              <a:buChar char="•"/>
            </a:pPr>
            <a:r>
              <a:rPr lang="en-US" sz="1350" dirty="0">
                <a:solidFill>
                  <a:srgbClr val="1A1F1D"/>
                </a:solidFill>
                <a:latin typeface="Century Gothic" pitchFamily="34" charset="0"/>
                <a:ea typeface="Century Gothic" pitchFamily="34" charset="-122"/>
                <a:cs typeface="Century Gothic" pitchFamily="34" charset="-120"/>
              </a:rPr>
              <a:t>The time limit stated up front.</a:t>
            </a:r>
            <a:endParaRPr lang="en-US" sz="1350" dirty="0"/>
          </a:p>
          <a:p>
            <a:pPr marL="342900" indent="-342900">
              <a:spcAft>
                <a:spcPts val="800"/>
              </a:spcAft>
              <a:buSzPct val="100000"/>
              <a:buChar char="•"/>
            </a:pPr>
            <a:r>
              <a:rPr lang="en-US" sz="1350" dirty="0">
                <a:solidFill>
                  <a:srgbClr val="1A1F1D"/>
                </a:solidFill>
                <a:latin typeface="Century Gothic" pitchFamily="34" charset="0"/>
                <a:ea typeface="Century Gothic" pitchFamily="34" charset="-122"/>
                <a:cs typeface="Century Gothic" pitchFamily="34" charset="-120"/>
              </a:rPr>
              <a:t>Silent thinking time genuinely held.</a:t>
            </a:r>
            <a:endParaRPr lang="en-US" sz="1350" dirty="0"/>
          </a:p>
          <a:p>
            <a:pPr marL="342900" indent="-342900">
              <a:spcAft>
                <a:spcPts val="800"/>
              </a:spcAft>
              <a:buSzPct val="100000"/>
              <a:buChar char="•"/>
            </a:pPr>
            <a:r>
              <a:rPr lang="en-US" sz="1350" dirty="0">
                <a:solidFill>
                  <a:srgbClr val="1A1F1D"/>
                </a:solidFill>
                <a:latin typeface="Century Gothic" pitchFamily="34" charset="0"/>
                <a:ea typeface="Century Gothic" pitchFamily="34" charset="-122"/>
                <a:cs typeface="Century Gothic" pitchFamily="34" charset="-120"/>
              </a:rPr>
              <a:t>All boards up together on the trigger.</a:t>
            </a:r>
            <a:endParaRPr lang="en-US" sz="1350" dirty="0"/>
          </a:p>
          <a:p>
            <a:pPr marL="342900" indent="-342900">
              <a:spcAft>
                <a:spcPts val="800"/>
              </a:spcAft>
              <a:buSzPct val="100000"/>
              <a:buChar char="•"/>
            </a:pPr>
            <a:r>
              <a:rPr lang="en-US" sz="1350" dirty="0">
                <a:solidFill>
                  <a:srgbClr val="1A1F1D"/>
                </a:solidFill>
                <a:latin typeface="Century Gothic" pitchFamily="34" charset="0"/>
                <a:ea typeface="Century Gothic" pitchFamily="34" charset="-122"/>
                <a:cs typeface="Century Gothic" pitchFamily="34" charset="-120"/>
              </a:rPr>
              <a:t>Non-compliance handled calmly.</a:t>
            </a:r>
            <a:endParaRPr lang="en-US" sz="1350" dirty="0"/>
          </a:p>
          <a:p>
            <a:pPr marL="342900" indent="-342900">
              <a:spcAft>
                <a:spcPts val="800"/>
              </a:spcAft>
              <a:buSzPct val="100000"/>
              <a:buChar char="•"/>
            </a:pPr>
            <a:r>
              <a:rPr lang="en-US" sz="1350" dirty="0">
                <a:solidFill>
                  <a:srgbClr val="1A1F1D"/>
                </a:solidFill>
                <a:latin typeface="Century Gothic" pitchFamily="34" charset="0"/>
                <a:ea typeface="Century Gothic" pitchFamily="34" charset="-122"/>
                <a:cs typeface="Century Gothic" pitchFamily="34" charset="-120"/>
              </a:rPr>
              <a:t>A real decision made from what the boards show.</a:t>
            </a:r>
            <a:endParaRPr lang="en-US" sz="1350" dirty="0"/>
          </a:p>
        </p:txBody>
      </p:sp>
      <p:sp>
        <p:nvSpPr>
          <p:cNvPr id="16" name="Text 11"/>
          <p:cNvSpPr/>
          <p:nvPr/>
        </p:nvSpPr>
        <p:spPr>
          <a:xfrm>
            <a:off x="640080" y="5715000"/>
            <a:ext cx="10908792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i="1" dirty="0">
                <a:solidFill>
                  <a:srgbClr val="6B736E"/>
                </a:solidFill>
                <a:latin typeface="Century Gothic" pitchFamily="34" charset="0"/>
                <a:ea typeface="Century Gothic" pitchFamily="34" charset="-122"/>
                <a:cs typeface="Century Gothic" pitchFamily="34" charset="-120"/>
              </a:rPr>
              <a:t>The check is only worth doing if the teacher acts on it.</a:t>
            </a:r>
            <a:endParaRPr lang="en-US" sz="1050" dirty="0"/>
          </a:p>
        </p:txBody>
      </p:sp>
      <p:sp>
        <p:nvSpPr>
          <p:cNvPr id="17" name="Text 12"/>
          <p:cNvSpPr/>
          <p:nvPr/>
        </p:nvSpPr>
        <p:spPr>
          <a:xfrm>
            <a:off x="640080" y="6455664"/>
            <a:ext cx="7315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800" dirty="0">
                <a:solidFill>
                  <a:srgbClr val="6B736E"/>
                </a:solidFill>
                <a:latin typeface="Century Gothic" pitchFamily="34" charset="0"/>
                <a:ea typeface="Century Gothic" pitchFamily="34" charset="-122"/>
                <a:cs typeface="Century Gothic" pitchFamily="34" charset="-120"/>
              </a:rPr>
              <a:t>Teaching Excellence Programme · Checking for Understanding</a:t>
            </a:r>
            <a:endParaRPr lang="en-US" sz="800" dirty="0"/>
          </a:p>
        </p:txBody>
      </p:sp>
      <p:sp>
        <p:nvSpPr>
          <p:cNvPr id="18" name="Text 13"/>
          <p:cNvSpPr/>
          <p:nvPr/>
        </p:nvSpPr>
        <p:spPr>
          <a:xfrm>
            <a:off x="7891272" y="6455664"/>
            <a:ext cx="3657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6B736E"/>
                </a:solidFill>
                <a:latin typeface="Century Gothic" pitchFamily="34" charset="0"/>
                <a:ea typeface="Century Gothic" pitchFamily="34" charset="-122"/>
                <a:cs typeface="Century Gothic" pitchFamily="34" charset="-120"/>
              </a:rPr>
              <a:t>A Nishkam Schools programme</a:t>
            </a:r>
            <a:pPr algn="r" indent="0" marL="0">
              <a:buNone/>
            </a:pPr>
            <a:r>
              <a:rPr lang="en-US" sz="800" dirty="0">
                <a:solidFill>
                  <a:srgbClr val="6B736E"/>
                </a:solidFill>
                <a:latin typeface="Century Gothic" pitchFamily="34" charset="0"/>
                <a:ea typeface="Century Gothic" pitchFamily="34" charset="-122"/>
                <a:cs typeface="Century Gothic" pitchFamily="34" charset="-120"/>
              </a:rPr>
              <a:t>    ·    11</a:t>
            </a:r>
            <a:endParaRPr lang="en-US" sz="800" dirty="0"/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2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Image 0" descr="assets/crest.png">    </p:cNvPr>
          <p:cNvPicPr>
            <a:picLocks noChangeAspect="1"/>
          </p:cNvPicPr>
          <p:nvPr/>
        </p:nvPicPr>
        <p:blipFill>
          <a:blip r:embed="rId1">
            <a:alphaModFix amt="48000"/>
          </a:blip>
          <a:stretch>
            <a:fillRect/>
          </a:stretch>
        </p:blipFill>
        <p:spPr>
          <a:xfrm>
            <a:off x="10707624" y="384048"/>
            <a:ext cx="841248" cy="731520"/>
          </a:xfrm>
          <a:prstGeom prst="rect">
            <a:avLst/>
          </a:prstGeom>
        </p:spPr>
      </p:pic>
      <p:sp>
        <p:nvSpPr>
          <p:cNvPr id="3" name="Shape 0"/>
          <p:cNvSpPr/>
          <p:nvPr/>
        </p:nvSpPr>
        <p:spPr>
          <a:xfrm>
            <a:off x="640080" y="585216"/>
            <a:ext cx="146304" cy="146304"/>
          </a:xfrm>
          <a:prstGeom prst="rect">
            <a:avLst/>
          </a:prstGeom>
          <a:solidFill>
            <a:srgbClr val="B07D2B"/>
          </a:solidFill>
          <a:ln/>
        </p:spPr>
      </p:sp>
      <p:sp>
        <p:nvSpPr>
          <p:cNvPr id="4" name="Text 1"/>
          <p:cNvSpPr/>
          <p:nvPr/>
        </p:nvSpPr>
        <p:spPr>
          <a:xfrm>
            <a:off x="914400" y="502920"/>
            <a:ext cx="9628632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spc="200" kern="0" dirty="0">
                <a:solidFill>
                  <a:srgbClr val="3F9488"/>
                </a:solidFill>
                <a:latin typeface="Century Gothic" pitchFamily="34" charset="0"/>
                <a:ea typeface="Century Gothic" pitchFamily="34" charset="-122"/>
                <a:cs typeface="Century Gothic" pitchFamily="34" charset="-120"/>
              </a:rPr>
              <a:t>CIRCULATION</a:t>
            </a:r>
            <a:endParaRPr lang="en-US" sz="1100" dirty="0"/>
          </a:p>
        </p:txBody>
      </p:sp>
      <p:sp>
        <p:nvSpPr>
          <p:cNvPr id="5" name="Text 2"/>
          <p:cNvSpPr/>
          <p:nvPr/>
        </p:nvSpPr>
        <p:spPr>
          <a:xfrm>
            <a:off x="640080" y="868680"/>
            <a:ext cx="9994392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700" b="1" dirty="0">
                <a:solidFill>
                  <a:srgbClr val="14322D"/>
                </a:solidFill>
                <a:latin typeface="Century Gothic" pitchFamily="34" charset="0"/>
                <a:ea typeface="Century Gothic" pitchFamily="34" charset="-122"/>
                <a:cs typeface="Century Gothic" pitchFamily="34" charset="-120"/>
              </a:rPr>
              <a:t>Movement with three jobs</a:t>
            </a:r>
            <a:endParaRPr lang="en-US" sz="2700" dirty="0"/>
          </a:p>
        </p:txBody>
      </p:sp>
      <p:sp>
        <p:nvSpPr>
          <p:cNvPr id="6" name="Shape 3"/>
          <p:cNvSpPr/>
          <p:nvPr/>
        </p:nvSpPr>
        <p:spPr>
          <a:xfrm>
            <a:off x="640080" y="1810512"/>
            <a:ext cx="5074920" cy="1463040"/>
          </a:xfrm>
          <a:prstGeom prst="rect">
            <a:avLst/>
          </a:prstGeom>
          <a:solidFill>
            <a:srgbClr val="F7FAF8"/>
          </a:solidFill>
          <a:ln w="12700">
            <a:solidFill>
              <a:srgbClr val="3F9488"/>
            </a:solidFill>
            <a:prstDash val="solid"/>
          </a:ln>
        </p:spPr>
      </p:sp>
      <p:sp>
        <p:nvSpPr>
          <p:cNvPr id="7" name="Shape 4"/>
          <p:cNvSpPr/>
          <p:nvPr/>
        </p:nvSpPr>
        <p:spPr>
          <a:xfrm>
            <a:off x="640080" y="1810512"/>
            <a:ext cx="64008" cy="1463040"/>
          </a:xfrm>
          <a:prstGeom prst="rect">
            <a:avLst/>
          </a:prstGeom>
          <a:solidFill>
            <a:srgbClr val="3F9488"/>
          </a:solidFill>
          <a:ln/>
        </p:spPr>
      </p:sp>
      <p:pic>
        <p:nvPicPr>
          <p:cNvPr id="8" name="Image 1" descr="assets/icon7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896112" y="2011680"/>
            <a:ext cx="420624" cy="420624"/>
          </a:xfrm>
          <a:prstGeom prst="rect">
            <a:avLst/>
          </a:prstGeom>
        </p:spPr>
      </p:pic>
      <p:sp>
        <p:nvSpPr>
          <p:cNvPr id="9" name="Text 5"/>
          <p:cNvSpPr/>
          <p:nvPr/>
        </p:nvSpPr>
        <p:spPr>
          <a:xfrm>
            <a:off x="1463040" y="1993392"/>
            <a:ext cx="406908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14322D"/>
                </a:solidFill>
                <a:latin typeface="Century Gothic" pitchFamily="34" charset="0"/>
                <a:ea typeface="Century Gothic" pitchFamily="34" charset="-122"/>
                <a:cs typeface="Century Gothic" pitchFamily="34" charset="-120"/>
              </a:rPr>
              <a:t>On task</a:t>
            </a:r>
            <a:endParaRPr lang="en-US" sz="1500" dirty="0"/>
          </a:p>
        </p:txBody>
      </p:sp>
      <p:sp>
        <p:nvSpPr>
          <p:cNvPr id="10" name="Text 6"/>
          <p:cNvSpPr/>
          <p:nvPr/>
        </p:nvSpPr>
        <p:spPr>
          <a:xfrm>
            <a:off x="896112" y="2468880"/>
            <a:ext cx="457200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50" dirty="0">
                <a:solidFill>
                  <a:srgbClr val="1A1F1D"/>
                </a:solidFill>
                <a:latin typeface="Century Gothic" pitchFamily="34" charset="0"/>
                <a:ea typeface="Century Gothic" pitchFamily="34" charset="-122"/>
                <a:cs typeface="Century Gothic" pitchFamily="34" charset="-120"/>
              </a:rPr>
              <a:t>Are pupils working — promptly, and on the right thing?</a:t>
            </a:r>
            <a:endParaRPr lang="en-US" sz="1250" dirty="0"/>
          </a:p>
        </p:txBody>
      </p:sp>
      <p:sp>
        <p:nvSpPr>
          <p:cNvPr id="11" name="Shape 7"/>
          <p:cNvSpPr/>
          <p:nvPr/>
        </p:nvSpPr>
        <p:spPr>
          <a:xfrm>
            <a:off x="6126480" y="1810512"/>
            <a:ext cx="5074920" cy="1463040"/>
          </a:xfrm>
          <a:prstGeom prst="rect">
            <a:avLst/>
          </a:prstGeom>
          <a:solidFill>
            <a:srgbClr val="F7FAF8"/>
          </a:solidFill>
          <a:ln w="12700">
            <a:solidFill>
              <a:srgbClr val="3F9488"/>
            </a:solidFill>
            <a:prstDash val="solid"/>
          </a:ln>
        </p:spPr>
      </p:sp>
      <p:sp>
        <p:nvSpPr>
          <p:cNvPr id="12" name="Shape 8"/>
          <p:cNvSpPr/>
          <p:nvPr/>
        </p:nvSpPr>
        <p:spPr>
          <a:xfrm>
            <a:off x="6126480" y="1810512"/>
            <a:ext cx="64008" cy="1463040"/>
          </a:xfrm>
          <a:prstGeom prst="rect">
            <a:avLst/>
          </a:prstGeom>
          <a:solidFill>
            <a:srgbClr val="3F9488"/>
          </a:solidFill>
          <a:ln/>
        </p:spPr>
      </p:sp>
      <p:pic>
        <p:nvPicPr>
          <p:cNvPr id="13" name="Image 2" descr="assets/icon4.png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6382512" y="2011680"/>
            <a:ext cx="420624" cy="420624"/>
          </a:xfrm>
          <a:prstGeom prst="rect">
            <a:avLst/>
          </a:prstGeom>
        </p:spPr>
      </p:pic>
      <p:sp>
        <p:nvSpPr>
          <p:cNvPr id="14" name="Text 9"/>
          <p:cNvSpPr/>
          <p:nvPr/>
        </p:nvSpPr>
        <p:spPr>
          <a:xfrm>
            <a:off x="6949440" y="1993392"/>
            <a:ext cx="406908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14322D"/>
                </a:solidFill>
                <a:latin typeface="Century Gothic" pitchFamily="34" charset="0"/>
                <a:ea typeface="Century Gothic" pitchFamily="34" charset="-122"/>
                <a:cs typeface="Century Gothic" pitchFamily="34" charset="-120"/>
              </a:rPr>
              <a:t>On track</a:t>
            </a:r>
            <a:endParaRPr lang="en-US" sz="1500" dirty="0"/>
          </a:p>
        </p:txBody>
      </p:sp>
      <p:sp>
        <p:nvSpPr>
          <p:cNvPr id="15" name="Text 10"/>
          <p:cNvSpPr/>
          <p:nvPr/>
        </p:nvSpPr>
        <p:spPr>
          <a:xfrm>
            <a:off x="6382512" y="2468880"/>
            <a:ext cx="457200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50" dirty="0">
                <a:solidFill>
                  <a:srgbClr val="1A1F1D"/>
                </a:solidFill>
                <a:latin typeface="Century Gothic" pitchFamily="34" charset="0"/>
                <a:ea typeface="Century Gothic" pitchFamily="34" charset="-122"/>
                <a:cs typeface="Century Gothic" pitchFamily="34" charset="-120"/>
              </a:rPr>
              <a:t>Is the work correct? On task is not the same as on track.</a:t>
            </a:r>
            <a:endParaRPr lang="en-US" sz="1250" dirty="0"/>
          </a:p>
        </p:txBody>
      </p:sp>
      <p:sp>
        <p:nvSpPr>
          <p:cNvPr id="16" name="Shape 11"/>
          <p:cNvSpPr/>
          <p:nvPr/>
        </p:nvSpPr>
        <p:spPr>
          <a:xfrm>
            <a:off x="640080" y="3566160"/>
            <a:ext cx="5074920" cy="1463040"/>
          </a:xfrm>
          <a:prstGeom prst="rect">
            <a:avLst/>
          </a:prstGeom>
          <a:solidFill>
            <a:srgbClr val="F7FAF8"/>
          </a:solidFill>
          <a:ln w="12700">
            <a:solidFill>
              <a:srgbClr val="3F9488"/>
            </a:solidFill>
            <a:prstDash val="solid"/>
          </a:ln>
        </p:spPr>
      </p:sp>
      <p:sp>
        <p:nvSpPr>
          <p:cNvPr id="17" name="Shape 12"/>
          <p:cNvSpPr/>
          <p:nvPr/>
        </p:nvSpPr>
        <p:spPr>
          <a:xfrm>
            <a:off x="640080" y="3566160"/>
            <a:ext cx="64008" cy="1463040"/>
          </a:xfrm>
          <a:prstGeom prst="rect">
            <a:avLst/>
          </a:prstGeom>
          <a:solidFill>
            <a:srgbClr val="3F9488"/>
          </a:solidFill>
          <a:ln/>
        </p:spPr>
      </p:sp>
      <p:pic>
        <p:nvPicPr>
          <p:cNvPr id="18" name="Image 3" descr="assets/icon15.png">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896112" y="3767328"/>
            <a:ext cx="420624" cy="420624"/>
          </a:xfrm>
          <a:prstGeom prst="rect">
            <a:avLst/>
          </a:prstGeom>
        </p:spPr>
      </p:pic>
      <p:sp>
        <p:nvSpPr>
          <p:cNvPr id="19" name="Text 13"/>
          <p:cNvSpPr/>
          <p:nvPr/>
        </p:nvSpPr>
        <p:spPr>
          <a:xfrm>
            <a:off x="1463040" y="3749040"/>
            <a:ext cx="406908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14322D"/>
                </a:solidFill>
                <a:latin typeface="Century Gothic" pitchFamily="34" charset="0"/>
                <a:ea typeface="Century Gothic" pitchFamily="34" charset="-122"/>
                <a:cs typeface="Century Gothic" pitchFamily="34" charset="-120"/>
              </a:rPr>
              <a:t>Support</a:t>
            </a:r>
            <a:endParaRPr lang="en-US" sz="1500" dirty="0"/>
          </a:p>
        </p:txBody>
      </p:sp>
      <p:sp>
        <p:nvSpPr>
          <p:cNvPr id="20" name="Text 14"/>
          <p:cNvSpPr/>
          <p:nvPr/>
        </p:nvSpPr>
        <p:spPr>
          <a:xfrm>
            <a:off x="896112" y="4224528"/>
            <a:ext cx="457200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50" dirty="0">
                <a:solidFill>
                  <a:srgbClr val="1A1F1D"/>
                </a:solidFill>
                <a:latin typeface="Century Gothic" pitchFamily="34" charset="0"/>
                <a:ea typeface="Century Gothic" pitchFamily="34" charset="-122"/>
                <a:cs typeface="Century Gothic" pitchFamily="34" charset="-120"/>
              </a:rPr>
              <a:t>Adaptation and scaffolding where needed; assistant teacher on key pupils.</a:t>
            </a:r>
            <a:endParaRPr lang="en-US" sz="1250" dirty="0"/>
          </a:p>
        </p:txBody>
      </p:sp>
      <p:sp>
        <p:nvSpPr>
          <p:cNvPr id="21" name="Shape 15"/>
          <p:cNvSpPr/>
          <p:nvPr/>
        </p:nvSpPr>
        <p:spPr>
          <a:xfrm>
            <a:off x="6126480" y="3566160"/>
            <a:ext cx="5074920" cy="1463040"/>
          </a:xfrm>
          <a:prstGeom prst="rect">
            <a:avLst/>
          </a:prstGeom>
          <a:solidFill>
            <a:srgbClr val="F7FAF8"/>
          </a:solidFill>
          <a:ln w="12700">
            <a:solidFill>
              <a:srgbClr val="3F9488"/>
            </a:solidFill>
            <a:prstDash val="solid"/>
          </a:ln>
        </p:spPr>
      </p:sp>
      <p:sp>
        <p:nvSpPr>
          <p:cNvPr id="22" name="Shape 16"/>
          <p:cNvSpPr/>
          <p:nvPr/>
        </p:nvSpPr>
        <p:spPr>
          <a:xfrm>
            <a:off x="6126480" y="3566160"/>
            <a:ext cx="64008" cy="1463040"/>
          </a:xfrm>
          <a:prstGeom prst="rect">
            <a:avLst/>
          </a:prstGeom>
          <a:solidFill>
            <a:srgbClr val="3F9488"/>
          </a:solidFill>
          <a:ln/>
        </p:spPr>
      </p:sp>
      <p:pic>
        <p:nvPicPr>
          <p:cNvPr id="23" name="Image 4" descr="assets/icon12.png">    </p:cNvPr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6382512" y="3767328"/>
            <a:ext cx="420624" cy="420624"/>
          </a:xfrm>
          <a:prstGeom prst="rect">
            <a:avLst/>
          </a:prstGeom>
        </p:spPr>
      </p:pic>
      <p:sp>
        <p:nvSpPr>
          <p:cNvPr id="24" name="Text 17"/>
          <p:cNvSpPr/>
          <p:nvPr/>
        </p:nvSpPr>
        <p:spPr>
          <a:xfrm>
            <a:off x="6949440" y="3749040"/>
            <a:ext cx="406908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14322D"/>
                </a:solidFill>
                <a:latin typeface="Century Gothic" pitchFamily="34" charset="0"/>
                <a:ea typeface="Century Gothic" pitchFamily="34" charset="-122"/>
                <a:cs typeface="Century Gothic" pitchFamily="34" charset="-120"/>
              </a:rPr>
              <a:t>Read early</a:t>
            </a:r>
            <a:endParaRPr lang="en-US" sz="1500" dirty="0"/>
          </a:p>
        </p:txBody>
      </p:sp>
      <p:sp>
        <p:nvSpPr>
          <p:cNvPr id="25" name="Text 18"/>
          <p:cNvSpPr/>
          <p:nvPr/>
        </p:nvSpPr>
        <p:spPr>
          <a:xfrm>
            <a:off x="6382512" y="4224528"/>
            <a:ext cx="457200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50" dirty="0">
                <a:solidFill>
                  <a:srgbClr val="1A1F1D"/>
                </a:solidFill>
                <a:latin typeface="Century Gothic" pitchFamily="34" charset="0"/>
                <a:ea typeface="Century Gothic" pitchFamily="34" charset="-122"/>
                <a:cs typeface="Century Gothic" pitchFamily="34" charset="-120"/>
              </a:rPr>
              <a:t>The pen-down, looking-around pupil is the first signal, not the last.</a:t>
            </a:r>
            <a:endParaRPr lang="en-US" sz="1250" dirty="0"/>
          </a:p>
        </p:txBody>
      </p:sp>
      <p:pic>
        <p:nvPicPr>
          <p:cNvPr id="26" name="Image 5" descr="assets/icon9.png">    </p:cNvPr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640080" y="5495544"/>
            <a:ext cx="310896" cy="310896"/>
          </a:xfrm>
          <a:prstGeom prst="rect">
            <a:avLst/>
          </a:prstGeom>
        </p:spPr>
      </p:pic>
      <p:sp>
        <p:nvSpPr>
          <p:cNvPr id="27" name="Text 19"/>
          <p:cNvSpPr/>
          <p:nvPr/>
        </p:nvSpPr>
        <p:spPr>
          <a:xfrm>
            <a:off x="1097280" y="5477256"/>
            <a:ext cx="10451592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b="1" dirty="0">
                <a:solidFill>
                  <a:srgbClr val="14322D"/>
                </a:solidFill>
                <a:latin typeface="Century Gothic" pitchFamily="34" charset="0"/>
                <a:ea typeface="Century Gothic" pitchFamily="34" charset="-122"/>
                <a:cs typeface="Century Gothic" pitchFamily="34" charset="-120"/>
              </a:rPr>
              <a:t>Discuss  </a:t>
            </a:r>
            <a:pPr indent="0" marL="0">
              <a:buNone/>
            </a:pPr>
            <a:r>
              <a:rPr lang="en-US" sz="1250" dirty="0">
                <a:solidFill>
                  <a:srgbClr val="1A1F1D"/>
                </a:solidFill>
                <a:latin typeface="Century Gothic" pitchFamily="34" charset="0"/>
                <a:ea typeface="Century Gothic" pitchFamily="34" charset="-122"/>
                <a:cs typeface="Century Gothic" pitchFamily="34" charset="-120"/>
              </a:rPr>
              <a:t>Where in independent practice do you currently wander rather than circulate?</a:t>
            </a:r>
            <a:endParaRPr lang="en-US" sz="1250" dirty="0"/>
          </a:p>
        </p:txBody>
      </p:sp>
      <p:sp>
        <p:nvSpPr>
          <p:cNvPr id="28" name="Text 20"/>
          <p:cNvSpPr/>
          <p:nvPr/>
        </p:nvSpPr>
        <p:spPr>
          <a:xfrm>
            <a:off x="640080" y="5943600"/>
            <a:ext cx="10908792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i="1" dirty="0">
                <a:solidFill>
                  <a:srgbClr val="6B736E"/>
                </a:solidFill>
                <a:latin typeface="Century Gothic" pitchFamily="34" charset="0"/>
                <a:ea typeface="Century Gothic" pitchFamily="34" charset="-122"/>
                <a:cs typeface="Century Gothic" pitchFamily="34" charset="-120"/>
              </a:rPr>
              <a:t>Circulation is purposeful movement, not a lap of the room.</a:t>
            </a:r>
            <a:endParaRPr lang="en-US" sz="1050" dirty="0"/>
          </a:p>
        </p:txBody>
      </p:sp>
      <p:sp>
        <p:nvSpPr>
          <p:cNvPr id="29" name="Text 21"/>
          <p:cNvSpPr/>
          <p:nvPr/>
        </p:nvSpPr>
        <p:spPr>
          <a:xfrm>
            <a:off x="640080" y="6455664"/>
            <a:ext cx="7315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800" dirty="0">
                <a:solidFill>
                  <a:srgbClr val="6B736E"/>
                </a:solidFill>
                <a:latin typeface="Century Gothic" pitchFamily="34" charset="0"/>
                <a:ea typeface="Century Gothic" pitchFamily="34" charset="-122"/>
                <a:cs typeface="Century Gothic" pitchFamily="34" charset="-120"/>
              </a:rPr>
              <a:t>Teaching Excellence Programme · Checking for Understanding</a:t>
            </a:r>
            <a:endParaRPr lang="en-US" sz="800" dirty="0"/>
          </a:p>
        </p:txBody>
      </p:sp>
      <p:sp>
        <p:nvSpPr>
          <p:cNvPr id="30" name="Text 22"/>
          <p:cNvSpPr/>
          <p:nvPr/>
        </p:nvSpPr>
        <p:spPr>
          <a:xfrm>
            <a:off x="7891272" y="6455664"/>
            <a:ext cx="3657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6B736E"/>
                </a:solidFill>
                <a:latin typeface="Century Gothic" pitchFamily="34" charset="0"/>
                <a:ea typeface="Century Gothic" pitchFamily="34" charset="-122"/>
                <a:cs typeface="Century Gothic" pitchFamily="34" charset="-120"/>
              </a:rPr>
              <a:t>A Nishkam Schools programme</a:t>
            </a:r>
            <a:pPr algn="r" indent="0" marL="0">
              <a:buNone/>
            </a:pPr>
            <a:r>
              <a:rPr lang="en-US" sz="800" dirty="0">
                <a:solidFill>
                  <a:srgbClr val="6B736E"/>
                </a:solidFill>
                <a:latin typeface="Century Gothic" pitchFamily="34" charset="0"/>
                <a:ea typeface="Century Gothic" pitchFamily="34" charset="-122"/>
                <a:cs typeface="Century Gothic" pitchFamily="34" charset="-120"/>
              </a:rPr>
              <a:t>    ·    12</a:t>
            </a:r>
            <a:endParaRPr lang="en-US" sz="800" dirty="0"/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3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Image 0" descr="assets/crest.png">    </p:cNvPr>
          <p:cNvPicPr>
            <a:picLocks noChangeAspect="1"/>
          </p:cNvPicPr>
          <p:nvPr/>
        </p:nvPicPr>
        <p:blipFill>
          <a:blip r:embed="rId1">
            <a:alphaModFix amt="48000"/>
          </a:blip>
          <a:stretch>
            <a:fillRect/>
          </a:stretch>
        </p:blipFill>
        <p:spPr>
          <a:xfrm>
            <a:off x="10707624" y="384048"/>
            <a:ext cx="841248" cy="731520"/>
          </a:xfrm>
          <a:prstGeom prst="rect">
            <a:avLst/>
          </a:prstGeom>
        </p:spPr>
      </p:pic>
      <p:sp>
        <p:nvSpPr>
          <p:cNvPr id="3" name="Shape 0"/>
          <p:cNvSpPr/>
          <p:nvPr/>
        </p:nvSpPr>
        <p:spPr>
          <a:xfrm>
            <a:off x="640080" y="585216"/>
            <a:ext cx="146304" cy="146304"/>
          </a:xfrm>
          <a:prstGeom prst="rect">
            <a:avLst/>
          </a:prstGeom>
          <a:solidFill>
            <a:srgbClr val="B07D2B"/>
          </a:solidFill>
          <a:ln/>
        </p:spPr>
      </p:sp>
      <p:sp>
        <p:nvSpPr>
          <p:cNvPr id="4" name="Text 1"/>
          <p:cNvSpPr/>
          <p:nvPr/>
        </p:nvSpPr>
        <p:spPr>
          <a:xfrm>
            <a:off x="914400" y="502920"/>
            <a:ext cx="9628632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spc="200" kern="0" dirty="0">
                <a:solidFill>
                  <a:srgbClr val="3F9488"/>
                </a:solidFill>
                <a:latin typeface="Century Gothic" pitchFamily="34" charset="0"/>
                <a:ea typeface="Century Gothic" pitchFamily="34" charset="-122"/>
                <a:cs typeface="Century Gothic" pitchFamily="34" charset="-120"/>
              </a:rPr>
              <a:t>FOR EVERY PUPIL</a:t>
            </a:r>
            <a:endParaRPr lang="en-US" sz="1100" dirty="0"/>
          </a:p>
        </p:txBody>
      </p:sp>
      <p:sp>
        <p:nvSpPr>
          <p:cNvPr id="5" name="Text 2"/>
          <p:cNvSpPr/>
          <p:nvPr/>
        </p:nvSpPr>
        <p:spPr>
          <a:xfrm>
            <a:off x="640080" y="868680"/>
            <a:ext cx="9994392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700" b="1" dirty="0">
                <a:solidFill>
                  <a:srgbClr val="14322D"/>
                </a:solidFill>
                <a:latin typeface="Century Gothic" pitchFamily="34" charset="0"/>
                <a:ea typeface="Century Gothic" pitchFamily="34" charset="-122"/>
                <a:cs typeface="Century Gothic" pitchFamily="34" charset="-120"/>
              </a:rPr>
              <a:t>All-pupil response is the inclusion</a:t>
            </a:r>
            <a:endParaRPr lang="en-US" sz="2700" dirty="0"/>
          </a:p>
        </p:txBody>
      </p:sp>
      <p:pic>
        <p:nvPicPr>
          <p:cNvPr id="6" name="Image 1" descr="assets/icon6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40080" y="1920240"/>
            <a:ext cx="502920" cy="502920"/>
          </a:xfrm>
          <a:prstGeom prst="rect">
            <a:avLst/>
          </a:prstGeom>
        </p:spPr>
      </p:pic>
      <p:sp>
        <p:nvSpPr>
          <p:cNvPr id="7" name="Text 3"/>
          <p:cNvSpPr/>
          <p:nvPr/>
        </p:nvSpPr>
        <p:spPr>
          <a:xfrm>
            <a:off x="1325880" y="1920240"/>
            <a:ext cx="7315200" cy="310896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342900" indent="-342900">
              <a:spcAft>
                <a:spcPts val="1400"/>
              </a:spcAft>
              <a:buSzPct val="100000"/>
              <a:buChar char="•"/>
            </a:pPr>
            <a:r>
              <a:rPr lang="en-US" sz="1700" dirty="0">
                <a:solidFill>
                  <a:srgbClr val="1A1F1D"/>
                </a:solidFill>
                <a:latin typeface="Century Gothic" pitchFamily="34" charset="0"/>
                <a:ea typeface="Century Gothic" pitchFamily="34" charset="-122"/>
                <a:cs typeface="Century Gothic" pitchFamily="34" charset="-120"/>
              </a:rPr>
              <a:t>The pupil who never volunteers is exactly the one a hands-up question fails; the whiteboard reaches them.</a:t>
            </a:r>
            <a:endParaRPr lang="en-US" sz="1700" dirty="0"/>
          </a:p>
          <a:p>
            <a:pPr marL="342900" indent="-342900">
              <a:spcAft>
                <a:spcPts val="1400"/>
              </a:spcAft>
              <a:buSzPct val="100000"/>
              <a:buChar char="•"/>
            </a:pPr>
            <a:r>
              <a:rPr lang="en-US" sz="1700" dirty="0">
                <a:solidFill>
                  <a:srgbClr val="1A1F1D"/>
                </a:solidFill>
                <a:latin typeface="Century Gothic" pitchFamily="34" charset="0"/>
                <a:ea typeface="Century Gothic" pitchFamily="34" charset="-122"/>
                <a:cs typeface="Century Gothic" pitchFamily="34" charset="-120"/>
              </a:rPr>
              <a:t>Silent thinking time gives slower processors the same chance as the quick ones.</a:t>
            </a:r>
            <a:endParaRPr lang="en-US" sz="1700" dirty="0"/>
          </a:p>
          <a:p>
            <a:pPr marL="342900" indent="-342900">
              <a:buSzPct val="100000"/>
              <a:buChar char="•"/>
            </a:pPr>
            <a:r>
              <a:rPr lang="en-US" sz="1700" dirty="0">
                <a:solidFill>
                  <a:srgbClr val="1A1F1D"/>
                </a:solidFill>
                <a:latin typeface="Century Gothic" pitchFamily="34" charset="0"/>
                <a:ea typeface="Century Gothic" pitchFamily="34" charset="-122"/>
                <a:cs typeface="Century Gothic" pitchFamily="34" charset="-120"/>
              </a:rPr>
              <a:t>Reading the room early lets support reach a pupil before they have been lost for ten minutes.</a:t>
            </a:r>
            <a:endParaRPr lang="en-US" sz="1700" dirty="0"/>
          </a:p>
        </p:txBody>
      </p:sp>
      <p:sp>
        <p:nvSpPr>
          <p:cNvPr id="8" name="Shape 4"/>
          <p:cNvSpPr/>
          <p:nvPr/>
        </p:nvSpPr>
        <p:spPr>
          <a:xfrm>
            <a:off x="8869680" y="1920240"/>
            <a:ext cx="2651760" cy="2194560"/>
          </a:xfrm>
          <a:prstGeom prst="rect">
            <a:avLst/>
          </a:prstGeom>
          <a:solidFill>
            <a:srgbClr val="F4ECE0"/>
          </a:solidFill>
          <a:ln w="12700">
            <a:solidFill>
              <a:srgbClr val="B07D2B"/>
            </a:solidFill>
            <a:prstDash val="solid"/>
          </a:ln>
        </p:spPr>
      </p:sp>
      <p:sp>
        <p:nvSpPr>
          <p:cNvPr id="9" name="Shape 5"/>
          <p:cNvSpPr/>
          <p:nvPr/>
        </p:nvSpPr>
        <p:spPr>
          <a:xfrm>
            <a:off x="8869680" y="1920240"/>
            <a:ext cx="64008" cy="2194560"/>
          </a:xfrm>
          <a:prstGeom prst="rect">
            <a:avLst/>
          </a:prstGeom>
          <a:solidFill>
            <a:srgbClr val="B07D2B"/>
          </a:solidFill>
          <a:ln/>
        </p:spPr>
      </p:sp>
      <p:pic>
        <p:nvPicPr>
          <p:cNvPr id="10" name="Image 2" descr="assets/icon9.png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9098280" y="2103120"/>
            <a:ext cx="365760" cy="365760"/>
          </a:xfrm>
          <a:prstGeom prst="rect">
            <a:avLst/>
          </a:prstGeom>
        </p:spPr>
      </p:pic>
      <p:sp>
        <p:nvSpPr>
          <p:cNvPr id="11" name="Text 6"/>
          <p:cNvSpPr/>
          <p:nvPr/>
        </p:nvSpPr>
        <p:spPr>
          <a:xfrm>
            <a:off x="9509760" y="2103120"/>
            <a:ext cx="18288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14322D"/>
                </a:solidFill>
                <a:latin typeface="Century Gothic" pitchFamily="34" charset="0"/>
                <a:ea typeface="Century Gothic" pitchFamily="34" charset="-122"/>
                <a:cs typeface="Century Gothic" pitchFamily="34" charset="-120"/>
              </a:rPr>
              <a:t>Discuss</a:t>
            </a:r>
            <a:endParaRPr lang="en-US" sz="1500" dirty="0"/>
          </a:p>
        </p:txBody>
      </p:sp>
      <p:sp>
        <p:nvSpPr>
          <p:cNvPr id="12" name="Text 7"/>
          <p:cNvSpPr/>
          <p:nvPr/>
        </p:nvSpPr>
        <p:spPr>
          <a:xfrm>
            <a:off x="9098280" y="2651760"/>
            <a:ext cx="228600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50" dirty="0">
                <a:solidFill>
                  <a:srgbClr val="1A1F1D"/>
                </a:solidFill>
                <a:latin typeface="Century Gothic" pitchFamily="34" charset="0"/>
                <a:ea typeface="Century Gothic" pitchFamily="34" charset="-122"/>
                <a:cs typeface="Century Gothic" pitchFamily="34" charset="-120"/>
              </a:rPr>
              <a:t>Which pupil would most benefit from a routine where everyone has to answer?</a:t>
            </a:r>
            <a:endParaRPr lang="en-US" sz="1250" dirty="0"/>
          </a:p>
        </p:txBody>
      </p:sp>
      <p:sp>
        <p:nvSpPr>
          <p:cNvPr id="13" name="Text 8"/>
          <p:cNvSpPr/>
          <p:nvPr/>
        </p:nvSpPr>
        <p:spPr>
          <a:xfrm>
            <a:off x="640080" y="6455664"/>
            <a:ext cx="7315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800" dirty="0">
                <a:solidFill>
                  <a:srgbClr val="6B736E"/>
                </a:solidFill>
                <a:latin typeface="Century Gothic" pitchFamily="34" charset="0"/>
                <a:ea typeface="Century Gothic" pitchFamily="34" charset="-122"/>
                <a:cs typeface="Century Gothic" pitchFamily="34" charset="-120"/>
              </a:rPr>
              <a:t>Teaching Excellence Programme · Checking for Understanding</a:t>
            </a:r>
            <a:endParaRPr lang="en-US" sz="800" dirty="0"/>
          </a:p>
        </p:txBody>
      </p:sp>
      <p:sp>
        <p:nvSpPr>
          <p:cNvPr id="14" name="Text 9"/>
          <p:cNvSpPr/>
          <p:nvPr/>
        </p:nvSpPr>
        <p:spPr>
          <a:xfrm>
            <a:off x="7891272" y="6455664"/>
            <a:ext cx="3657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6B736E"/>
                </a:solidFill>
                <a:latin typeface="Century Gothic" pitchFamily="34" charset="0"/>
                <a:ea typeface="Century Gothic" pitchFamily="34" charset="-122"/>
                <a:cs typeface="Century Gothic" pitchFamily="34" charset="-120"/>
              </a:rPr>
              <a:t>A Nishkam Schools programme</a:t>
            </a:r>
            <a:pPr algn="r" indent="0" marL="0">
              <a:buNone/>
            </a:pPr>
            <a:r>
              <a:rPr lang="en-US" sz="800" dirty="0">
                <a:solidFill>
                  <a:srgbClr val="6B736E"/>
                </a:solidFill>
                <a:latin typeface="Century Gothic" pitchFamily="34" charset="0"/>
                <a:ea typeface="Century Gothic" pitchFamily="34" charset="-122"/>
                <a:cs typeface="Century Gothic" pitchFamily="34" charset="-120"/>
              </a:rPr>
              <a:t>    ·    13</a:t>
            </a:r>
            <a:endParaRPr lang="en-US" sz="800" dirty="0"/>
          </a:p>
        </p:txBody>
      </p:sp>
    </p:spTree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4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Image 0" descr="assets/crest.png">    </p:cNvPr>
          <p:cNvPicPr>
            <a:picLocks noChangeAspect="1"/>
          </p:cNvPicPr>
          <p:nvPr/>
        </p:nvPicPr>
        <p:blipFill>
          <a:blip r:embed="rId1">
            <a:alphaModFix amt="48000"/>
          </a:blip>
          <a:stretch>
            <a:fillRect/>
          </a:stretch>
        </p:blipFill>
        <p:spPr>
          <a:xfrm>
            <a:off x="10707624" y="384048"/>
            <a:ext cx="841248" cy="731520"/>
          </a:xfrm>
          <a:prstGeom prst="rect">
            <a:avLst/>
          </a:prstGeom>
        </p:spPr>
      </p:pic>
      <p:sp>
        <p:nvSpPr>
          <p:cNvPr id="3" name="Shape 0"/>
          <p:cNvSpPr/>
          <p:nvPr/>
        </p:nvSpPr>
        <p:spPr>
          <a:xfrm>
            <a:off x="640080" y="585216"/>
            <a:ext cx="146304" cy="146304"/>
          </a:xfrm>
          <a:prstGeom prst="rect">
            <a:avLst/>
          </a:prstGeom>
          <a:solidFill>
            <a:srgbClr val="B07D2B"/>
          </a:solidFill>
          <a:ln/>
        </p:spPr>
      </p:sp>
      <p:sp>
        <p:nvSpPr>
          <p:cNvPr id="4" name="Text 1"/>
          <p:cNvSpPr/>
          <p:nvPr/>
        </p:nvSpPr>
        <p:spPr>
          <a:xfrm>
            <a:off x="914400" y="502920"/>
            <a:ext cx="9628632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spc="200" kern="0" dirty="0">
                <a:solidFill>
                  <a:srgbClr val="3F9488"/>
                </a:solidFill>
                <a:latin typeface="Century Gothic" pitchFamily="34" charset="0"/>
                <a:ea typeface="Century Gothic" pitchFamily="34" charset="-122"/>
                <a:cs typeface="Century Gothic" pitchFamily="34" charset="-120"/>
              </a:rPr>
              <a:t>WATCH, THEN DISCUSS</a:t>
            </a:r>
            <a:endParaRPr lang="en-US" sz="1100" dirty="0"/>
          </a:p>
        </p:txBody>
      </p:sp>
      <p:sp>
        <p:nvSpPr>
          <p:cNvPr id="5" name="Text 2"/>
          <p:cNvSpPr/>
          <p:nvPr/>
        </p:nvSpPr>
        <p:spPr>
          <a:xfrm>
            <a:off x="640080" y="868680"/>
            <a:ext cx="9994392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700" b="1" dirty="0">
                <a:solidFill>
                  <a:srgbClr val="14322D"/>
                </a:solidFill>
                <a:latin typeface="Century Gothic" pitchFamily="34" charset="0"/>
                <a:ea typeface="Century Gothic" pitchFamily="34" charset="-122"/>
                <a:cs typeface="Century Gothic" pitchFamily="34" charset="-120"/>
              </a:rPr>
              <a:t>Checking on screen</a:t>
            </a:r>
            <a:endParaRPr lang="en-US" sz="2700" dirty="0"/>
          </a:p>
        </p:txBody>
      </p:sp>
      <p:sp>
        <p:nvSpPr>
          <p:cNvPr id="6" name="Shape 3"/>
          <p:cNvSpPr/>
          <p:nvPr/>
        </p:nvSpPr>
        <p:spPr>
          <a:xfrm>
            <a:off x="640080" y="1828800"/>
            <a:ext cx="5852160" cy="3291840"/>
          </a:xfrm>
          <a:prstGeom prst="rect">
            <a:avLst/>
          </a:prstGeom>
          <a:solidFill>
            <a:srgbClr val="11201C"/>
          </a:solidFill>
          <a:ln/>
        </p:spPr>
      </p:sp>
      <p:sp>
        <p:nvSpPr>
          <p:cNvPr id="7" name="Shape 4"/>
          <p:cNvSpPr/>
          <p:nvPr/>
        </p:nvSpPr>
        <p:spPr>
          <a:xfrm>
            <a:off x="3063240" y="2697480"/>
            <a:ext cx="1005840" cy="1005840"/>
          </a:xfrm>
          <a:prstGeom prst="ellipse">
            <a:avLst/>
          </a:prstGeom>
          <a:solidFill>
            <a:srgbClr val="FFFFFF"/>
          </a:solidFill>
          <a:ln/>
        </p:spPr>
      </p:sp>
      <p:sp>
        <p:nvSpPr>
          <p:cNvPr id="8" name="Shape 5"/>
          <p:cNvSpPr/>
          <p:nvPr/>
        </p:nvSpPr>
        <p:spPr>
          <a:xfrm rot="5400000">
            <a:off x="3374136" y="2971800"/>
            <a:ext cx="502920" cy="640080"/>
          </a:xfrm>
          <a:prstGeom prst="triangle">
            <a:avLst/>
          </a:prstGeom>
          <a:solidFill>
            <a:srgbClr val="14322D"/>
          </a:solidFill>
          <a:ln/>
        </p:spPr>
      </p:sp>
      <p:sp>
        <p:nvSpPr>
          <p:cNvPr id="9" name="Text 6"/>
          <p:cNvSpPr/>
          <p:nvPr/>
        </p:nvSpPr>
        <p:spPr>
          <a:xfrm>
            <a:off x="640080" y="4251960"/>
            <a:ext cx="58521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dirty="0">
                <a:solidFill>
                  <a:srgbClr val="BFE0D7"/>
                </a:solidFill>
                <a:latin typeface="Century Gothic" pitchFamily="34" charset="0"/>
                <a:ea typeface="Century Gothic" pitchFamily="34" charset="-122"/>
                <a:cs typeface="Century Gothic" pitchFamily="34" charset="-120"/>
              </a:rPr>
              <a:t>Play the clip here</a:t>
            </a:r>
            <a:endParaRPr lang="en-US" sz="1200" dirty="0"/>
          </a:p>
        </p:txBody>
      </p:sp>
      <p:sp>
        <p:nvSpPr>
          <p:cNvPr id="10" name="Text 7"/>
          <p:cNvSpPr/>
          <p:nvPr/>
        </p:nvSpPr>
        <p:spPr>
          <a:xfrm>
            <a:off x="640080" y="4617720"/>
            <a:ext cx="585216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Century Gothic" pitchFamily="34" charset="0"/>
                <a:ea typeface="Century Gothic" pitchFamily="34" charset="-122"/>
                <a:cs typeface="Century Gothic" pitchFamily="34" charset="-120"/>
              </a:rPr>
              <a:t>Teach Like a Champion </a:t>
            </a:r>
            <a:pPr algn="ctr" indent="0" marL="0">
              <a:buNone/>
            </a:pPr>
            <a:r>
              <a:rPr lang="en-US" sz="1100" dirty="0">
                <a:solidFill>
                  <a:srgbClr val="8FB8AE"/>
                </a:solidFill>
                <a:latin typeface="Century Gothic" pitchFamily="34" charset="0"/>
                <a:ea typeface="Century Gothic" pitchFamily="34" charset="-122"/>
                <a:cs typeface="Century Gothic" pitchFamily="34" charset="-120"/>
              </a:rPr>
              <a:t>· video portal</a:t>
            </a:r>
            <a:endParaRPr lang="en-US" sz="1100" dirty="0"/>
          </a:p>
        </p:txBody>
      </p:sp>
      <p:sp>
        <p:nvSpPr>
          <p:cNvPr id="11" name="Shape 8"/>
          <p:cNvSpPr/>
          <p:nvPr/>
        </p:nvSpPr>
        <p:spPr>
          <a:xfrm>
            <a:off x="6858000" y="1828800"/>
            <a:ext cx="4663440" cy="3291840"/>
          </a:xfrm>
          <a:prstGeom prst="rect">
            <a:avLst/>
          </a:prstGeom>
          <a:solidFill>
            <a:srgbClr val="E8F1EE"/>
          </a:solidFill>
          <a:ln w="12700">
            <a:solidFill>
              <a:srgbClr val="3F9488"/>
            </a:solidFill>
            <a:prstDash val="solid"/>
          </a:ln>
        </p:spPr>
      </p:sp>
      <p:sp>
        <p:nvSpPr>
          <p:cNvPr id="12" name="Shape 9"/>
          <p:cNvSpPr/>
          <p:nvPr/>
        </p:nvSpPr>
        <p:spPr>
          <a:xfrm>
            <a:off x="6858000" y="1828800"/>
            <a:ext cx="64008" cy="3291840"/>
          </a:xfrm>
          <a:prstGeom prst="rect">
            <a:avLst/>
          </a:prstGeom>
          <a:solidFill>
            <a:srgbClr val="3F9488"/>
          </a:solidFill>
          <a:ln/>
        </p:spPr>
      </p:sp>
      <p:sp>
        <p:nvSpPr>
          <p:cNvPr id="13" name="Text 10"/>
          <p:cNvSpPr/>
          <p:nvPr/>
        </p:nvSpPr>
        <p:spPr>
          <a:xfrm>
            <a:off x="7086600" y="1993392"/>
            <a:ext cx="420624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14322D"/>
                </a:solidFill>
                <a:latin typeface="Century Gothic" pitchFamily="34" charset="0"/>
                <a:ea typeface="Century Gothic" pitchFamily="34" charset="-122"/>
                <a:cs typeface="Century Gothic" pitchFamily="34" charset="-120"/>
              </a:rPr>
              <a:t>Where to find it</a:t>
            </a:r>
            <a:endParaRPr lang="en-US" sz="1400" dirty="0"/>
          </a:p>
        </p:txBody>
      </p:sp>
      <p:sp>
        <p:nvSpPr>
          <p:cNvPr id="14" name="Text 11"/>
          <p:cNvSpPr/>
          <p:nvPr/>
        </p:nvSpPr>
        <p:spPr>
          <a:xfrm>
            <a:off x="7086600" y="2331720"/>
            <a:ext cx="4206240" cy="11887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50" b="1" dirty="0">
                <a:solidFill>
                  <a:srgbClr val="14322D"/>
                </a:solidFill>
                <a:latin typeface="Century Gothic" pitchFamily="34" charset="0"/>
                <a:ea typeface="Century Gothic" pitchFamily="34" charset="-122"/>
                <a:cs typeface="Century Gothic" pitchFamily="34" charset="-120"/>
              </a:rPr>
              <a:t>Portal:  </a:t>
            </a:r>
            <a:pPr indent="0" marL="0">
              <a:spcAft>
                <a:spcPts val="400"/>
              </a:spcAft>
              <a:buNone/>
            </a:pPr>
            <a:r>
              <a:rPr lang="en-US" sz="1250" dirty="0">
                <a:solidFill>
                  <a:srgbClr val="1A1F1D"/>
                </a:solidFill>
                <a:latin typeface="Century Gothic" pitchFamily="34" charset="0"/>
                <a:ea typeface="Century Gothic" pitchFamily="34" charset="-122"/>
                <a:cs typeface="Century Gothic" pitchFamily="34" charset="-120"/>
              </a:rPr>
              <a:t>books.wiley.com/titles/9781119712619</a:t>
            </a:r>
            <a:endParaRPr lang="en-US" sz="1250" dirty="0"/>
          </a:p>
          <a:p>
            <a:pPr indent="0" marL="0">
              <a:buNone/>
            </a:pPr>
            <a:r>
              <a:rPr lang="en-US" sz="1250" b="1" dirty="0">
                <a:solidFill>
                  <a:srgbClr val="14322D"/>
                </a:solidFill>
                <a:latin typeface="Century Gothic" pitchFamily="34" charset="0"/>
                <a:ea typeface="Century Gothic" pitchFamily="34" charset="-122"/>
                <a:cs typeface="Century Gothic" pitchFamily="34" charset="-120"/>
              </a:rPr>
              <a:t>Password:  </a:t>
            </a:r>
            <a:pPr indent="0" marL="0">
              <a:spcAft>
                <a:spcPts val="400"/>
              </a:spcAft>
              <a:buNone/>
            </a:pPr>
            <a:r>
              <a:rPr lang="en-US" sz="1250" dirty="0">
                <a:solidFill>
                  <a:srgbClr val="1A1F1D"/>
                </a:solidFill>
                <a:latin typeface="Century Gothic" pitchFamily="34" charset="0"/>
                <a:ea typeface="Century Gothic" pitchFamily="34" charset="-122"/>
                <a:cs typeface="Century Gothic" pitchFamily="34" charset="-120"/>
              </a:rPr>
              <a:t>consider</a:t>
            </a:r>
            <a:endParaRPr lang="en-US" sz="1250" dirty="0"/>
          </a:p>
          <a:p>
            <a:pPr indent="0" marL="0">
              <a:buNone/>
            </a:pPr>
            <a:r>
              <a:rPr lang="en-US" sz="1250" b="1" dirty="0">
                <a:solidFill>
                  <a:srgbClr val="14322D"/>
                </a:solidFill>
                <a:latin typeface="Century Gothic" pitchFamily="34" charset="0"/>
                <a:ea typeface="Century Gothic" pitchFamily="34" charset="-122"/>
                <a:cs typeface="Century Gothic" pitchFamily="34" charset="-120"/>
              </a:rPr>
              <a:t>Clips:  </a:t>
            </a:r>
            <a:pPr indent="0" marL="0">
              <a:spcAft>
                <a:spcPts val="1000"/>
              </a:spcAft>
              <a:buNone/>
            </a:pPr>
            <a:r>
              <a:rPr lang="en-US" sz="1250" dirty="0">
                <a:solidFill>
                  <a:srgbClr val="1A1F1D"/>
                </a:solidFill>
                <a:latin typeface="Century Gothic" pitchFamily="34" charset="0"/>
                <a:ea typeface="Century Gothic" pitchFamily="34" charset="-122"/>
                <a:cs typeface="Century Gothic" pitchFamily="34" charset="-120"/>
              </a:rPr>
              <a:t>Check for Understanding; Show Me</a:t>
            </a:r>
            <a:endParaRPr lang="en-US" sz="1250" dirty="0"/>
          </a:p>
        </p:txBody>
      </p:sp>
      <p:sp>
        <p:nvSpPr>
          <p:cNvPr id="15" name="Text 12"/>
          <p:cNvSpPr/>
          <p:nvPr/>
        </p:nvSpPr>
        <p:spPr>
          <a:xfrm>
            <a:off x="7086600" y="3493008"/>
            <a:ext cx="420624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14322D"/>
                </a:solidFill>
                <a:latin typeface="Century Gothic" pitchFamily="34" charset="0"/>
                <a:ea typeface="Century Gothic" pitchFamily="34" charset="-122"/>
                <a:cs typeface="Century Gothic" pitchFamily="34" charset="-120"/>
              </a:rPr>
              <a:t>As you watch</a:t>
            </a:r>
            <a:endParaRPr lang="en-US" sz="1400" dirty="0"/>
          </a:p>
        </p:txBody>
      </p:sp>
      <p:sp>
        <p:nvSpPr>
          <p:cNvPr id="16" name="Text 13"/>
          <p:cNvSpPr/>
          <p:nvPr/>
        </p:nvSpPr>
        <p:spPr>
          <a:xfrm>
            <a:off x="7086600" y="3840480"/>
            <a:ext cx="4251960" cy="11887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342900" indent="-342900">
              <a:spcAft>
                <a:spcPts val="600"/>
              </a:spcAft>
              <a:buSzPct val="100000"/>
              <a:buChar char="•"/>
            </a:pPr>
            <a:r>
              <a:rPr lang="en-US" sz="1200" dirty="0">
                <a:solidFill>
                  <a:srgbClr val="1A1F1D"/>
                </a:solidFill>
                <a:latin typeface="Century Gothic" pitchFamily="34" charset="0"/>
                <a:ea typeface="Century Gothic" pitchFamily="34" charset="-122"/>
                <a:cs typeface="Century Gothic" pitchFamily="34" charset="-120"/>
              </a:rPr>
              <a:t>How does the teacher gather a response from everyone?</a:t>
            </a:r>
            <a:endParaRPr lang="en-US" sz="1200" dirty="0"/>
          </a:p>
          <a:p>
            <a:pPr marL="342900" indent="-342900">
              <a:spcAft>
                <a:spcPts val="600"/>
              </a:spcAft>
              <a:buSzPct val="100000"/>
              <a:buChar char="•"/>
            </a:pPr>
            <a:r>
              <a:rPr lang="en-US" sz="1200" dirty="0">
                <a:solidFill>
                  <a:srgbClr val="1A1F1D"/>
                </a:solidFill>
                <a:latin typeface="Century Gothic" pitchFamily="34" charset="0"/>
                <a:ea typeface="Century Gothic" pitchFamily="34" charset="-122"/>
                <a:cs typeface="Century Gothic" pitchFamily="34" charset="-120"/>
              </a:rPr>
              <a:t>What do they do with what they see?</a:t>
            </a:r>
            <a:endParaRPr lang="en-US" sz="1200" dirty="0"/>
          </a:p>
          <a:p>
            <a:pPr marL="342900" indent="-342900">
              <a:spcAft>
                <a:spcPts val="600"/>
              </a:spcAft>
              <a:buSzPct val="100000"/>
              <a:buChar char="•"/>
            </a:pPr>
            <a:r>
              <a:rPr lang="en-US" sz="1200" dirty="0">
                <a:solidFill>
                  <a:srgbClr val="1A1F1D"/>
                </a:solidFill>
                <a:latin typeface="Century Gothic" pitchFamily="34" charset="0"/>
                <a:ea typeface="Century Gothic" pitchFamily="34" charset="-122"/>
                <a:cs typeface="Century Gothic" pitchFamily="34" charset="-120"/>
              </a:rPr>
              <a:t>Where do they decide to move on, or to reteach?</a:t>
            </a:r>
            <a:endParaRPr lang="en-US" sz="1200" dirty="0"/>
          </a:p>
        </p:txBody>
      </p:sp>
      <p:sp>
        <p:nvSpPr>
          <p:cNvPr id="17" name="Text 14"/>
          <p:cNvSpPr/>
          <p:nvPr/>
        </p:nvSpPr>
        <p:spPr>
          <a:xfrm>
            <a:off x="640080" y="6455664"/>
            <a:ext cx="7315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800" dirty="0">
                <a:solidFill>
                  <a:srgbClr val="6B736E"/>
                </a:solidFill>
                <a:latin typeface="Century Gothic" pitchFamily="34" charset="0"/>
                <a:ea typeface="Century Gothic" pitchFamily="34" charset="-122"/>
                <a:cs typeface="Century Gothic" pitchFamily="34" charset="-120"/>
              </a:rPr>
              <a:t>Teaching Excellence Programme · Checking for Understanding</a:t>
            </a:r>
            <a:endParaRPr lang="en-US" sz="800" dirty="0"/>
          </a:p>
        </p:txBody>
      </p:sp>
      <p:sp>
        <p:nvSpPr>
          <p:cNvPr id="18" name="Text 15"/>
          <p:cNvSpPr/>
          <p:nvPr/>
        </p:nvSpPr>
        <p:spPr>
          <a:xfrm>
            <a:off x="7891272" y="6455664"/>
            <a:ext cx="3657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6B736E"/>
                </a:solidFill>
                <a:latin typeface="Century Gothic" pitchFamily="34" charset="0"/>
                <a:ea typeface="Century Gothic" pitchFamily="34" charset="-122"/>
                <a:cs typeface="Century Gothic" pitchFamily="34" charset="-120"/>
              </a:rPr>
              <a:t>A Nishkam Schools programme</a:t>
            </a:r>
            <a:pPr algn="r" indent="0" marL="0">
              <a:buNone/>
            </a:pPr>
            <a:r>
              <a:rPr lang="en-US" sz="800" dirty="0">
                <a:solidFill>
                  <a:srgbClr val="6B736E"/>
                </a:solidFill>
                <a:latin typeface="Century Gothic" pitchFamily="34" charset="0"/>
                <a:ea typeface="Century Gothic" pitchFamily="34" charset="-122"/>
                <a:cs typeface="Century Gothic" pitchFamily="34" charset="-120"/>
              </a:rPr>
              <a:t>    ·    14</a:t>
            </a:r>
            <a:endParaRPr lang="en-US" sz="800" dirty="0"/>
          </a:p>
        </p:txBody>
      </p:sp>
    </p:spTree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5">
    <p:bg>
      <p:bgPr>
        <a:solidFill>
          <a:srgbClr val="14322D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Image 0" descr="assets/crest_light.png">    </p:cNvPr>
          <p:cNvPicPr>
            <a:picLocks noChangeAspect="1"/>
          </p:cNvPicPr>
          <p:nvPr/>
        </p:nvPicPr>
        <p:blipFill>
          <a:blip r:embed="rId1">
            <a:alphaModFix amt="16000"/>
          </a:blip>
          <a:stretch>
            <a:fillRect/>
          </a:stretch>
        </p:blipFill>
        <p:spPr>
          <a:xfrm>
            <a:off x="7772400" y="3200400"/>
            <a:ext cx="3931920" cy="3419856"/>
          </a:xfrm>
          <a:prstGeom prst="rect">
            <a:avLst/>
          </a:prstGeom>
        </p:spPr>
      </p:pic>
      <p:sp>
        <p:nvSpPr>
          <p:cNvPr id="3" name="Shape 0"/>
          <p:cNvSpPr/>
          <p:nvPr/>
        </p:nvSpPr>
        <p:spPr>
          <a:xfrm>
            <a:off x="640080" y="1737360"/>
            <a:ext cx="201168" cy="201168"/>
          </a:xfrm>
          <a:prstGeom prst="rect">
            <a:avLst/>
          </a:prstGeom>
          <a:solidFill>
            <a:srgbClr val="B07D2B"/>
          </a:solidFill>
          <a:ln/>
        </p:spPr>
      </p:sp>
      <p:sp>
        <p:nvSpPr>
          <p:cNvPr id="4" name="Text 1"/>
          <p:cNvSpPr/>
          <p:nvPr/>
        </p:nvSpPr>
        <p:spPr>
          <a:xfrm>
            <a:off x="1005840" y="1664208"/>
            <a:ext cx="91440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spc="200" kern="0" dirty="0">
                <a:solidFill>
                  <a:srgbClr val="BFE0D7"/>
                </a:solidFill>
                <a:latin typeface="Century Gothic" pitchFamily="34" charset="0"/>
                <a:ea typeface="Century Gothic" pitchFamily="34" charset="-122"/>
                <a:cs typeface="Century Gothic" pitchFamily="34" charset="-120"/>
              </a:rPr>
              <a:t>Next steps</a:t>
            </a:r>
            <a:endParaRPr lang="en-US" sz="1300" dirty="0"/>
          </a:p>
        </p:txBody>
      </p:sp>
      <p:sp>
        <p:nvSpPr>
          <p:cNvPr id="5" name="Text 2"/>
          <p:cNvSpPr/>
          <p:nvPr/>
        </p:nvSpPr>
        <p:spPr>
          <a:xfrm>
            <a:off x="640080" y="2377440"/>
            <a:ext cx="10058400" cy="27432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spcAft>
                <a:spcPts val="1600"/>
              </a:spcAft>
              <a:buNone/>
            </a:pPr>
            <a:r>
              <a:rPr lang="en-US" sz="2200" b="1" dirty="0">
                <a:solidFill>
                  <a:srgbClr val="FFFFFF"/>
                </a:solidFill>
                <a:latin typeface="Century Gothic" pitchFamily="34" charset="0"/>
                <a:ea typeface="Century Gothic" pitchFamily="34" charset="-122"/>
                <a:cs typeface="Century Gothic" pitchFamily="34" charset="-120"/>
              </a:rPr>
              <a:t>Plan one hinge question for an upcoming lesson.</a:t>
            </a:r>
            <a:endParaRPr lang="en-US" sz="2200" dirty="0"/>
          </a:p>
          <a:p>
            <a:pPr indent="0" marL="0">
              <a:spcAft>
                <a:spcPts val="1600"/>
              </a:spcAft>
              <a:buNone/>
            </a:pPr>
            <a:r>
              <a:rPr lang="en-US" sz="2200" b="1" dirty="0">
                <a:solidFill>
                  <a:srgbClr val="FFFFFF"/>
                </a:solidFill>
                <a:latin typeface="Century Gothic" pitchFamily="34" charset="0"/>
                <a:ea typeface="Century Gothic" pitchFamily="34" charset="-122"/>
                <a:cs typeface="Century Gothic" pitchFamily="34" charset="-120"/>
              </a:rPr>
              <a:t>Run the mini-whiteboard routine, holding the silent thinking time.</a:t>
            </a:r>
            <a:endParaRPr lang="en-US" sz="2200" dirty="0"/>
          </a:p>
          <a:p>
            <a:pPr indent="0" marL="0">
              <a:spcAft>
                <a:spcPts val="1600"/>
              </a:spcAft>
              <a:buNone/>
            </a:pPr>
            <a:r>
              <a:rPr lang="en-US" sz="2200" b="1" dirty="0">
                <a:solidFill>
                  <a:srgbClr val="FFFFFF"/>
                </a:solidFill>
                <a:latin typeface="Century Gothic" pitchFamily="34" charset="0"/>
                <a:ea typeface="Century Gothic" pitchFamily="34" charset="-122"/>
                <a:cs typeface="Century Gothic" pitchFamily="34" charset="-120"/>
              </a:rPr>
              <a:t>Plan your next independent phase as circulation with three jobs.</a:t>
            </a:r>
            <a:endParaRPr lang="en-US" sz="2200" dirty="0"/>
          </a:p>
          <a:p>
            <a:pPr indent="0" marL="0">
              <a:buNone/>
            </a:pPr>
            <a:r>
              <a:rPr lang="en-US" sz="2200" b="1" dirty="0">
                <a:solidFill>
                  <a:srgbClr val="FFFFFF"/>
                </a:solidFill>
                <a:latin typeface="Century Gothic" pitchFamily="34" charset="0"/>
                <a:ea typeface="Century Gothic" pitchFamily="34" charset="-122"/>
                <a:cs typeface="Century Gothic" pitchFamily="34" charset="-120"/>
              </a:rPr>
              <a:t>Read the Pillar 4 modules online for the worked detail.</a:t>
            </a:r>
            <a:endParaRPr lang="en-US" sz="2200" dirty="0"/>
          </a:p>
        </p:txBody>
      </p:sp>
      <p:sp>
        <p:nvSpPr>
          <p:cNvPr id="6" name="Text 3"/>
          <p:cNvSpPr/>
          <p:nvPr/>
        </p:nvSpPr>
        <p:spPr>
          <a:xfrm>
            <a:off x="640080" y="6309360"/>
            <a:ext cx="100584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8FB8AE"/>
                </a:solidFill>
                <a:latin typeface="Century Gothic" pitchFamily="34" charset="0"/>
                <a:ea typeface="Century Gothic" pitchFamily="34" charset="-122"/>
                <a:cs typeface="Century Gothic" pitchFamily="34" charset="-120"/>
              </a:rPr>
              <a:t>A Nishkam Schools professional development programme</a:t>
            </a:r>
            <a:endParaRPr lang="en-US" sz="1100" dirty="0"/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Office PowerPoint</Application>
  <PresentationFormat>On-screen Show (16:9)</PresentationFormat>
  <Paragraphs>0</Paragraphs>
  <Slides>15</Slides>
  <Notes>15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15</vt:i4>
      </vt:variant>
    </vt:vector>
  </HeadingPairs>
  <TitlesOfParts>
    <vt:vector size="18" baseType="lpstr">
      <vt:lpstr>Arial</vt:lpstr>
      <vt:lpstr>Calibri</vt:lpstr>
      <vt:lpstr>Office Theme</vt:lpstr>
      <vt:lpstr>Slide 1</vt:lpstr>
      <vt:lpstr>Slide 2</vt:lpstr>
      <vt:lpstr>Slide 3</vt:lpstr>
      <vt:lpstr>Slide 4</vt:lpstr>
      <vt:lpstr>Slide 5</vt:lpstr>
      <vt:lpstr>Slide 6</vt:lpstr>
      <vt:lpstr>Slide 7</vt:lpstr>
      <vt:lpstr>Slide 8</vt:lpstr>
      <vt:lpstr>Slide 9</vt:lpstr>
      <vt:lpstr>Slide 10</vt:lpstr>
      <vt:lpstr>Slide 11</vt:lpstr>
      <vt:lpstr>Slide 12</vt:lpstr>
      <vt:lpstr>Slide 13</vt:lpstr>
      <vt:lpstr>Slide 14</vt:lpstr>
      <vt:lpstr>Slide 15</vt:lpstr>
    </vt:vector>
  </TitlesOfParts>
  <Company>PptxGenJS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Pillar 4 — facilitator deck</dc:title>
  <dc:subject>PptxGenJS Presentation</dc:subject>
  <dc:creator>Nishkam Schools</dc:creator>
  <cp:lastModifiedBy>Nishkam Schools</cp:lastModifiedBy>
  <cp:revision>1</cp:revision>
  <dcterms:created xsi:type="dcterms:W3CDTF">2026-06-16T20:51:09Z</dcterms:created>
  <dcterms:modified xsi:type="dcterms:W3CDTF">2026-06-16T20:51:09Z</dcterms:modified>
</cp:coreProperties>
</file>