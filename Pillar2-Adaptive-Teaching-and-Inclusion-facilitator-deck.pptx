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2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_light.png">    </p:cNvPr>
          <p:cNvPicPr>
            <a:picLocks noChangeAspect="1"/>
          </p:cNvPicPr>
          <p:nvPr/>
        </p:nvPicPr>
        <p:blipFill>
          <a:blip r:embed="rId1">
            <a:alphaModFix amt="16000"/>
          </a:blip>
          <a:stretch>
            <a:fillRect/>
          </a:stretch>
        </p:blipFill>
        <p:spPr>
          <a:xfrm>
            <a:off x="7772400" y="3200400"/>
            <a:ext cx="3931920" cy="34198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1554480"/>
            <a:ext cx="201168" cy="201168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1005840" y="14813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FE0D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 ·  Pillar Two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40080" y="210312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Adaptive Teaching &amp; Inclusion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640080" y="33832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BFE0D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One ambitious curriculum, made accessible to every pupil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640080" y="5120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Facilitator session</a:t>
            </a:r>
            <a:pPr indent="0" marL="0">
              <a:buNone/>
            </a:pPr>
            <a:r>
              <a:rPr lang="en-US" sz="1400" dirty="0">
                <a:solidFill>
                  <a:srgbClr val="BFE0D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·   pairs with the Adaptive Teaching &amp; Inclusion booklet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63093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8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professional development programme developed by Nishkam Schools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ONE PROGRAMME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Six pillars, one shared method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85800" y="1874520"/>
            <a:ext cx="58521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5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· Behaviour &amp; Climate</a:t>
            </a:r>
            <a:endParaRPr lang="en-US" sz="15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5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· Adaptive Teaching &amp; Inclusion</a:t>
            </a:r>
            <a:endParaRPr lang="en-US" sz="15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5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· Instruction &amp; Modelling</a:t>
            </a:r>
            <a:endParaRPr lang="en-US" sz="15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5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 · Checking for Understanding</a:t>
            </a:r>
            <a:endParaRPr lang="en-US" sz="15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5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 · Questioning &amp; Classroom Dialogue</a:t>
            </a:r>
            <a:endParaRPr lang="en-US" sz="15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5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 · Standards &amp; Curriculum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2290572"/>
            <a:ext cx="64008" cy="292608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8" name="Shape 5"/>
          <p:cNvSpPr/>
          <p:nvPr/>
        </p:nvSpPr>
        <p:spPr>
          <a:xfrm>
            <a:off x="6858000" y="1783080"/>
            <a:ext cx="4663440" cy="3977640"/>
          </a:xfrm>
          <a:prstGeom prst="rect">
            <a:avLst/>
          </a:prstGeom>
          <a:solidFill>
            <a:srgbClr val="E8F1EE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0" y="1783080"/>
            <a:ext cx="64008" cy="397764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10" name="Image 1" descr="assets/icon1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4032" y="1993392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80960" y="20116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How teachers use it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7114032" y="2606040"/>
            <a:ext cx="4206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Independent study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booklet, worked through alone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Coaching quartets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three or four colleagues rehearse together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Class teams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adapting each method to your class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Whole-school CPD</a:t>
            </a:r>
            <a:endParaRPr lang="en-US" sz="1350" dirty="0"/>
          </a:p>
          <a:p>
            <a:pPr indent="0" marL="0">
              <a:buNone/>
            </a:pPr>
            <a:r>
              <a:rPr lang="en-US" sz="12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this session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Adaptive Teaching &amp; Inclusion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THIS SESSION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this hour does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40080" y="1965960"/>
            <a:ext cx="77724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7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Replace ‘differentiation’ with adaptive teaching: one ambitious curriculum, adjusted in the moment.</a:t>
            </a:r>
            <a:endParaRPr lang="en-US" sz="17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7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Walk the inclusive classroom, adaptive teaching, and the SEND intervention.</a:t>
            </a:r>
            <a:endParaRPr lang="en-US" sz="17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7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Rehearse building a scaffold that is designed to be removed.</a:t>
            </a:r>
            <a:endParaRPr lang="en-US" sz="17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7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Leave with one adaptation to make consistently for the pupil who needs it most.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8869680" y="1965960"/>
            <a:ext cx="2651760" cy="2651760"/>
          </a:xfrm>
          <a:prstGeom prst="rect">
            <a:avLst/>
          </a:prstGeom>
          <a:solidFill>
            <a:srgbClr val="F4ECE0"/>
          </a:solidFill>
          <a:ln w="12700">
            <a:solidFill>
              <a:srgbClr val="B07D2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869680" y="1965960"/>
            <a:ext cx="64008" cy="2651760"/>
          </a:xfrm>
          <a:prstGeom prst="rect">
            <a:avLst/>
          </a:prstGeom>
          <a:solidFill>
            <a:srgbClr val="B07D2B"/>
          </a:solidFill>
          <a:ln/>
        </p:spPr>
      </p:sp>
      <p:pic>
        <p:nvPicPr>
          <p:cNvPr id="9" name="Image 1" descr="assets/icon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2194560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098280" y="26974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Keep the booklet open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9098280" y="324612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slides lead the room; the booklet is where you record your thinking and the tasks.</a:t>
            </a:r>
            <a:endParaRPr lang="en-US" sz="1250" dirty="0"/>
          </a:p>
        </p:txBody>
      </p:sp>
      <p:pic>
        <p:nvPicPr>
          <p:cNvPr id="12" name="Image 2" descr="assets/icon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495544"/>
            <a:ext cx="310896" cy="3108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7280" y="5477256"/>
            <a:ext cx="10451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Discuss  </a:t>
            </a:r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Think of a pupil who finds your lessons hardest. What gets them into the work?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Adaptive Teaching &amp; Inclusion</a:t>
            </a:r>
            <a:endParaRPr lang="en-US" sz="800" dirty="0"/>
          </a:p>
        </p:txBody>
      </p:sp>
      <p:sp>
        <p:nvSpPr>
          <p:cNvPr id="15" name="Text 10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WHY THIS MATTERS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Helping the pupil who finds the work hard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074920" cy="3154680"/>
          </a:xfrm>
          <a:prstGeom prst="rect">
            <a:avLst/>
          </a:prstGeom>
          <a:solidFill>
            <a:srgbClr val="F4F1EC"/>
          </a:solidFill>
          <a:ln w="12700">
            <a:solidFill>
              <a:srgbClr val="C0613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783080"/>
            <a:ext cx="64008" cy="3154680"/>
          </a:xfrm>
          <a:prstGeom prst="rect">
            <a:avLst/>
          </a:prstGeom>
          <a:solidFill>
            <a:srgbClr val="C0613F"/>
          </a:solidFill>
          <a:ln/>
        </p:spPr>
      </p:sp>
      <p:pic>
        <p:nvPicPr>
          <p:cNvPr id="8" name="Image 1" descr="assets/icon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920240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192024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483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Differentiation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68680" y="2423160"/>
            <a:ext cx="4617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different, easier worksheet.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Expectations quietly lowered.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 adult who does the work for them.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gap widens over the year.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126480" y="1783080"/>
            <a:ext cx="5074920" cy="3154680"/>
          </a:xfrm>
          <a:prstGeom prst="rect">
            <a:avLst/>
          </a:prstGeom>
          <a:solidFill>
            <a:srgbClr val="E8F1EE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126480" y="1783080"/>
            <a:ext cx="64008" cy="315468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13" name="Image 2" descr="assets/icon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920240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858000" y="192024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Adaptive teaching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355080" y="2423160"/>
            <a:ext cx="4617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same ambitious task, with a scaffold.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Expectations held; the route adjusted.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 adult who builds independence.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scaffold fades as success grows.</a:t>
            </a:r>
            <a:endParaRPr lang="en-US" sz="1300" dirty="0"/>
          </a:p>
        </p:txBody>
      </p:sp>
      <p:pic>
        <p:nvPicPr>
          <p:cNvPr id="16" name="Image 3" descr="assets/icon9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175504"/>
            <a:ext cx="310896" cy="31089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97280" y="5157216"/>
            <a:ext cx="10451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Discuss  </a:t>
            </a:r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Which is closer to how you currently support your lowest 20%?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Adaptive Teaching &amp; Inclusion</a:t>
            </a:r>
            <a:endParaRPr lang="en-US" sz="800" dirty="0"/>
          </a:p>
        </p:txBody>
      </p:sp>
      <p:sp>
        <p:nvSpPr>
          <p:cNvPr id="19" name="Text 13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32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_light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2286000"/>
            <a:ext cx="201168" cy="201168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2606040"/>
            <a:ext cx="10424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Adaptation keeps the work demanding for everyone, and gives the pupils who need it a way in.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40080" y="44805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FE0D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the ordinary lesson well is the most important thing a school does for pupils with SEND.  </a:t>
            </a:r>
            <a:pPr indent="0" marL="0">
              <a:buNone/>
            </a:pPr>
            <a:r>
              <a:rPr lang="en-US" sz="1600" dirty="0">
                <a:solidFill>
                  <a:srgbClr val="8FB8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— after the EEF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MOVES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Four moves of adaptive teaching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5074920" cy="1554480"/>
          </a:xfrm>
          <a:prstGeom prst="rect">
            <a:avLst/>
          </a:prstGeom>
          <a:solidFill>
            <a:srgbClr val="F7FAF8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828800"/>
            <a:ext cx="64008" cy="155448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8" name="Image 1" descr="assets/icon1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066544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8760" y="204825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Explicit teaching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96112" y="257860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Clear goals and success criteria; pupils can say what they are learning (SP6).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126480" y="1828800"/>
            <a:ext cx="5074920" cy="1554480"/>
          </a:xfrm>
          <a:prstGeom prst="rect">
            <a:avLst/>
          </a:prstGeom>
          <a:solidFill>
            <a:srgbClr val="F7FAF8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126480" y="1828800"/>
            <a:ext cx="64008" cy="155448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13" name="Image 2" descr="assets/icon1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2066544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95160" y="204825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Scaffolding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382512" y="257860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Temporary support for a hard task, designed to be removed (SP7).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3703320"/>
            <a:ext cx="5074920" cy="1554480"/>
          </a:xfrm>
          <a:prstGeom prst="rect">
            <a:avLst/>
          </a:prstGeom>
          <a:solidFill>
            <a:srgbClr val="F7FAF8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0080" y="3703320"/>
            <a:ext cx="64008" cy="155448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18" name="Image 3" descr="assets/icon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3941064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08760" y="392277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Responsive checks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896112" y="445312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AfL embedded; teaching adjusted in response to what pupils show (SP5).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126480" y="3703320"/>
            <a:ext cx="5074920" cy="1554480"/>
          </a:xfrm>
          <a:prstGeom prst="rect">
            <a:avLst/>
          </a:prstGeom>
          <a:solidFill>
            <a:srgbClr val="F7FAF8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126480" y="3703320"/>
            <a:ext cx="64008" cy="155448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23" name="Image 4" descr="assets/icon1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512" y="3941064"/>
            <a:ext cx="457200" cy="4572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995160" y="392277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Additional adults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6382512" y="445312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Deployed to build independence, not reliance (SP8).</a:t>
            </a:r>
            <a:endParaRPr lang="en-US" sz="1250" dirty="0"/>
          </a:p>
        </p:txBody>
      </p:sp>
      <p:pic>
        <p:nvPicPr>
          <p:cNvPr id="26" name="Image 5" descr="assets/icon9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5495544"/>
            <a:ext cx="310896" cy="31089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097280" y="5477256"/>
            <a:ext cx="10451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Discuss  </a:t>
            </a:r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Which move is strongest in your practice, and which is weakest?</a:t>
            </a:r>
            <a:endParaRPr lang="en-US" sz="1250" dirty="0"/>
          </a:p>
        </p:txBody>
      </p:sp>
      <p:sp>
        <p:nvSpPr>
          <p:cNvPr id="28" name="Text 20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Adaptive Teaching &amp; Inclusion</a:t>
            </a:r>
            <a:endParaRPr lang="en-US" sz="800" dirty="0"/>
          </a:p>
        </p:txBody>
      </p:sp>
      <p:sp>
        <p:nvSpPr>
          <p:cNvPr id="29" name="Text 21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THINKING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Where this comes from</a:t>
            </a:r>
            <a:endParaRPr lang="en-US" sz="2700" dirty="0"/>
          </a:p>
        </p:txBody>
      </p:sp>
      <p:pic>
        <p:nvPicPr>
          <p:cNvPr id="6" name="Image 1" descr="assets/icon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25880" y="1828800"/>
            <a:ext cx="7040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EEF —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‘five-a-day’: explicit instruction, scaffolding, flexible grouping, metacognition, technology — good for all, essential for some.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Quality-first teaching —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most powerful SEND provision is the ordinary lesson, taught well.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Barak Rosenshine —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scaffolds provide temporary support for a difficult task, and are gradually removed.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High expectations — </a:t>
            </a:r>
            <a:pPr indent="0" marL="0">
              <a:buNone/>
            </a:pPr>
            <a:r>
              <a:rPr lang="en-US" sz="15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pupils with SEND and the disadvantaged are entitled to the same rich content as their peers.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8686800" y="1828800"/>
            <a:ext cx="2834640" cy="2377440"/>
          </a:xfrm>
          <a:prstGeom prst="rect">
            <a:avLst/>
          </a:prstGeom>
          <a:solidFill>
            <a:srgbClr val="F4ECE0"/>
          </a:solidFill>
          <a:ln w="12700">
            <a:solidFill>
              <a:srgbClr val="B07D2B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686800" y="1828800"/>
            <a:ext cx="64008" cy="2377440"/>
          </a:xfrm>
          <a:prstGeom prst="rect">
            <a:avLst/>
          </a:prstGeom>
          <a:solidFill>
            <a:srgbClr val="B07D2B"/>
          </a:solidFill>
          <a:ln/>
        </p:spPr>
      </p:sp>
      <p:pic>
        <p:nvPicPr>
          <p:cNvPr id="10" name="Image 2" descr="assets/icon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0" y="201168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326880" y="2011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Discuss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8915400" y="256032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Where do your expectations quietly drop — and how would you hold them instead?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640080" y="57150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EEF, Special Educational Needs in Mainstream Schools · Rosenshine, Principles of Instruction.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Adaptive Teaching &amp; Inclusion</a:t>
            </a:r>
            <a:endParaRPr lang="en-US" sz="800" dirty="0"/>
          </a:p>
        </p:txBody>
      </p:sp>
      <p:sp>
        <p:nvSpPr>
          <p:cNvPr id="15" name="Text 10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PILLAR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same curriculum, reached by different routes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3453384" cy="566928"/>
          </a:xfrm>
          <a:prstGeom prst="rect">
            <a:avLst/>
          </a:prstGeom>
          <a:solidFill>
            <a:srgbClr val="3F9488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828800"/>
            <a:ext cx="3453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ROOM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2395728"/>
            <a:ext cx="3453384" cy="2816352"/>
          </a:xfrm>
          <a:prstGeom prst="rect">
            <a:avLst/>
          </a:prstGeom>
          <a:solidFill>
            <a:srgbClr val="F7FAF8"/>
          </a:solidFill>
          <a:ln/>
        </p:spPr>
      </p:sp>
      <p:sp>
        <p:nvSpPr>
          <p:cNvPr id="9" name="Text 6"/>
          <p:cNvSpPr/>
          <p:nvPr/>
        </p:nvSpPr>
        <p:spPr>
          <a:xfrm>
            <a:off x="804672" y="2560320"/>
            <a:ext cx="3142488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Calm, uncluttered, predictable (SP1)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Consistent routines and visuals (SP2)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Additional adults build independence (SP8)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67784" y="1828800"/>
            <a:ext cx="3453384" cy="566928"/>
          </a:xfrm>
          <a:prstGeom prst="rect">
            <a:avLst/>
          </a:prstGeom>
          <a:solidFill>
            <a:srgbClr val="14322D"/>
          </a:solidFill>
          <a:ln/>
        </p:spPr>
      </p:sp>
      <p:sp>
        <p:nvSpPr>
          <p:cNvPr id="11" name="Text 8"/>
          <p:cNvSpPr/>
          <p:nvPr/>
        </p:nvSpPr>
        <p:spPr>
          <a:xfrm>
            <a:off x="4367784" y="1828800"/>
            <a:ext cx="3453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LESSON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367784" y="2395728"/>
            <a:ext cx="3453384" cy="2816352"/>
          </a:xfrm>
          <a:prstGeom prst="rect">
            <a:avLst/>
          </a:prstGeom>
          <a:solidFill>
            <a:srgbClr val="F7FAF8"/>
          </a:solidFill>
          <a:ln/>
        </p:spPr>
      </p:sp>
      <p:sp>
        <p:nvSpPr>
          <p:cNvPr id="13" name="Text 10"/>
          <p:cNvSpPr/>
          <p:nvPr/>
        </p:nvSpPr>
        <p:spPr>
          <a:xfrm>
            <a:off x="4532376" y="2560320"/>
            <a:ext cx="3142488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Adaptive explanation and modelling (SP3)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Concrete resources and scaffolds (SP4, SP7)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AfL embedded; adjust in response (SP5)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095488" y="1828800"/>
            <a:ext cx="3453384" cy="566928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15" name="Text 12"/>
          <p:cNvSpPr/>
          <p:nvPr/>
        </p:nvSpPr>
        <p:spPr>
          <a:xfrm>
            <a:off x="8095488" y="1828800"/>
            <a:ext cx="3453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INTERVENTION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8095488" y="2395728"/>
            <a:ext cx="3453384" cy="2816352"/>
          </a:xfrm>
          <a:prstGeom prst="rect">
            <a:avLst/>
          </a:prstGeom>
          <a:solidFill>
            <a:srgbClr val="F7FAF8"/>
          </a:solidFill>
          <a:ln/>
        </p:spPr>
      </p:sp>
      <p:sp>
        <p:nvSpPr>
          <p:cNvPr id="17" name="Text 14"/>
          <p:cNvSpPr/>
          <p:nvPr/>
        </p:nvSpPr>
        <p:spPr>
          <a:xfrm>
            <a:off x="8260080" y="2560320"/>
            <a:ext cx="3142488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Clear purpose and target (Int1–Int2)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Broken into steps (Int4)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Feedback loop to the teacher (Int9)</a:t>
            </a:r>
            <a:endParaRPr lang="en-US" sz="1200" dirty="0"/>
          </a:p>
        </p:txBody>
      </p:sp>
      <p:pic>
        <p:nvPicPr>
          <p:cNvPr id="18" name="Image 1" descr="assets/icon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49824"/>
            <a:ext cx="310896" cy="31089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097280" y="5431536"/>
            <a:ext cx="10451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Discuss  </a:t>
            </a:r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Which of the three is least secure in your practice right now?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640080" y="59436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same ambitious curriculum throughout; only the route changes.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Adaptive Teaching &amp; Inclusion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NISHKAM FRAME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Inclusion and the virtue of service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874520"/>
            <a:ext cx="10908792" cy="3200400"/>
          </a:xfrm>
          <a:prstGeom prst="rect">
            <a:avLst/>
          </a:prstGeom>
          <a:solidFill>
            <a:srgbClr val="F4ECE0"/>
          </a:solidFill>
          <a:ln w="12700">
            <a:solidFill>
              <a:srgbClr val="B07D2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874520"/>
            <a:ext cx="64008" cy="3200400"/>
          </a:xfrm>
          <a:prstGeom prst="rect">
            <a:avLst/>
          </a:prstGeom>
          <a:solidFill>
            <a:srgbClr val="B07D2B"/>
          </a:solidFill>
          <a:ln/>
        </p:spPr>
      </p:sp>
      <p:pic>
        <p:nvPicPr>
          <p:cNvPr id="8" name="Image 1" descr="assets/crest.png">    </p:cNvPr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10287000" y="3794760"/>
            <a:ext cx="914400" cy="79552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5840" y="2103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 Nishkam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005840" y="2606040"/>
            <a:ext cx="6309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Determination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— the refusal to let any pupil fall outside the lesson.</a:t>
            </a:r>
            <a:endParaRPr lang="en-US" sz="1550" dirty="0"/>
          </a:p>
          <a:p>
            <a:pPr indent="0" marL="0">
              <a:buNone/>
            </a:pPr>
            <a:r>
              <a:rPr lang="en-US" sz="155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Peacefulness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— the calm, predictable room that removes barriers before they arise.</a:t>
            </a:r>
            <a:endParaRPr lang="en-US" sz="1550" dirty="0"/>
          </a:p>
          <a:p>
            <a:pPr indent="0" marL="0">
              <a:buNone/>
            </a:pPr>
            <a:r>
              <a:rPr lang="en-US" sz="155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Diligence </a:t>
            </a:r>
            <a:pPr indent="0" marL="0">
              <a:buNone/>
            </a:pPr>
            <a:r>
              <a:rPr lang="en-US" sz="15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— the care to plan the scaffold, and the discipline to fade it.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7315200" y="2697480"/>
            <a:ext cx="4023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For any school:  </a:t>
            </a:r>
            <a:pPr indent="0" marL="0">
              <a:buNone/>
            </a:pPr>
            <a:r>
              <a:rPr lang="en-US" sz="14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Shape the lesson around the pupil who needs it most, and it works better for everyone.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Adaptive Teaching &amp; Inclusion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GOOD LOOKS LIKE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SEND Provision checklist</a:t>
            </a:r>
            <a:endParaRPr lang="en-US" sz="27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85039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75895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4322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SP1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Calm, uncluttered room, arranged for needs.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4322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SP2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Consistent routines, visuals, predictable change.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4322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SP3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Adaptive teaching evident, in line with plans.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4322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SP5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AfL embedded; teaching adapted in response.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4322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SP7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Tasks scaffolded and matched, ambition held.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4322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SP8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F1D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Additional adults build independence.</a:t>
                      </a:r>
                      <a:endParaRPr lang="en-US" sz="11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9326880" y="1783080"/>
            <a:ext cx="2194560" cy="2103120"/>
          </a:xfrm>
          <a:prstGeom prst="rect">
            <a:avLst/>
          </a:prstGeom>
          <a:solidFill>
            <a:srgbClr val="E8F1EE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9326880" y="1783080"/>
            <a:ext cx="64008" cy="210312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9" name="Image 1" descr="assets/icon1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8048" y="1938528"/>
            <a:ext cx="384048" cy="38404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528048" y="2423160"/>
            <a:ext cx="1874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Use this to observe, or to be observed.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640080" y="5806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Full SP and Int items sit behind the modules online.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Adaptive Teaching &amp; Inclusion</a:t>
            </a:r>
            <a:endParaRPr lang="en-US" sz="800" dirty="0"/>
          </a:p>
        </p:txBody>
      </p:sp>
      <p:sp>
        <p:nvSpPr>
          <p:cNvPr id="13" name="Text 8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DELIBERATE PRACTICE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Rehearse a fading scaffold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212080" cy="3611880"/>
          </a:xfrm>
          <a:prstGeom prst="rect">
            <a:avLst/>
          </a:prstGeom>
          <a:solidFill>
            <a:srgbClr val="F7FAF8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783080"/>
            <a:ext cx="64008" cy="361188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8" name="Image 1" descr="assets/icon1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196596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44752" y="19659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set-up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96112" y="2560320"/>
            <a:ext cx="4709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 pairs, take one task pupils find hard. Design a scaffold for it — a frame, a part-worked example, a word bank — then plan the two stages by which you would remove it, and the signal that says a pupil is ready.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126480" y="1783080"/>
            <a:ext cx="5120640" cy="3611880"/>
          </a:xfrm>
          <a:prstGeom prst="rect">
            <a:avLst/>
          </a:prstGeom>
          <a:solidFill>
            <a:srgbClr val="F4ECE0"/>
          </a:solidFill>
          <a:ln w="12700">
            <a:solidFill>
              <a:srgbClr val="B07D2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126480" y="1783080"/>
            <a:ext cx="64008" cy="3611880"/>
          </a:xfrm>
          <a:prstGeom prst="rect">
            <a:avLst/>
          </a:prstGeom>
          <a:solidFill>
            <a:srgbClr val="B07D2B"/>
          </a:solidFill>
          <a:ln/>
        </p:spPr>
      </p:sp>
      <p:pic>
        <p:nvPicPr>
          <p:cNvPr id="13" name="Image 2" descr="assets/icon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196596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31152" y="19659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Coach, watch for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382512" y="2560320"/>
            <a:ext cx="4617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scaffold reaches the same ambitious task, not an easier one.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It is temporary by design, with a fade plan.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success criteria stay explicit.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Independence is the goal, not reliance.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clear signal for when to remove it.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640080" y="57150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scaffold with no plan to remove it is just permanent help.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Adaptive Teaching &amp; Inclusion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INTERVENTION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purposeful SEND intervention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810512"/>
            <a:ext cx="5074920" cy="1463040"/>
          </a:xfrm>
          <a:prstGeom prst="rect">
            <a:avLst/>
          </a:prstGeom>
          <a:solidFill>
            <a:srgbClr val="F7FAF8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810512"/>
            <a:ext cx="64008" cy="146304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8" name="Image 1" descr="assets/icon1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011680"/>
            <a:ext cx="420624" cy="42062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199339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Clear purpose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96112" y="24688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Guidance from CT/SLT/SENDCO followed; the target known (Int1–Int2).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126480" y="1810512"/>
            <a:ext cx="5074920" cy="1463040"/>
          </a:xfrm>
          <a:prstGeom prst="rect">
            <a:avLst/>
          </a:prstGeom>
          <a:solidFill>
            <a:srgbClr val="F7FAF8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126480" y="1810512"/>
            <a:ext cx="64008" cy="146304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13" name="Image 2" descr="assets/icon1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2011680"/>
            <a:ext cx="420624" cy="42062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49440" y="199339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Prepared and stepped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6382512" y="24688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Resources ready; learning broken into clear steps (Int3–Int4).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3566160"/>
            <a:ext cx="5074920" cy="1463040"/>
          </a:xfrm>
          <a:prstGeom prst="rect">
            <a:avLst/>
          </a:prstGeom>
          <a:solidFill>
            <a:srgbClr val="F7FAF8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0080" y="3566160"/>
            <a:ext cx="64008" cy="146304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18" name="Image 3" descr="assets/icon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3767328"/>
            <a:ext cx="420624" cy="42062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63040" y="374904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Progress in the session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896112" y="422452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pupil is engaged, supported, and moves forward (Int5–Int7).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126480" y="3566160"/>
            <a:ext cx="5074920" cy="1463040"/>
          </a:xfrm>
          <a:prstGeom prst="rect">
            <a:avLst/>
          </a:prstGeom>
          <a:solidFill>
            <a:srgbClr val="F7FAF8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126480" y="3566160"/>
            <a:ext cx="64008" cy="1463040"/>
          </a:xfrm>
          <a:prstGeom prst="rect">
            <a:avLst/>
          </a:prstGeom>
          <a:solidFill>
            <a:srgbClr val="3F9488"/>
          </a:solidFill>
          <a:ln/>
        </p:spPr>
      </p:sp>
      <p:pic>
        <p:nvPicPr>
          <p:cNvPr id="23" name="Image 4" descr="assets/icon1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512" y="3767328"/>
            <a:ext cx="420624" cy="42062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949440" y="374904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Feedback loop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6382512" y="422452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Assessment recorded and fed back to the teacher (Int8–Int9).</a:t>
            </a:r>
            <a:endParaRPr lang="en-US" sz="1250" dirty="0"/>
          </a:p>
        </p:txBody>
      </p:sp>
      <p:pic>
        <p:nvPicPr>
          <p:cNvPr id="26" name="Image 5" descr="assets/icon9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5495544"/>
            <a:ext cx="310896" cy="31089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097280" y="5477256"/>
            <a:ext cx="10451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Discuss  </a:t>
            </a:r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If you run or support interventions, which of these four is weakest?</a:t>
            </a:r>
            <a:endParaRPr lang="en-US" sz="1250" dirty="0"/>
          </a:p>
        </p:txBody>
      </p:sp>
      <p:sp>
        <p:nvSpPr>
          <p:cNvPr id="28" name="Text 20"/>
          <p:cNvSpPr/>
          <p:nvPr/>
        </p:nvSpPr>
        <p:spPr>
          <a:xfrm>
            <a:off x="640080" y="59436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first and last items — purpose and feedback — are what keep an intervention connected to the lesson.</a:t>
            </a:r>
            <a:endParaRPr lang="en-US" sz="1050" dirty="0"/>
          </a:p>
        </p:txBody>
      </p:sp>
      <p:sp>
        <p:nvSpPr>
          <p:cNvPr id="29" name="Text 21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Adaptive Teaching &amp; Inclusion</a:t>
            </a:r>
            <a:endParaRPr lang="en-US" sz="800" dirty="0"/>
          </a:p>
        </p:txBody>
      </p:sp>
      <p:sp>
        <p:nvSpPr>
          <p:cNvPr id="30" name="Text 22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FOR EVERY PUPIL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Good for all, essential for some</a:t>
            </a:r>
            <a:endParaRPr lang="en-US" sz="2700" dirty="0"/>
          </a:p>
        </p:txBody>
      </p:sp>
      <p:pic>
        <p:nvPicPr>
          <p:cNvPr id="6" name="Image 1" descr="assets/icon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20240"/>
            <a:ext cx="502920" cy="5029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25880" y="1920240"/>
            <a:ext cx="73152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practices that help pupils with SEND — clarity, scaffolding, checking — help every pupil in the room.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predictable, calm environment is the precondition for everything adaptive that follows.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Disadvantaged pupils are entitled to the same ambition; adaptation engineers their access to it, never lowers it.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8869680" y="1920240"/>
            <a:ext cx="2651760" cy="2194560"/>
          </a:xfrm>
          <a:prstGeom prst="rect">
            <a:avLst/>
          </a:prstGeom>
          <a:solidFill>
            <a:srgbClr val="F4ECE0"/>
          </a:solidFill>
          <a:ln w="12700">
            <a:solidFill>
              <a:srgbClr val="B07D2B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869680" y="1920240"/>
            <a:ext cx="64008" cy="2194560"/>
          </a:xfrm>
          <a:prstGeom prst="rect">
            <a:avLst/>
          </a:prstGeom>
          <a:solidFill>
            <a:srgbClr val="B07D2B"/>
          </a:solidFill>
          <a:ln/>
        </p:spPr>
      </p:sp>
      <p:pic>
        <p:nvPicPr>
          <p:cNvPr id="10" name="Image 2" descr="assets/icon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210312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509760" y="2103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Discuss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9098280" y="265176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Which whole-class adaptation would most help your pupils with additional needs?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Adaptive Teaching &amp; Inclusion</a:t>
            </a:r>
            <a:endParaRPr lang="en-US" sz="800" dirty="0"/>
          </a:p>
        </p:txBody>
      </p:sp>
      <p:sp>
        <p:nvSpPr>
          <p:cNvPr id="14" name="Text 9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.png">    </p:cNvPr>
          <p:cNvPicPr>
            <a:picLocks noChangeAspect="1"/>
          </p:cNvPicPr>
          <p:nvPr/>
        </p:nvPicPr>
        <p:blipFill>
          <a:blip r:embed="rId1">
            <a:alphaModFix amt="48000"/>
          </a:blip>
          <a:stretch>
            <a:fillRect/>
          </a:stretch>
        </p:blipFill>
        <p:spPr>
          <a:xfrm>
            <a:off x="10707624" y="384048"/>
            <a:ext cx="841248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85216"/>
            <a:ext cx="146304" cy="146304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502920"/>
            <a:ext cx="9628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94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WATCH, THEN DISCUSS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9994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Adaptive teaching on screen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5852160" cy="3291840"/>
          </a:xfrm>
          <a:prstGeom prst="rect">
            <a:avLst/>
          </a:prstGeom>
          <a:solidFill>
            <a:srgbClr val="11201C"/>
          </a:solidFill>
          <a:ln/>
        </p:spPr>
      </p:sp>
      <p:sp>
        <p:nvSpPr>
          <p:cNvPr id="7" name="Shape 4"/>
          <p:cNvSpPr/>
          <p:nvPr/>
        </p:nvSpPr>
        <p:spPr>
          <a:xfrm>
            <a:off x="3063240" y="269748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 rot="5400000">
            <a:off x="3374136" y="2971800"/>
            <a:ext cx="502920" cy="640080"/>
          </a:xfrm>
          <a:prstGeom prst="triangle">
            <a:avLst/>
          </a:prstGeom>
          <a:solidFill>
            <a:srgbClr val="14322D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42519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E0D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Play the clip here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461772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 Like a Champion </a:t>
            </a:r>
            <a:pPr algn="ctr" indent="0" marL="0">
              <a:buNone/>
            </a:pPr>
            <a:r>
              <a:rPr lang="en-US" sz="1100" dirty="0">
                <a:solidFill>
                  <a:srgbClr val="8FB8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· video portal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0" y="1828800"/>
            <a:ext cx="4663440" cy="3291840"/>
          </a:xfrm>
          <a:prstGeom prst="rect">
            <a:avLst/>
          </a:prstGeom>
          <a:solidFill>
            <a:srgbClr val="E8F1EE"/>
          </a:solidFill>
          <a:ln w="12700">
            <a:solidFill>
              <a:srgbClr val="3F948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858000" y="1828800"/>
            <a:ext cx="64008" cy="3291840"/>
          </a:xfrm>
          <a:prstGeom prst="rect">
            <a:avLst/>
          </a:prstGeom>
          <a:solidFill>
            <a:srgbClr val="3F9488"/>
          </a:solidFill>
          <a:ln/>
        </p:spPr>
      </p:sp>
      <p:sp>
        <p:nvSpPr>
          <p:cNvPr id="13" name="Text 10"/>
          <p:cNvSpPr/>
          <p:nvPr/>
        </p:nvSpPr>
        <p:spPr>
          <a:xfrm>
            <a:off x="7086600" y="19933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Where to find it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086600" y="233172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Portal:  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books.wiley.com/titles/9781119712619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Password:  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consider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Clips:  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scaffolding; targeted questioning; check for understanding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086600" y="349300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22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As you watch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086600" y="3840480"/>
            <a:ext cx="4251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is the same for every pupil, and what is adjusted?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Where is the scaffold — and is it temporary?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F1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How does the teacher build independence?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Teaching Excellence Programme · Adaptive Teaching &amp; Inclusion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7891272" y="6455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programme</a:t>
            </a:r>
            <a:pPr algn="r" indent="0" marL="0">
              <a:buNone/>
            </a:pPr>
            <a:r>
              <a:rPr lang="en-US" sz="800" dirty="0">
                <a:solidFill>
                  <a:srgbClr val="6B73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 ·    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32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rest_light.png">    </p:cNvPr>
          <p:cNvPicPr>
            <a:picLocks noChangeAspect="1"/>
          </p:cNvPicPr>
          <p:nvPr/>
        </p:nvPicPr>
        <p:blipFill>
          <a:blip r:embed="rId1">
            <a:alphaModFix amt="16000"/>
          </a:blip>
          <a:stretch>
            <a:fillRect/>
          </a:stretch>
        </p:blipFill>
        <p:spPr>
          <a:xfrm>
            <a:off x="7772400" y="3200400"/>
            <a:ext cx="3931920" cy="34198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1737360"/>
            <a:ext cx="201168" cy="201168"/>
          </a:xfrm>
          <a:prstGeom prst="rect">
            <a:avLst/>
          </a:prstGeom>
          <a:solidFill>
            <a:srgbClr val="B07D2B"/>
          </a:solidFill>
          <a:ln/>
        </p:spPr>
      </p:sp>
      <p:sp>
        <p:nvSpPr>
          <p:cNvPr id="4" name="Text 1"/>
          <p:cNvSpPr/>
          <p:nvPr/>
        </p:nvSpPr>
        <p:spPr>
          <a:xfrm>
            <a:off x="1005840" y="166420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FE0D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40080" y="237744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6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Choose one pupil and one adaptation to make consistently this term.</a:t>
            </a:r>
            <a:endParaRPr lang="en-US" sz="22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Design one scaffold with a plan to fade it.</a:t>
            </a:r>
            <a:endParaRPr lang="en-US" sz="22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If you work with an additional adult, plan one change toward independence.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Read the Pillar 2 modules online for the worked detail.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40080" y="63093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8A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Nishkam Schools professional development programme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Pillar 2 — facilitator deck</dc:title>
  <dc:subject>PptxGenJS Presentation</dc:subject>
  <dc:creator>Nishkam Schools</dc:creator>
  <cp:lastModifiedBy>Nishkam Schools</cp:lastModifiedBy>
  <cp:revision>1</cp:revision>
  <dcterms:created xsi:type="dcterms:W3CDTF">2026-06-17T09:23:22Z</dcterms:created>
  <dcterms:modified xsi:type="dcterms:W3CDTF">2026-06-17T09:23:22Z</dcterms:modified>
</cp:coreProperties>
</file>