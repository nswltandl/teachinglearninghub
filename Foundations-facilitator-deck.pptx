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2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_light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7772400" y="3200400"/>
            <a:ext cx="3931920" cy="34198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1554480"/>
            <a:ext cx="201168" cy="20116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1005840" y="14813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 ·  Foundations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210312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Foundations</a:t>
            </a:r>
            <a:endParaRPr lang="en-US" sz="5000" dirty="0"/>
          </a:p>
        </p:txBody>
      </p:sp>
      <p:sp>
        <p:nvSpPr>
          <p:cNvPr id="6" name="Text 3"/>
          <p:cNvSpPr/>
          <p:nvPr/>
        </p:nvSpPr>
        <p:spPr>
          <a:xfrm>
            <a:off x="640080" y="3383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dispositions beneath every routine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64008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Facilitator session</a:t>
            </a:r>
            <a:pPr indent="0" marL="0">
              <a:buNone/>
            </a:pPr>
            <a:r>
              <a:rPr lang="en-US" sz="1400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·   pairs with the Foundations booklet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6309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professional development programme developed by Nishkam Schools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ONE PROGRAMME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Six pillars — and the Foundations beneath them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85800" y="1874520"/>
            <a:ext cx="5852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· Behaviour &amp; Climate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· Adaptive Teaching &amp; Inclusion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· Instruction &amp; Modelling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· Checking for Understanding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 · Questioning &amp; Classroom Dialogue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 · Standards &amp; Curriculum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58000" y="1783080"/>
            <a:ext cx="4663440" cy="3977640"/>
          </a:xfrm>
          <a:prstGeom prst="rect">
            <a:avLst/>
          </a:prstGeom>
          <a:solidFill>
            <a:srgbClr val="E8F1EE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0" y="1783080"/>
            <a:ext cx="64008" cy="397764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9" name="Image 1" descr="assets/icon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032" y="1993392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80960" y="2011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teachers use it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114032" y="2606040"/>
            <a:ext cx="4206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Independent study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booklet, worked through alone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Coaching quartets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three or four colleagues rehearse together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Class teams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adapting each method to your class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Whole-school CPD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this session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Foundations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THIS SESSION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this hour does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965960"/>
            <a:ext cx="7772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Name the dispositions that sit beneath every routine: assertiveness, presence, voice, composure, and professional conduct.</a:t>
            </a:r>
            <a:endParaRPr lang="en-US" sz="17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See how authority is carried in the body and the voice, before any technique.</a:t>
            </a:r>
            <a:endParaRPr lang="en-US" sz="17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Rehearse the five-step pattern the dispositions share.</a:t>
            </a:r>
            <a:endParaRPr lang="en-US" sz="17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Leave with one disposition to practise deliberately this half-term.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869680" y="1965960"/>
            <a:ext cx="2651760" cy="2651760"/>
          </a:xfrm>
          <a:prstGeom prst="rect">
            <a:avLst/>
          </a:prstGeom>
          <a:solidFill>
            <a:srgbClr val="F4ECE0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869680" y="1965960"/>
            <a:ext cx="64008" cy="2651760"/>
          </a:xfrm>
          <a:prstGeom prst="rect">
            <a:avLst/>
          </a:prstGeom>
          <a:solidFill>
            <a:srgbClr val="B07D2B"/>
          </a:solidFill>
          <a:ln/>
        </p:spPr>
      </p:sp>
      <p:pic>
        <p:nvPicPr>
          <p:cNvPr id="9" name="Image 1" descr="assets/icon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2194560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098280" y="2697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Keep the booklet open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9098280" y="32461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slides lead the room; the booklet is where you record your thinking and the tasks.</a:t>
            </a:r>
            <a:endParaRPr lang="en-US" sz="1250" dirty="0"/>
          </a:p>
        </p:txBody>
      </p:sp>
      <p:pic>
        <p:nvPicPr>
          <p:cNvPr id="12" name="Image 2" descr="assets/icon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95544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5477256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  </a:t>
            </a:r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Think of a teacher whose presence filled a room. What did they actually do?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Foundations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changes when a teacher has authority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074920" cy="3154680"/>
          </a:xfrm>
          <a:prstGeom prst="rect">
            <a:avLst/>
          </a:prstGeom>
          <a:solidFill>
            <a:srgbClr val="F4F1EC"/>
          </a:solidFill>
          <a:ln w="12700">
            <a:solidFill>
              <a:srgbClr val="C0613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783080"/>
            <a:ext cx="64008" cy="3154680"/>
          </a:xfrm>
          <a:prstGeom prst="rect">
            <a:avLst/>
          </a:prstGeom>
          <a:solidFill>
            <a:srgbClr val="C0613F"/>
          </a:solidFill>
          <a:ln/>
        </p:spPr>
      </p:sp>
      <p:pic>
        <p:nvPicPr>
          <p:cNvPr id="8" name="Image 1" descr="assets/icon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20240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19202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48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When authority is missing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68680" y="242316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instruction is a question, and the room negotiates.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voice climbs to match the noise, and the noise climbs back.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Movement and gaze betray the anxiety the words try to hide.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Pupils learn that the standard is optional.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126480" y="1783080"/>
            <a:ext cx="5074920" cy="3154680"/>
          </a:xfrm>
          <a:prstGeom prst="rect">
            <a:avLst/>
          </a:prstGeom>
          <a:solidFill>
            <a:srgbClr val="E8F1EE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26480" y="1783080"/>
            <a:ext cx="64008" cy="31546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3" name="Image 2" descr="assets/icon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92024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58000" y="19202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When authority is present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355080" y="242316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expectation is stated once, into a pause.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voice drops, and the room leans in.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body is still; the standard is settled.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Pupils learn that the standard is simply how it is.</a:t>
            </a:r>
            <a:endParaRPr lang="en-US" sz="1300" dirty="0"/>
          </a:p>
        </p:txBody>
      </p:sp>
      <p:pic>
        <p:nvPicPr>
          <p:cNvPr id="16" name="Image 3" descr="assets/icon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175504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97280" y="5157216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  </a:t>
            </a:r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Which of the two rooms is closer to yours at ten to three on a Friday?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Foundations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32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_light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2286000"/>
            <a:ext cx="201168" cy="20116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60604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routines in this programme only work when the teacher delivering them is calm, clear, and in charge of the room.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44805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 is the adults who set the weather.  </a:t>
            </a:r>
            <a:pPr indent="0" marL="0">
              <a:buNone/>
            </a:pPr>
            <a:r>
              <a:rPr lang="en-US" sz="1600" dirty="0">
                <a:solidFill>
                  <a:srgbClr val="8FB8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 after Paul Dix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UNDER PRESSURE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Four dispositions under pressure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5074920" cy="155448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828800"/>
            <a:ext cx="64008" cy="15544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8" name="Image 1" descr="assets/icon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66544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0482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Assertiveness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96112" y="257860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Stating the expectation and meaning it: declarative, the name at the start, held in the pause.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126480" y="1828800"/>
            <a:ext cx="5074920" cy="155448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26480" y="1828800"/>
            <a:ext cx="64008" cy="15544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3" name="Image 2" descr="assets/icon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2066544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95160" y="20482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Presence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382512" y="257860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the room reads before a word: the strong position, the slow scan, the unhurried pace.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3703320"/>
            <a:ext cx="5074920" cy="155448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0080" y="3703320"/>
            <a:ext cx="64008" cy="15544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8" name="Image 3" descr="assets/icon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941064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392277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Voice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96112" y="44531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Projection not volume, the lowered register, the falling tone, silence as an instrument.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126480" y="3703320"/>
            <a:ext cx="5074920" cy="155448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126480" y="3703320"/>
            <a:ext cx="64008" cy="15544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23" name="Image 4" descr="assets/icon1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3941064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95160" y="392277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Composure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6382512" y="44531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half-second pause between provocation and response, and the unchanged register.</a:t>
            </a:r>
            <a:endParaRPr lang="en-US" sz="1250" dirty="0"/>
          </a:p>
        </p:txBody>
      </p:sp>
      <p:pic>
        <p:nvPicPr>
          <p:cNvPr id="26" name="Image 5" descr="assets/icon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495544"/>
            <a:ext cx="310896" cy="31089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97280" y="5477256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  </a:t>
            </a:r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Which of the four is your strongest? Which deserts you first when you are tired?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Foundations</a:t>
            </a:r>
            <a:endParaRPr lang="en-US" sz="800" dirty="0"/>
          </a:p>
        </p:txBody>
      </p:sp>
      <p:sp>
        <p:nvSpPr>
          <p:cNvPr id="29" name="Text 21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THINKING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this comes from</a:t>
            </a:r>
            <a:endParaRPr lang="en-US" sz="2700" dirty="0"/>
          </a:p>
        </p:txBody>
      </p:sp>
      <p:pic>
        <p:nvPicPr>
          <p:cNvPr id="6" name="Image 1" descr="assets/icon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1828800"/>
            <a:ext cx="7040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Bill Rogers —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decisive variable is the teacher’s manner: calm, assertive correction that names the behaviour and refuses to escalate.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Doug Lemov —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strong voice built on economy and a settled register, and the least invasive intervention that corrects without derailing the lesson.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Tom Bennett —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good conduct is taught and maintained by the adults, not left to chance.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Paul Dix — </a:t>
            </a:r>
            <a:pPr indent="0" marL="0"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consistency from every adult matters more than the severity of any single sanction.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8686800" y="1828800"/>
            <a:ext cx="2834640" cy="2377440"/>
          </a:xfrm>
          <a:prstGeom prst="rect">
            <a:avLst/>
          </a:prstGeom>
          <a:solidFill>
            <a:srgbClr val="F4ECE0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686800" y="1828800"/>
            <a:ext cx="64008" cy="2377440"/>
          </a:xfrm>
          <a:prstGeom prst="rect">
            <a:avLst/>
          </a:prstGeom>
          <a:solidFill>
            <a:srgbClr val="B07D2B"/>
          </a:solidFill>
          <a:ln/>
        </p:spPr>
      </p:sp>
      <p:pic>
        <p:nvPicPr>
          <p:cNvPr id="10" name="Image 2" descr="assets/icon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201168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326880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8915400" y="256032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Which idea most challenges your current practice?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40080" y="57150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Rogers, Cracking the Hard Class · Lemov, Teach Like a Champion · Bennett, Running the Room · Dix, When the Adults Change.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Foundations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SHARED PATTERN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One pattern, five steps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566160" cy="342900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783080"/>
            <a:ext cx="64008" cy="342900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8" name="Image 1" descr="assets/icon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One shape, every disposition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914400" y="256032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Assertiveness, presence, voice and composure reduce to the same five moves under pressure.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Practised consciously for a fortnight, it becomes the natural way a hard moment is met.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4572000" y="1810512"/>
            <a:ext cx="365760" cy="365760"/>
          </a:xfrm>
          <a:prstGeom prst="ellipse">
            <a:avLst/>
          </a:prstGeom>
          <a:solidFill>
            <a:srgbClr val="14322D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0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120640" y="17647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 up: gain attention from a strong, still position.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572000" y="2377440"/>
            <a:ext cx="365760" cy="365760"/>
          </a:xfrm>
          <a:prstGeom prst="ellipse">
            <a:avLst/>
          </a:prstGeom>
          <a:solidFill>
            <a:srgbClr val="14322D"/>
          </a:solidFill>
          <a:ln/>
        </p:spPr>
      </p:sp>
      <p:sp>
        <p:nvSpPr>
          <p:cNvPr id="15" name="Text 11"/>
          <p:cNvSpPr/>
          <p:nvPr/>
        </p:nvSpPr>
        <p:spPr>
          <a:xfrm>
            <a:off x="457200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120640" y="23317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Act briefly: the instruction in five words, or a single breath before responding.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572000" y="2944368"/>
            <a:ext cx="365760" cy="365760"/>
          </a:xfrm>
          <a:prstGeom prst="ellipse">
            <a:avLst/>
          </a:prstGeom>
          <a:solidFill>
            <a:srgbClr val="14322D"/>
          </a:solidFill>
          <a:ln/>
        </p:spPr>
      </p:sp>
      <p:sp>
        <p:nvSpPr>
          <p:cNvPr id="18" name="Text 14"/>
          <p:cNvSpPr/>
          <p:nvPr/>
        </p:nvSpPr>
        <p:spPr>
          <a:xfrm>
            <a:off x="4572000" y="2944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120640" y="289864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Hold the pause: three seconds of silence does the work.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4572000" y="3511296"/>
            <a:ext cx="365760" cy="365760"/>
          </a:xfrm>
          <a:prstGeom prst="ellipse">
            <a:avLst/>
          </a:prstGeom>
          <a:solidFill>
            <a:srgbClr val="14322D"/>
          </a:solidFill>
          <a:ln/>
        </p:spPr>
      </p:sp>
      <p:sp>
        <p:nvSpPr>
          <p:cNvPr id="21" name="Text 17"/>
          <p:cNvSpPr/>
          <p:nvPr/>
        </p:nvSpPr>
        <p:spPr>
          <a:xfrm>
            <a:off x="4572000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5120640" y="3465576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Acknowledge quietly: a nod, a return of attention.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4572000" y="4078224"/>
            <a:ext cx="365760" cy="365760"/>
          </a:xfrm>
          <a:prstGeom prst="ellipse">
            <a:avLst/>
          </a:prstGeom>
          <a:solidFill>
            <a:srgbClr val="14322D"/>
          </a:solidFill>
          <a:ln/>
        </p:spPr>
      </p:sp>
      <p:sp>
        <p:nvSpPr>
          <p:cNvPr id="24" name="Text 20"/>
          <p:cNvSpPr/>
          <p:nvPr/>
        </p:nvSpPr>
        <p:spPr>
          <a:xfrm>
            <a:off x="4572000" y="4078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5120640" y="403250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If needed, repeat once: same words, same register, then the known next step.</a:t>
            </a:r>
            <a:endParaRPr lang="en-US" sz="1400" dirty="0"/>
          </a:p>
        </p:txBody>
      </p:sp>
      <p:pic>
        <p:nvPicPr>
          <p:cNvPr id="26" name="Image 2" descr="assets/icon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95544"/>
            <a:ext cx="310896" cy="31089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097280" y="5477256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  </a:t>
            </a:r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in your day would this pattern change the most?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640080" y="59893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same five steps underlie the Diligence Routine in Pillar 1.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Foundations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NISHKAM FRAME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Authority in the service of others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74520"/>
            <a:ext cx="10908792" cy="3200400"/>
          </a:xfrm>
          <a:prstGeom prst="rect">
            <a:avLst/>
          </a:prstGeom>
          <a:solidFill>
            <a:srgbClr val="F4ECE0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874520"/>
            <a:ext cx="64008" cy="3200400"/>
          </a:xfrm>
          <a:prstGeom prst="rect">
            <a:avLst/>
          </a:prstGeom>
          <a:solidFill>
            <a:srgbClr val="B07D2B"/>
          </a:solidFill>
          <a:ln/>
        </p:spPr>
      </p:sp>
      <p:pic>
        <p:nvPicPr>
          <p:cNvPr id="8" name="Image 1" descr="assets/crest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10287000" y="3794760"/>
            <a:ext cx="914400" cy="7955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 Nishkam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005840" y="2606040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Peacefulness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 the calm that does not rise to provocation.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Diligence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 the consistency of following through, every time.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Determination </a:t>
            </a:r>
            <a:pPr indent="0" marL="0">
              <a:buNone/>
            </a:pPr>
            <a:r>
              <a:rPr lang="en-US" sz="15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 the quiet insistence that the standard will be met.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7315200" y="269748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 any school:  </a:t>
            </a:r>
            <a:pPr indent="0" marL="0">
              <a:buNone/>
            </a:pPr>
            <a:r>
              <a:rPr lang="en-US" sz="14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dispositions are universal. Keep the practice; give it the language that fits your school.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Foundations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GOOD LOOKS LIKE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Foundations, made observable</a:t>
            </a:r>
            <a:endParaRPr lang="en-US" sz="2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85039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5895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Assert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Expectation stated, the name at the start, held in the pause.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Presence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Strong position, slow scan, unhurried pace.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Voice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Lowered and projected, falling tone, silence used.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Composure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Half-second pause, register unchanged, body still.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Conduct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Boundaries clear; the standard held in shared spaces.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9326880" y="1783080"/>
            <a:ext cx="2194560" cy="2103120"/>
          </a:xfrm>
          <a:prstGeom prst="rect">
            <a:avLst/>
          </a:prstGeom>
          <a:solidFill>
            <a:srgbClr val="E8F1EE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9326880" y="1783080"/>
            <a:ext cx="64008" cy="210312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9" name="Image 1" descr="assets/icon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48" y="1938528"/>
            <a:ext cx="384048" cy="3840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528048" y="242316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 this to observe a colleague, or to be observed.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40080" y="5806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Each disposition reduces to a handful of observable behaviours.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Foundations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DELIBERATE PRACTICE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Rehearse the hard moment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212080" cy="361188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783080"/>
            <a:ext cx="64008" cy="36118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8" name="Image 1" descr="assets/icon1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9659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44752" y="1965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set-up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96112" y="2560320"/>
            <a:ext cx="4709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 threes, take a provocation card — the eye-roll, the refusal, the muttered comment. One teacher works the five-step response, one plays the pupil, one coaches against the points opposite.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126480" y="1783080"/>
            <a:ext cx="5120640" cy="3611880"/>
          </a:xfrm>
          <a:prstGeom prst="rect">
            <a:avLst/>
          </a:prstGeom>
          <a:solidFill>
            <a:srgbClr val="F4ECE0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26480" y="1783080"/>
            <a:ext cx="64008" cy="3611880"/>
          </a:xfrm>
          <a:prstGeom prst="rect">
            <a:avLst/>
          </a:prstGeom>
          <a:solidFill>
            <a:srgbClr val="B07D2B"/>
          </a:solidFill>
          <a:ln/>
        </p:spPr>
      </p:sp>
      <p:pic>
        <p:nvPicPr>
          <p:cNvPr id="13" name="Image 2" descr="assets/icon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96596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31152" y="1965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Coach, watch for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382512" y="256032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half-second pause before the response.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body still, no step forward.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register unchanged from a minor correction.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behaviour named, not the person.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Attention returned to the room.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40080" y="57150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Swap roles so everyone rehearses the response, not just the analysis of it.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Foundations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FIFTH DISPOSITION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Professional conduct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10512"/>
            <a:ext cx="5074920" cy="146304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810512"/>
            <a:ext cx="64008" cy="146304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8" name="Image 1" descr="assets/icon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11680"/>
            <a:ext cx="420624" cy="4206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99339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standard, everywhere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96112" y="24688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Smart dress, punctuality, clear boundaries with pupils, privacy online.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126480" y="1810512"/>
            <a:ext cx="5074920" cy="146304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26480" y="1810512"/>
            <a:ext cx="64008" cy="146304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3" name="Image 2" descr="assets/icon1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2011680"/>
            <a:ext cx="420624" cy="4206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49440" y="199339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Shared spaces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382512" y="24688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staff room is a workroom; the corridor is where the standard is seen.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3566160"/>
            <a:ext cx="5074920" cy="146304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0080" y="3566160"/>
            <a:ext cx="64008" cy="146304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8" name="Image 3" descr="assets/icon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767328"/>
            <a:ext cx="420624" cy="4206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37490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it slips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896112" y="42245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staff-room lapse, the lesson habit, the policy questioned in passing.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126480" y="3566160"/>
            <a:ext cx="5074920" cy="146304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126480" y="3566160"/>
            <a:ext cx="64008" cy="146304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23" name="Image 4" descr="assets/icon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3767328"/>
            <a:ext cx="420624" cy="42062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49440" y="37490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Chardi Kala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6382512" y="42245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Selflessness and rising spirits: conduct as a service, held together.</a:t>
            </a:r>
            <a:endParaRPr lang="en-US" sz="1250" dirty="0"/>
          </a:p>
        </p:txBody>
      </p:sp>
      <p:pic>
        <p:nvPicPr>
          <p:cNvPr id="26" name="Image 5" descr="assets/icon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495544"/>
            <a:ext cx="310896" cy="31089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97280" y="5477256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  </a:t>
            </a:r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does conduct most easily relax for you, and what would hold it?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640080" y="59436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Professional conduct is the disposition that surrounds all the others.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Foundations</a:t>
            </a:r>
            <a:endParaRPr lang="en-US" sz="800" dirty="0"/>
          </a:p>
        </p:txBody>
      </p:sp>
      <p:sp>
        <p:nvSpPr>
          <p:cNvPr id="30" name="Text 22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SUSTAINING IT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Fatigue, and what to do about it</a:t>
            </a:r>
            <a:endParaRPr lang="en-US" sz="2700" dirty="0"/>
          </a:p>
        </p:txBody>
      </p:sp>
      <p:pic>
        <p:nvPicPr>
          <p:cNvPr id="6" name="Image 1" descr="assets/icon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1920240"/>
            <a:ext cx="7315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teacher holds these dispositions perfectly across a week; they draw on a reserve that is lowest at the end of the day and the term.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instinct when tired is to push harder — louder voice, faster movement, sharper response — which is exactly what erodes authority.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remedy is to do less, more deliberately: drop the voice, hold the position, take the pause.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8869680" y="1920240"/>
            <a:ext cx="2651760" cy="2194560"/>
          </a:xfrm>
          <a:prstGeom prst="rect">
            <a:avLst/>
          </a:prstGeom>
          <a:solidFill>
            <a:srgbClr val="F4ECE0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869680" y="1920240"/>
            <a:ext cx="64008" cy="2194560"/>
          </a:xfrm>
          <a:prstGeom prst="rect">
            <a:avLst/>
          </a:prstGeom>
          <a:solidFill>
            <a:srgbClr val="B07D2B"/>
          </a:solidFill>
          <a:ln/>
        </p:spPr>
      </p:sp>
      <p:pic>
        <p:nvPicPr>
          <p:cNvPr id="10" name="Image 2" descr="assets/icon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210312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50976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9098280" y="265176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is your earliest warning sign that your reserve is running low?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Foundations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WATCH, THEN DISCUSS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Authority on screen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5852160" cy="3291840"/>
          </a:xfrm>
          <a:prstGeom prst="rect">
            <a:avLst/>
          </a:prstGeom>
          <a:solidFill>
            <a:srgbClr val="11201C"/>
          </a:solidFill>
          <a:ln/>
        </p:spPr>
      </p:sp>
      <p:sp>
        <p:nvSpPr>
          <p:cNvPr id="7" name="Shape 4"/>
          <p:cNvSpPr/>
          <p:nvPr/>
        </p:nvSpPr>
        <p:spPr>
          <a:xfrm>
            <a:off x="3063240" y="269748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 rot="5400000">
            <a:off x="3374136" y="2971800"/>
            <a:ext cx="502920" cy="640080"/>
          </a:xfrm>
          <a:prstGeom prst="triangle">
            <a:avLst/>
          </a:prstGeom>
          <a:solidFill>
            <a:srgbClr val="14322D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42519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Play the clip here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46177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 Like a Champion </a:t>
            </a:r>
            <a:pPr algn="ctr" indent="0" marL="0">
              <a:buNone/>
            </a:pPr>
            <a:r>
              <a:rPr lang="en-US" sz="1100" dirty="0">
                <a:solidFill>
                  <a:srgbClr val="8FB8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· video portal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0" y="1828800"/>
            <a:ext cx="4663440" cy="3291840"/>
          </a:xfrm>
          <a:prstGeom prst="rect">
            <a:avLst/>
          </a:prstGeom>
          <a:solidFill>
            <a:srgbClr val="E8F1EE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0" y="1828800"/>
            <a:ext cx="64008" cy="3291840"/>
          </a:xfrm>
          <a:prstGeom prst="rect">
            <a:avLst/>
          </a:prstGeom>
          <a:solidFill>
            <a:srgbClr val="3F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7086600" y="19933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to find it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086600" y="233172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Portal: 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books.wiley.com/titles/9781119712619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Password: 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consider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Clips:  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strong voice; least invasive intervention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086600" y="34930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 you watch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086600" y="384048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does the teacher’s body do before they speak?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is the pause, and what does it achieve?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is the smallest action that corrects the behaviour?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Foundations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32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_light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7772400" y="3200400"/>
            <a:ext cx="3931920" cy="34198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1737360"/>
            <a:ext cx="201168" cy="20116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1005840" y="16642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237744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Choose one disposition to practise deliberately this half-term.</a:t>
            </a:r>
            <a:endParaRPr lang="en-US" sz="22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 filmed or observed for the five-step pattern in one lesson.</a:t>
            </a:r>
            <a:endParaRPr lang="en-US" sz="22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Bring it to your next coaching trio.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Read the full Foundations pages online for the worked detail.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" y="6309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professional development programme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Foundations — facilitator deck</dc:title>
  <dc:subject>PptxGenJS Presentation</dc:subject>
  <dc:creator>Nishkam Schools</dc:creator>
  <cp:lastModifiedBy>Nishkam Schools</cp:lastModifiedBy>
  <cp:revision>1</cp:revision>
  <dcterms:created xsi:type="dcterms:W3CDTF">2026-06-17T09:23:21Z</dcterms:created>
  <dcterms:modified xsi:type="dcterms:W3CDTF">2026-06-17T09:23:21Z</dcterms:modified>
</cp:coreProperties>
</file>