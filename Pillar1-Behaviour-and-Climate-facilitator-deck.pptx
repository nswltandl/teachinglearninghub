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55448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 ·  Pillar One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Behaviour &amp; Climate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routines that make a calm, purposeful room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Facilitator session</a:t>
            </a:r>
            <a:pPr indent="0" marL="0">
              <a:buNone/>
            </a:pPr>
            <a:r>
              <a:rPr lang="en-US" sz="14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·   pairs with the Behaviour &amp; Climate booklet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professional development programme developed by Nishkam Schools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PROGRAMME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Six pillars, one shared method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85800" y="187452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· Behaviour &amp; Climate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· Adaptive Teaching &amp; Inclusion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· Instruction &amp; Modelling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· Checking for Understanding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· Questioning &amp; Classroom Dialogue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· Standards &amp; Curriculum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892808"/>
            <a:ext cx="64008" cy="29260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0" y="1783080"/>
            <a:ext cx="4663440" cy="39776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1783080"/>
            <a:ext cx="64008" cy="39776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0" name="Image 1" descr="assets/icon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19933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teachers use it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14032" y="260604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study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booklet, worked through alone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Coaching quartets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or four colleagues rehearse together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Class teams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adapting each method to your class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Whole-school CPD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Behaviour &amp; Climate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this hour does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See behaviour as a climate that is built and taught, not a trait of the class.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Walk the routines across the arc of a lesson: before, start, during, end.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the Diligence Routine and the low-key strategy ladder.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Leave with one routine to teach explicitly and maintain for a fortnight.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869680" y="1965960"/>
            <a:ext cx="2651760" cy="26517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0" y="1965960"/>
            <a:ext cx="64008" cy="26517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9" name="Image 1" descr="assets/icon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19456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9828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booklet open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098280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slides lead the room; the booklet is where you record your thinking and the tasks.</a:t>
            </a:r>
            <a:endParaRPr lang="en-US" sz="1250" dirty="0"/>
          </a:p>
        </p:txBody>
      </p:sp>
      <p:pic>
        <p:nvPicPr>
          <p:cNvPr id="12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Think of a class that runs itself calmly. What has the teacher taught them to do?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Behaviour &amp; Climate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a lesson starts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074920" cy="3154680"/>
          </a:xfrm>
          <a:prstGeom prst="rect">
            <a:avLst/>
          </a:prstGeom>
          <a:solidFill>
            <a:srgbClr val="F4F1EC"/>
          </a:solidFill>
          <a:ln w="12700">
            <a:solidFill>
              <a:srgbClr val="C061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154680"/>
          </a:xfrm>
          <a:prstGeom prst="rect">
            <a:avLst/>
          </a:prstGeom>
          <a:solidFill>
            <a:srgbClr val="C0613F"/>
          </a:solidFill>
          <a:ln/>
        </p:spPr>
      </p:sp>
      <p:pic>
        <p:nvPicPr>
          <p:cNvPr id="8" name="Image 1" descr="assets/icon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8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When the start is left to chance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Pupils arrive to an empty board and a busy teacher.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Attention is asked for, not signalled, and never quite arrives.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Drift is met with a raised voice, which raises the room.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lesson never fully settles.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074920" cy="315468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1546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When the start is planned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550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starter is up; pupils work within moments of entering.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Attention comes on a single taught signal, into a pause.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Drift is met with a quiet move, a look, a named virtue.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room is calm because the routine is calm.</a:t>
            </a:r>
            <a:endParaRPr lang="en-US" sz="1300" dirty="0"/>
          </a:p>
        </p:txBody>
      </p:sp>
      <p:pic>
        <p:nvPicPr>
          <p:cNvPr id="16" name="Image 3" descr="assets/icon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7550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515721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describes the start of your hardest class — and which routine would change it most?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Behaviour &amp; Climate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228600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6060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calm, purposeful classroom is built deliberately. The routines are taught and kept up, like anything else pupils learn.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4480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If a routine is not kept up, pupils learn it can be ignored.  </a:t>
            </a:r>
            <a:pPr indent="0" marL="0">
              <a:buNone/>
            </a:pPr>
            <a:r>
              <a:rPr lang="en-US" sz="16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a principle of this programme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CORE ROUTINES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 core routines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66544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language of virtues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Peacefulness, Diligence, Determination as the actual language of the room, not slogans on a wall.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6654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Lesson starts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Six stages from the door to the 30-Second Reflection that turn arrival into focused work.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941064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Diligence Routine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961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same in-lesson sequence, run many times, to move a class back to attention.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941064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strategy ladder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3825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Low-key interventions before any formal warning: position, proximity, eye-meet, reset, named virtue.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of the four do you run by instinct, and which have you never explicitly taught?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Behaviour &amp; Climate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THINKING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this comes from</a:t>
            </a:r>
            <a:endParaRPr lang="en-US" sz="2700" dirty="0"/>
          </a:p>
        </p:txBody>
      </p:sp>
      <p:pic>
        <p:nvPicPr>
          <p:cNvPr id="6" name="Image 1" descr="assets/icon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828800"/>
            <a:ext cx="7040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Tom Bennett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behaviour is a culture that is explicitly taught, modelled and maintained — not left to chance.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Doug Lemov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routines work by reducing decisions and being predictable; what a teacher permits, they promote.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Bill Rogers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correction that is calm, names the behaviour not the child, and refuses to escalate.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Paul Dix &amp; the EEF — </a:t>
            </a:r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consistency from every adult, and low-key responses before formal ones, set the climate.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686800" y="1828800"/>
            <a:ext cx="2834640" cy="237744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0" y="1828800"/>
            <a:ext cx="64008" cy="237744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915400" y="25603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is your practice least consistent — and what would make it the same every time?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Bennett, Running the Room &amp; the DfE behaviour review · Lemov, Teach Like a Champion · Rogers · Dix · EEF, Improving Behaviour in Schools.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Behaviour &amp; Climate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WHOLE PILLAR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routines across a lesson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521458" cy="566928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2880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BEFORE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395728"/>
            <a:ext cx="2521458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2560320"/>
            <a:ext cx="221056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Resources and starter ready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 the door, greet by name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Direct to the starter task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35858" y="1828800"/>
            <a:ext cx="2521458" cy="566928"/>
          </a:xfrm>
          <a:prstGeom prst="rect">
            <a:avLst/>
          </a:prstGeom>
          <a:solidFill>
            <a:srgbClr val="14322D"/>
          </a:solidFill>
          <a:ln/>
        </p:spPr>
      </p:sp>
      <p:sp>
        <p:nvSpPr>
          <p:cNvPr id="11" name="Text 8"/>
          <p:cNvSpPr/>
          <p:nvPr/>
        </p:nvSpPr>
        <p:spPr>
          <a:xfrm>
            <a:off x="3435858" y="182880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START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435858" y="2395728"/>
            <a:ext cx="2521458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13" name="Text 10"/>
          <p:cNvSpPr/>
          <p:nvPr/>
        </p:nvSpPr>
        <p:spPr>
          <a:xfrm>
            <a:off x="3600450" y="2560320"/>
            <a:ext cx="221056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Settle, then gain attention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 with the language of virtues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30-Second Reflection, held in full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1636" y="1828800"/>
            <a:ext cx="2521458" cy="56692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15" name="Text 12"/>
          <p:cNvSpPr/>
          <p:nvPr/>
        </p:nvSpPr>
        <p:spPr>
          <a:xfrm>
            <a:off x="6231636" y="182880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DURING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31636" y="2395728"/>
            <a:ext cx="2521458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17" name="Text 14"/>
          <p:cNvSpPr/>
          <p:nvPr/>
        </p:nvSpPr>
        <p:spPr>
          <a:xfrm>
            <a:off x="6396228" y="2560320"/>
            <a:ext cx="221056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Diligence Routine to regain attention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five-rung ladder before any warning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Direct intervention: calm, standard wording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027414" y="1828800"/>
            <a:ext cx="2521458" cy="566928"/>
          </a:xfrm>
          <a:prstGeom prst="rect">
            <a:avLst/>
          </a:prstGeom>
          <a:solidFill>
            <a:srgbClr val="C0613F"/>
          </a:solidFill>
          <a:ln/>
        </p:spPr>
      </p:sp>
      <p:sp>
        <p:nvSpPr>
          <p:cNvPr id="19" name="Text 16"/>
          <p:cNvSpPr/>
          <p:nvPr/>
        </p:nvSpPr>
        <p:spPr>
          <a:xfrm>
            <a:off x="9027414" y="182880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END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027414" y="2395728"/>
            <a:ext cx="2521458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21" name="Text 18"/>
          <p:cNvSpPr/>
          <p:nvPr/>
        </p:nvSpPr>
        <p:spPr>
          <a:xfrm>
            <a:off x="9192006" y="2560320"/>
            <a:ext cx="221056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Pack-up from a strong position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Row by row, calm and quiet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Close completed; teacher at the door</a:t>
            </a:r>
            <a:endParaRPr lang="en-US" sz="1200" dirty="0"/>
          </a:p>
        </p:txBody>
      </p:sp>
      <p:pic>
        <p:nvPicPr>
          <p:cNvPr id="22" name="Image 1" descr="assets/icon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49824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97280" y="543153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phase of your lesson is weakest, and which single routine would strengthen it?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Each routine is taught in full in the Pillar 1 modules online.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Behaviour &amp; Climate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NISHKAM FRAME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virtues are the language of the room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10908792" cy="320040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74520"/>
            <a:ext cx="64008" cy="320040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8" name="Image 1" descr="assets/crest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287000" y="3794760"/>
            <a:ext cx="914400" cy="7955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 Nishkam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05840" y="26060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Peacefulness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calm the teacher models and praises by naming.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Diligence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effort asked for in correction, and the attention word itself.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Determination </a:t>
            </a:r>
            <a:pPr indent="0" marL="0"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standard returned to when a class drifts.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315200" y="26974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any school:  </a:t>
            </a:r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Strip out the named virtues and every routine still works; keep them, and the routines carry a shared moral weight.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Behaviour &amp; Climate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behaviour checklist, observable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8503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589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BFL3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‘Diligence’ used as the attention mantra.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BFL4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Pause and scan for full compliance before going on.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BFL5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Instructions clear, in performance language, at most three steps.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BFL6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Pupils act on the first instruction.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BFL8-9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Strong-position reset and proximity used as primary tools.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LS/LE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Door at arrival and dismissal; starter up; orderly close.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9326880" y="1783080"/>
            <a:ext cx="2194560" cy="210312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26880" y="1783080"/>
            <a:ext cx="64008" cy="210312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9" name="Image 1" descr="assets/icon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193852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28048" y="242316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these to observe a colleague, or to be observed.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00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full BFL, LS, LE and OR checklists sit behind the modules online.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Behaviour &amp; Climate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DELIBERATE PRACTICE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the Diligence Routine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212080" cy="36118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6118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47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set-up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6032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 pairs, the teacher stands in a strong position, waits two seconds, delivers ‘Diligence’ at normal volume, stops, and scans. Run five repetitions; the partner reports whether the word landed into a pause and whether the scan was real.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120640" cy="361188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61188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3" name="Image 2" descr="assets/ico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9659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311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Coach, watch for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6032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two-second wait before any word.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Normal volume — no climbing to meet the room.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full stop after the word, not a stream.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genuine scan for full compliance.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moving on until the room is with them.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Swap roles so both rehearse the routine, not just watch it.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Behaviour &amp; Climate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EDGES OF THE LESSON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 micro-routines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11680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Equipment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961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desks at the start, collected calmly (OR-A).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11680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Transitions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825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Named with the Diligence trigger so the class moves together (OR-B).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76732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Reading aloud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961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Cold-call, with a planned route for non-readers (OR-C).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767328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Hand signals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3825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Used consistently, so verbal interruption falls away (OR-D).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of these currently costs you the most time and calm?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routines, taught once and maintained, remove most everyday friction.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Behaviour &amp; Climate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EVERY PUPIL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consistency matters most for some pupils</a:t>
            </a:r>
            <a:endParaRPr lang="en-US" sz="2700" dirty="0"/>
          </a:p>
        </p:txBody>
      </p:sp>
      <p:pic>
        <p:nvPicPr>
          <p:cNvPr id="6" name="Image 1" descr="assets/icon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92024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pupils who most need a predictable climate are the ones a wavering routine fails first.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Low-key, named-behaviour correction protects the relationship, which matters most for pupils who find school hard.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climate is hardest to hold at the end of the day and term — exactly when consistency matters most.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869680" y="1920240"/>
            <a:ext cx="2651760" cy="21945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69680" y="1920240"/>
            <a:ext cx="64008" cy="21945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1031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97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098280" y="2651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pupil in mind would gain most from your routines being identical every lesson?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Behaviour &amp; Climate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WATCH, THEN DISCUSS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Routines on screen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solidFill>
            <a:srgbClr val="11201C"/>
          </a:solidFill>
          <a:ln/>
        </p:spPr>
      </p:sp>
      <p:sp>
        <p:nvSpPr>
          <p:cNvPr id="7" name="Shape 4"/>
          <p:cNvSpPr/>
          <p:nvPr/>
        </p:nvSpPr>
        <p:spPr>
          <a:xfrm>
            <a:off x="3063240" y="26974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 rot="5400000">
            <a:off x="3374136" y="2971800"/>
            <a:ext cx="502920" cy="640080"/>
          </a:xfrm>
          <a:prstGeom prst="triangle">
            <a:avLst/>
          </a:prstGeom>
          <a:solidFill>
            <a:srgbClr val="14322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251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Play the clip here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617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 Like a Champion </a:t>
            </a:r>
            <a:pPr algn="ctr"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· video portal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1828800"/>
            <a:ext cx="4663440" cy="32918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1828800"/>
            <a:ext cx="64008" cy="3291840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to find it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86600" y="2331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Portal: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books.wiley.com/titles/9781119712619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Password: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consider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Clips: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threshold; strong voice; least invasive intervention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86600" y="34930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 you watch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3840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taught before the lesson ‘begins’?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does the teacher regain attention — and how long does it take?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the smallest action that corrects drift?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Behaviour &amp; Climate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73736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664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3774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Choose one routine to teach explicitly to a class this week.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the Diligence Routine in your next coaching pair.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Maintain the routine, unchanged, for a fortnight.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 the Pillar 1 modules online for the worked detail.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professional development programme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Gothic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Pillar 1 Behaviour &amp; Climate — facilitator deck</dc:title>
  <dc:subject>PptxGenJS Presentation</dc:subject>
  <dc:creator>Nishkam Schools</dc:creator>
  <cp:lastModifiedBy>Nishkam Schools</cp:lastModifiedBy>
  <cp:revision>1</cp:revision>
  <dcterms:created xsi:type="dcterms:W3CDTF">2026-06-17T09:23:22Z</dcterms:created>
  <dcterms:modified xsi:type="dcterms:W3CDTF">2026-06-17T09:23:22Z</dcterms:modified>
</cp:coreProperties>
</file>