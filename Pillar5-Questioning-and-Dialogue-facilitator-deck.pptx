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2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image" Target="../media/image-12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32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crest_light.png">    </p:cNvPr>
          <p:cNvPicPr>
            <a:picLocks noChangeAspect="1"/>
          </p:cNvPicPr>
          <p:nvPr/>
        </p:nvPicPr>
        <p:blipFill>
          <a:blip r:embed="rId1">
            <a:alphaModFix amt="16000"/>
          </a:blip>
          <a:stretch>
            <a:fillRect/>
          </a:stretch>
        </p:blipFill>
        <p:spPr>
          <a:xfrm>
            <a:off x="7772400" y="3200400"/>
            <a:ext cx="3931920" cy="341985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640080" y="1554480"/>
            <a:ext cx="201168" cy="201168"/>
          </a:xfrm>
          <a:prstGeom prst="rect">
            <a:avLst/>
          </a:prstGeom>
          <a:solidFill>
            <a:srgbClr val="B07D2B"/>
          </a:solidFill>
          <a:ln/>
        </p:spPr>
      </p:sp>
      <p:sp>
        <p:nvSpPr>
          <p:cNvPr id="4" name="Text 1"/>
          <p:cNvSpPr/>
          <p:nvPr/>
        </p:nvSpPr>
        <p:spPr>
          <a:xfrm>
            <a:off x="1005840" y="1481328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FE0D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TEACHING EXCELLENCE PROGRAMME  ·  Pillar Five</a:t>
            </a:r>
            <a:endParaRPr lang="en-US" sz="1300" dirty="0"/>
          </a:p>
        </p:txBody>
      </p:sp>
      <p:sp>
        <p:nvSpPr>
          <p:cNvPr id="5" name="Text 2"/>
          <p:cNvSpPr/>
          <p:nvPr/>
        </p:nvSpPr>
        <p:spPr>
          <a:xfrm>
            <a:off x="640080" y="2103120"/>
            <a:ext cx="10607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Questioning &amp; Dialogue</a:t>
            </a:r>
            <a:endParaRPr lang="en-US" sz="4200" dirty="0"/>
          </a:p>
        </p:txBody>
      </p:sp>
      <p:sp>
        <p:nvSpPr>
          <p:cNvPr id="6" name="Text 3"/>
          <p:cNvSpPr/>
          <p:nvPr/>
        </p:nvSpPr>
        <p:spPr>
          <a:xfrm>
            <a:off x="640080" y="338328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dirty="0">
                <a:solidFill>
                  <a:srgbClr val="BFE0D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Questions that make every pupil think, and talk that deepens it</a:t>
            </a:r>
            <a:endParaRPr lang="en-US" sz="2300" dirty="0"/>
          </a:p>
        </p:txBody>
      </p:sp>
      <p:sp>
        <p:nvSpPr>
          <p:cNvPr id="7" name="Text 4"/>
          <p:cNvSpPr/>
          <p:nvPr/>
        </p:nvSpPr>
        <p:spPr>
          <a:xfrm>
            <a:off x="640080" y="512064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Facilitator session</a:t>
            </a:r>
            <a:pPr indent="0" marL="0">
              <a:buNone/>
            </a:pPr>
            <a:r>
              <a:rPr lang="en-US" sz="1400" dirty="0">
                <a:solidFill>
                  <a:srgbClr val="BFE0D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   ·   pairs with the Questioning &amp; Dialogue booklet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640080" y="630936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FB8A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 professional development programme developed by Nishkam Schools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crest.png">    </p:cNvPr>
          <p:cNvPicPr>
            <a:picLocks noChangeAspect="1"/>
          </p:cNvPicPr>
          <p:nvPr/>
        </p:nvPicPr>
        <p:blipFill>
          <a:blip r:embed="rId1">
            <a:alphaModFix amt="48000"/>
          </a:blip>
          <a:stretch>
            <a:fillRect/>
          </a:stretch>
        </p:blipFill>
        <p:spPr>
          <a:xfrm>
            <a:off x="10707624" y="384048"/>
            <a:ext cx="841248" cy="73152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640080" y="585216"/>
            <a:ext cx="146304" cy="146304"/>
          </a:xfrm>
          <a:prstGeom prst="rect">
            <a:avLst/>
          </a:prstGeom>
          <a:solidFill>
            <a:srgbClr val="B07D2B"/>
          </a:solidFill>
          <a:ln/>
        </p:spPr>
      </p:sp>
      <p:sp>
        <p:nvSpPr>
          <p:cNvPr id="4" name="Text 1"/>
          <p:cNvSpPr/>
          <p:nvPr/>
        </p:nvSpPr>
        <p:spPr>
          <a:xfrm>
            <a:off x="914400" y="502920"/>
            <a:ext cx="96286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3F948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ONE PROGRAMME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640080" y="868680"/>
            <a:ext cx="99943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322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Six pillars, one shared method</a:t>
            </a:r>
            <a:endParaRPr lang="en-US" sz="2700" dirty="0"/>
          </a:p>
        </p:txBody>
      </p:sp>
      <p:sp>
        <p:nvSpPr>
          <p:cNvPr id="6" name="Text 3"/>
          <p:cNvSpPr/>
          <p:nvPr/>
        </p:nvSpPr>
        <p:spPr>
          <a:xfrm>
            <a:off x="685800" y="1874520"/>
            <a:ext cx="585216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100"/>
              </a:spcAft>
              <a:buNone/>
            </a:pPr>
            <a:r>
              <a:rPr lang="en-US" sz="150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 · Behaviour &amp; Climate</a:t>
            </a:r>
            <a:endParaRPr lang="en-US" sz="1500" dirty="0"/>
          </a:p>
          <a:p>
            <a:pPr indent="0" marL="0">
              <a:spcAft>
                <a:spcPts val="1100"/>
              </a:spcAft>
              <a:buNone/>
            </a:pPr>
            <a:r>
              <a:rPr lang="en-US" sz="150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 · Adaptive Teaching &amp; Inclusion</a:t>
            </a:r>
            <a:endParaRPr lang="en-US" sz="1500" dirty="0"/>
          </a:p>
          <a:p>
            <a:pPr indent="0" marL="0">
              <a:spcAft>
                <a:spcPts val="1100"/>
              </a:spcAft>
              <a:buNone/>
            </a:pPr>
            <a:r>
              <a:rPr lang="en-US" sz="150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 · Instruction &amp; Modelling</a:t>
            </a:r>
            <a:endParaRPr lang="en-US" sz="1500" dirty="0"/>
          </a:p>
          <a:p>
            <a:pPr indent="0" marL="0">
              <a:spcAft>
                <a:spcPts val="1100"/>
              </a:spcAft>
              <a:buNone/>
            </a:pPr>
            <a:r>
              <a:rPr lang="en-US" sz="150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4 · Checking for Understanding</a:t>
            </a:r>
            <a:endParaRPr lang="en-US" sz="1500" dirty="0"/>
          </a:p>
          <a:p>
            <a:pPr indent="0" marL="0">
              <a:spcAft>
                <a:spcPts val="1100"/>
              </a:spcAft>
              <a:buNone/>
            </a:pPr>
            <a:r>
              <a:rPr lang="en-US" sz="1500" b="1" dirty="0">
                <a:solidFill>
                  <a:srgbClr val="14322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5 · Questioning &amp; Classroom Dialogue</a:t>
            </a:r>
            <a:endParaRPr lang="en-US" sz="1500" dirty="0"/>
          </a:p>
          <a:p>
            <a:pPr indent="0" marL="0">
              <a:spcAft>
                <a:spcPts val="1100"/>
              </a:spcAft>
              <a:buNone/>
            </a:pPr>
            <a:r>
              <a:rPr lang="en-US" sz="150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6 · Standards &amp; Curriculum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640080" y="3483864"/>
            <a:ext cx="64008" cy="292608"/>
          </a:xfrm>
          <a:prstGeom prst="rect">
            <a:avLst/>
          </a:prstGeom>
          <a:solidFill>
            <a:srgbClr val="B07D2B"/>
          </a:solidFill>
          <a:ln/>
        </p:spPr>
      </p:sp>
      <p:sp>
        <p:nvSpPr>
          <p:cNvPr id="8" name="Shape 5"/>
          <p:cNvSpPr/>
          <p:nvPr/>
        </p:nvSpPr>
        <p:spPr>
          <a:xfrm>
            <a:off x="6858000" y="1783080"/>
            <a:ext cx="4663440" cy="3977640"/>
          </a:xfrm>
          <a:prstGeom prst="rect">
            <a:avLst/>
          </a:prstGeom>
          <a:solidFill>
            <a:srgbClr val="E8F1EE"/>
          </a:solidFill>
          <a:ln w="12700">
            <a:solidFill>
              <a:srgbClr val="3F9488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6858000" y="1783080"/>
            <a:ext cx="64008" cy="3977640"/>
          </a:xfrm>
          <a:prstGeom prst="rect">
            <a:avLst/>
          </a:prstGeom>
          <a:solidFill>
            <a:srgbClr val="3F9488"/>
          </a:solidFill>
          <a:ln/>
        </p:spPr>
      </p:sp>
      <p:pic>
        <p:nvPicPr>
          <p:cNvPr id="10" name="Image 1" descr="assets/icon1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14032" y="1993392"/>
            <a:ext cx="457200" cy="45720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7680960" y="201168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322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How teachers use it</a:t>
            </a:r>
            <a:endParaRPr lang="en-US" sz="1600" dirty="0"/>
          </a:p>
        </p:txBody>
      </p:sp>
      <p:sp>
        <p:nvSpPr>
          <p:cNvPr id="12" name="Text 8"/>
          <p:cNvSpPr/>
          <p:nvPr/>
        </p:nvSpPr>
        <p:spPr>
          <a:xfrm>
            <a:off x="7114032" y="2606040"/>
            <a:ext cx="42062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00000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Independent study</a:t>
            </a:r>
            <a:endParaRPr lang="en-US" sz="135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200" dirty="0">
                <a:solidFill>
                  <a:srgbClr val="6B73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the booklet, worked through alone</a:t>
            </a:r>
            <a:endParaRPr lang="en-US" sz="1350" dirty="0"/>
          </a:p>
          <a:p>
            <a:pPr indent="0" marL="0">
              <a:buNone/>
            </a:pPr>
            <a:r>
              <a:rPr lang="en-US" sz="1350" b="1" dirty="0">
                <a:solidFill>
                  <a:srgbClr val="00000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Coaching quartets</a:t>
            </a:r>
            <a:endParaRPr lang="en-US" sz="135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200" dirty="0">
                <a:solidFill>
                  <a:srgbClr val="6B73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three or four colleagues rehearse together</a:t>
            </a:r>
            <a:endParaRPr lang="en-US" sz="1350" dirty="0"/>
          </a:p>
          <a:p>
            <a:pPr indent="0" marL="0">
              <a:buNone/>
            </a:pPr>
            <a:r>
              <a:rPr lang="en-US" sz="1350" b="1" dirty="0">
                <a:solidFill>
                  <a:srgbClr val="00000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Class teams</a:t>
            </a:r>
            <a:endParaRPr lang="en-US" sz="135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200" dirty="0">
                <a:solidFill>
                  <a:srgbClr val="6B73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adapting each method to your class</a:t>
            </a:r>
            <a:endParaRPr lang="en-US" sz="1350" dirty="0"/>
          </a:p>
          <a:p>
            <a:pPr indent="0" marL="0">
              <a:buNone/>
            </a:pPr>
            <a:r>
              <a:rPr lang="en-US" sz="1350" b="1" dirty="0">
                <a:solidFill>
                  <a:srgbClr val="00000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Whole-school CPD</a:t>
            </a:r>
            <a:endParaRPr lang="en-US" sz="1350" dirty="0"/>
          </a:p>
          <a:p>
            <a:pPr indent="0" marL="0">
              <a:buNone/>
            </a:pPr>
            <a:r>
              <a:rPr lang="en-US" sz="1200" dirty="0">
                <a:solidFill>
                  <a:srgbClr val="6B73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this session</a:t>
            </a:r>
            <a:endParaRPr lang="en-US" sz="1350" dirty="0"/>
          </a:p>
        </p:txBody>
      </p:sp>
      <p:sp>
        <p:nvSpPr>
          <p:cNvPr id="13" name="Text 9"/>
          <p:cNvSpPr/>
          <p:nvPr/>
        </p:nvSpPr>
        <p:spPr>
          <a:xfrm>
            <a:off x="64008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3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Teaching Excellence Programme · Questioning &amp; Dialogue</a:t>
            </a:r>
            <a:endParaRPr lang="en-US" sz="800" dirty="0"/>
          </a:p>
        </p:txBody>
      </p:sp>
      <p:sp>
        <p:nvSpPr>
          <p:cNvPr id="14" name="Text 10"/>
          <p:cNvSpPr/>
          <p:nvPr/>
        </p:nvSpPr>
        <p:spPr>
          <a:xfrm>
            <a:off x="7891272" y="645566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73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 Nishkam Schools programme</a:t>
            </a:r>
            <a:pPr algn="r" indent="0" marL="0">
              <a:buNone/>
            </a:pPr>
            <a:r>
              <a:rPr lang="en-US" sz="800" dirty="0">
                <a:solidFill>
                  <a:srgbClr val="6B73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    ·    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crest.png">    </p:cNvPr>
          <p:cNvPicPr>
            <a:picLocks noChangeAspect="1"/>
          </p:cNvPicPr>
          <p:nvPr/>
        </p:nvPicPr>
        <p:blipFill>
          <a:blip r:embed="rId1">
            <a:alphaModFix amt="48000"/>
          </a:blip>
          <a:stretch>
            <a:fillRect/>
          </a:stretch>
        </p:blipFill>
        <p:spPr>
          <a:xfrm>
            <a:off x="10707624" y="384048"/>
            <a:ext cx="841248" cy="73152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640080" y="585216"/>
            <a:ext cx="146304" cy="146304"/>
          </a:xfrm>
          <a:prstGeom prst="rect">
            <a:avLst/>
          </a:prstGeom>
          <a:solidFill>
            <a:srgbClr val="B07D2B"/>
          </a:solidFill>
          <a:ln/>
        </p:spPr>
      </p:sp>
      <p:sp>
        <p:nvSpPr>
          <p:cNvPr id="4" name="Text 1"/>
          <p:cNvSpPr/>
          <p:nvPr/>
        </p:nvSpPr>
        <p:spPr>
          <a:xfrm>
            <a:off x="914400" y="502920"/>
            <a:ext cx="96286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3F948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THIS SESSION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640080" y="868680"/>
            <a:ext cx="99943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322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What this hour does</a:t>
            </a:r>
            <a:endParaRPr lang="en-US" sz="2700" dirty="0"/>
          </a:p>
        </p:txBody>
      </p:sp>
      <p:sp>
        <p:nvSpPr>
          <p:cNvPr id="6" name="Text 3"/>
          <p:cNvSpPr/>
          <p:nvPr/>
        </p:nvSpPr>
        <p:spPr>
          <a:xfrm>
            <a:off x="640080" y="1965960"/>
            <a:ext cx="7772400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300"/>
              </a:spcAft>
              <a:buSzPct val="100000"/>
              <a:buChar char="•"/>
            </a:pPr>
            <a:r>
              <a:rPr lang="en-US" sz="170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Design questioning so every pupil thinks, not just the volunteer.</a:t>
            </a:r>
            <a:endParaRPr lang="en-US" sz="1700" dirty="0"/>
          </a:p>
          <a:p>
            <a:pPr marL="342900" indent="-342900">
              <a:spcAft>
                <a:spcPts val="1300"/>
              </a:spcAft>
              <a:buSzPct val="100000"/>
              <a:buChar char="•"/>
            </a:pPr>
            <a:r>
              <a:rPr lang="en-US" sz="170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Build cold-calling, probing, and pair-share into one sequence.</a:t>
            </a:r>
            <a:endParaRPr lang="en-US" sz="1700" dirty="0"/>
          </a:p>
          <a:p>
            <a:pPr marL="342900" indent="-342900">
              <a:spcAft>
                <a:spcPts val="1300"/>
              </a:spcAft>
              <a:buSzPct val="100000"/>
              <a:buChar char="•"/>
            </a:pPr>
            <a:r>
              <a:rPr lang="en-US" sz="170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Rehearse holding the pause, and following an answer with a second question.</a:t>
            </a:r>
            <a:endParaRPr lang="en-US" sz="1700" dirty="0"/>
          </a:p>
          <a:p>
            <a:pPr marL="342900" indent="-342900">
              <a:spcAft>
                <a:spcPts val="1300"/>
              </a:spcAft>
              <a:buSzPct val="100000"/>
              <a:buChar char="•"/>
            </a:pPr>
            <a:r>
              <a:rPr lang="en-US" sz="170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Leave with one lesson planned hands-down.</a:t>
            </a:r>
            <a:endParaRPr lang="en-US" sz="1700" dirty="0"/>
          </a:p>
        </p:txBody>
      </p:sp>
      <p:sp>
        <p:nvSpPr>
          <p:cNvPr id="7" name="Shape 4"/>
          <p:cNvSpPr/>
          <p:nvPr/>
        </p:nvSpPr>
        <p:spPr>
          <a:xfrm>
            <a:off x="8869680" y="1965960"/>
            <a:ext cx="2651760" cy="2651760"/>
          </a:xfrm>
          <a:prstGeom prst="rect">
            <a:avLst/>
          </a:prstGeom>
          <a:solidFill>
            <a:srgbClr val="F4ECE0"/>
          </a:solidFill>
          <a:ln w="12700">
            <a:solidFill>
              <a:srgbClr val="B07D2B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869680" y="1965960"/>
            <a:ext cx="64008" cy="2651760"/>
          </a:xfrm>
          <a:prstGeom prst="rect">
            <a:avLst/>
          </a:prstGeom>
          <a:solidFill>
            <a:srgbClr val="B07D2B"/>
          </a:solidFill>
          <a:ln/>
        </p:spPr>
      </p:sp>
      <p:pic>
        <p:nvPicPr>
          <p:cNvPr id="9" name="Image 1" descr="assets/icon8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98280" y="2194560"/>
            <a:ext cx="420624" cy="420624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9098280" y="269748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322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Keep the booklet open</a:t>
            </a:r>
            <a:endParaRPr lang="en-US" sz="1400" dirty="0"/>
          </a:p>
        </p:txBody>
      </p:sp>
      <p:sp>
        <p:nvSpPr>
          <p:cNvPr id="11" name="Text 7"/>
          <p:cNvSpPr/>
          <p:nvPr/>
        </p:nvSpPr>
        <p:spPr>
          <a:xfrm>
            <a:off x="9098280" y="3246120"/>
            <a:ext cx="22860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The slides lead the room; the booklet is where you record your thinking and the tasks.</a:t>
            </a:r>
            <a:endParaRPr lang="en-US" sz="1250" dirty="0"/>
          </a:p>
        </p:txBody>
      </p:sp>
      <p:pic>
        <p:nvPicPr>
          <p:cNvPr id="12" name="Image 2" descr="assets/icon9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5495544"/>
            <a:ext cx="310896" cy="310896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097280" y="5477256"/>
            <a:ext cx="104515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4322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Discuss  </a:t>
            </a:r>
            <a:pPr indent="0" marL="0">
              <a:buNone/>
            </a:pPr>
            <a:r>
              <a:rPr lang="en-US" sz="125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In your classroom, who does most of the answering — and what are the others doing?</a:t>
            </a:r>
            <a:endParaRPr lang="en-US" sz="1250" dirty="0"/>
          </a:p>
        </p:txBody>
      </p:sp>
      <p:sp>
        <p:nvSpPr>
          <p:cNvPr id="14" name="Text 9"/>
          <p:cNvSpPr/>
          <p:nvPr/>
        </p:nvSpPr>
        <p:spPr>
          <a:xfrm>
            <a:off x="64008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3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Teaching Excellence Programme · Questioning &amp; Dialogue</a:t>
            </a:r>
            <a:endParaRPr lang="en-US" sz="800" dirty="0"/>
          </a:p>
        </p:txBody>
      </p:sp>
      <p:sp>
        <p:nvSpPr>
          <p:cNvPr id="15" name="Text 10"/>
          <p:cNvSpPr/>
          <p:nvPr/>
        </p:nvSpPr>
        <p:spPr>
          <a:xfrm>
            <a:off x="7891272" y="645566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73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 Nishkam Schools programme</a:t>
            </a:r>
            <a:pPr algn="r" indent="0" marL="0">
              <a:buNone/>
            </a:pPr>
            <a:r>
              <a:rPr lang="en-US" sz="800" dirty="0">
                <a:solidFill>
                  <a:srgbClr val="6B73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    ·    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crest.png">    </p:cNvPr>
          <p:cNvPicPr>
            <a:picLocks noChangeAspect="1"/>
          </p:cNvPicPr>
          <p:nvPr/>
        </p:nvPicPr>
        <p:blipFill>
          <a:blip r:embed="rId1">
            <a:alphaModFix amt="48000"/>
          </a:blip>
          <a:stretch>
            <a:fillRect/>
          </a:stretch>
        </p:blipFill>
        <p:spPr>
          <a:xfrm>
            <a:off x="10707624" y="384048"/>
            <a:ext cx="841248" cy="73152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640080" y="585216"/>
            <a:ext cx="146304" cy="146304"/>
          </a:xfrm>
          <a:prstGeom prst="rect">
            <a:avLst/>
          </a:prstGeom>
          <a:solidFill>
            <a:srgbClr val="B07D2B"/>
          </a:solidFill>
          <a:ln/>
        </p:spPr>
      </p:sp>
      <p:sp>
        <p:nvSpPr>
          <p:cNvPr id="4" name="Text 1"/>
          <p:cNvSpPr/>
          <p:nvPr/>
        </p:nvSpPr>
        <p:spPr>
          <a:xfrm>
            <a:off x="914400" y="502920"/>
            <a:ext cx="96286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3F948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WHY THIS MATTERS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640080" y="868680"/>
            <a:ext cx="99943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322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Who does the thinking</a:t>
            </a:r>
            <a:endParaRPr lang="en-US" sz="2700" dirty="0"/>
          </a:p>
        </p:txBody>
      </p:sp>
      <p:sp>
        <p:nvSpPr>
          <p:cNvPr id="6" name="Shape 3"/>
          <p:cNvSpPr/>
          <p:nvPr/>
        </p:nvSpPr>
        <p:spPr>
          <a:xfrm>
            <a:off x="640080" y="1783080"/>
            <a:ext cx="5074920" cy="3154680"/>
          </a:xfrm>
          <a:prstGeom prst="rect">
            <a:avLst/>
          </a:prstGeom>
          <a:solidFill>
            <a:srgbClr val="F4F1EC"/>
          </a:solidFill>
          <a:ln w="12700">
            <a:solidFill>
              <a:srgbClr val="C0613F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640080" y="1783080"/>
            <a:ext cx="64008" cy="3154680"/>
          </a:xfrm>
          <a:prstGeom prst="rect">
            <a:avLst/>
          </a:prstGeom>
          <a:solidFill>
            <a:srgbClr val="C0613F"/>
          </a:solidFill>
          <a:ln/>
        </p:spPr>
      </p:sp>
      <p:pic>
        <p:nvPicPr>
          <p:cNvPr id="8" name="Image 1" descr="assets/icon5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1920240"/>
            <a:ext cx="384048" cy="384048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371600" y="1920240"/>
            <a:ext cx="4160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8A4836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Taking hands up</a:t>
            </a:r>
            <a:endParaRPr lang="en-US" sz="1600" dirty="0"/>
          </a:p>
        </p:txBody>
      </p:sp>
      <p:sp>
        <p:nvSpPr>
          <p:cNvPr id="10" name="Text 6"/>
          <p:cNvSpPr/>
          <p:nvPr/>
        </p:nvSpPr>
        <p:spPr>
          <a:xfrm>
            <a:off x="868680" y="2423160"/>
            <a:ext cx="46177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You hear from those who already know.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The rest learn that thinking is optional.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The first answer ends the thinking.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Talk is a performance by a few.</a:t>
            </a:r>
            <a:endParaRPr lang="en-US" sz="1300" dirty="0"/>
          </a:p>
        </p:txBody>
      </p:sp>
      <p:sp>
        <p:nvSpPr>
          <p:cNvPr id="11" name="Shape 7"/>
          <p:cNvSpPr/>
          <p:nvPr/>
        </p:nvSpPr>
        <p:spPr>
          <a:xfrm>
            <a:off x="6126480" y="1783080"/>
            <a:ext cx="5074920" cy="3154680"/>
          </a:xfrm>
          <a:prstGeom prst="rect">
            <a:avLst/>
          </a:prstGeom>
          <a:solidFill>
            <a:srgbClr val="E8F1EE"/>
          </a:solidFill>
          <a:ln w="12700">
            <a:solidFill>
              <a:srgbClr val="3F9488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6126480" y="1783080"/>
            <a:ext cx="64008" cy="3154680"/>
          </a:xfrm>
          <a:prstGeom prst="rect">
            <a:avLst/>
          </a:prstGeom>
          <a:solidFill>
            <a:srgbClr val="3F9488"/>
          </a:solidFill>
          <a:ln/>
        </p:spPr>
      </p:sp>
      <p:pic>
        <p:nvPicPr>
          <p:cNvPr id="13" name="Image 2" descr="assets/icon6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1920240"/>
            <a:ext cx="384048" cy="384048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6858000" y="1920240"/>
            <a:ext cx="4160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322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Every pupil thinking</a:t>
            </a:r>
            <a:endParaRPr lang="en-US" sz="1600" dirty="0"/>
          </a:p>
        </p:txBody>
      </p:sp>
      <p:sp>
        <p:nvSpPr>
          <p:cNvPr id="15" name="Text 10"/>
          <p:cNvSpPr/>
          <p:nvPr/>
        </p:nvSpPr>
        <p:spPr>
          <a:xfrm>
            <a:off x="6355080" y="2423160"/>
            <a:ext cx="46177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Any pupil might be asked, so all think.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 held pause makes answers longer and better.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 second question follows the first answer.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Pairs rehearse before anyone speaks aloud.</a:t>
            </a:r>
            <a:endParaRPr lang="en-US" sz="1300" dirty="0"/>
          </a:p>
        </p:txBody>
      </p:sp>
      <p:pic>
        <p:nvPicPr>
          <p:cNvPr id="16" name="Image 3" descr="assets/icon9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5175504"/>
            <a:ext cx="310896" cy="310896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1097280" y="5157216"/>
            <a:ext cx="104515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4322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Discuss  </a:t>
            </a:r>
            <a:pPr indent="0" marL="0">
              <a:buNone/>
            </a:pPr>
            <a:r>
              <a:rPr lang="en-US" sz="125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Which describes your questioning at 2:50pm — and which routine would change it?</a:t>
            </a:r>
            <a:endParaRPr lang="en-US" sz="1250" dirty="0"/>
          </a:p>
        </p:txBody>
      </p:sp>
      <p:sp>
        <p:nvSpPr>
          <p:cNvPr id="18" name="Text 12"/>
          <p:cNvSpPr/>
          <p:nvPr/>
        </p:nvSpPr>
        <p:spPr>
          <a:xfrm>
            <a:off x="64008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3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Teaching Excellence Programme · Questioning &amp; Dialogue</a:t>
            </a:r>
            <a:endParaRPr lang="en-US" sz="800" dirty="0"/>
          </a:p>
        </p:txBody>
      </p:sp>
      <p:sp>
        <p:nvSpPr>
          <p:cNvPr id="19" name="Text 13"/>
          <p:cNvSpPr/>
          <p:nvPr/>
        </p:nvSpPr>
        <p:spPr>
          <a:xfrm>
            <a:off x="7891272" y="645566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73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 Nishkam Schools programme</a:t>
            </a:r>
            <a:pPr algn="r" indent="0" marL="0">
              <a:buNone/>
            </a:pPr>
            <a:r>
              <a:rPr lang="en-US" sz="800" dirty="0">
                <a:solidFill>
                  <a:srgbClr val="6B73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    ·    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32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crest_light.png">    </p:cNvPr>
          <p:cNvPicPr>
            <a:picLocks noChangeAspect="1"/>
          </p:cNvPicPr>
          <p:nvPr/>
        </p:nvPicPr>
        <p:blipFill>
          <a:blip r:embed="rId1">
            <a:alphaModFix amt="60000"/>
          </a:blip>
          <a:stretch>
            <a:fillRect/>
          </a:stretch>
        </p:blipFill>
        <p:spPr>
          <a:xfrm>
            <a:off x="10707624" y="384048"/>
            <a:ext cx="841248" cy="73152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640080" y="2286000"/>
            <a:ext cx="201168" cy="201168"/>
          </a:xfrm>
          <a:prstGeom prst="rect">
            <a:avLst/>
          </a:prstGeom>
          <a:solidFill>
            <a:srgbClr val="B07D2B"/>
          </a:solidFill>
          <a:ln/>
        </p:spPr>
      </p:sp>
      <p:sp>
        <p:nvSpPr>
          <p:cNvPr id="4" name="Text 1"/>
          <p:cNvSpPr/>
          <p:nvPr/>
        </p:nvSpPr>
        <p:spPr>
          <a:xfrm>
            <a:off x="640080" y="2606040"/>
            <a:ext cx="104241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 question answered by a volunteer tells you one pupil knew. The rest may have switched off the moment a hand went up.</a:t>
            </a:r>
            <a:endParaRPr lang="en-US" sz="2800" dirty="0"/>
          </a:p>
        </p:txBody>
      </p:sp>
      <p:sp>
        <p:nvSpPr>
          <p:cNvPr id="5" name="Text 2"/>
          <p:cNvSpPr/>
          <p:nvPr/>
        </p:nvSpPr>
        <p:spPr>
          <a:xfrm>
            <a:off x="640080" y="448056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BFE0D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When the teacher waits, pupils have time to think.  </a:t>
            </a:r>
            <a:pPr indent="0" marL="0">
              <a:buNone/>
            </a:pPr>
            <a:r>
              <a:rPr lang="en-US" sz="1600" dirty="0">
                <a:solidFill>
                  <a:srgbClr val="8FB8A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— a principle of this programme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crest.png">    </p:cNvPr>
          <p:cNvPicPr>
            <a:picLocks noChangeAspect="1"/>
          </p:cNvPicPr>
          <p:nvPr/>
        </p:nvPicPr>
        <p:blipFill>
          <a:blip r:embed="rId1">
            <a:alphaModFix amt="48000"/>
          </a:blip>
          <a:stretch>
            <a:fillRect/>
          </a:stretch>
        </p:blipFill>
        <p:spPr>
          <a:xfrm>
            <a:off x="10707624" y="384048"/>
            <a:ext cx="841248" cy="73152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640080" y="585216"/>
            <a:ext cx="146304" cy="146304"/>
          </a:xfrm>
          <a:prstGeom prst="rect">
            <a:avLst/>
          </a:prstGeom>
          <a:solidFill>
            <a:srgbClr val="B07D2B"/>
          </a:solidFill>
          <a:ln/>
        </p:spPr>
      </p:sp>
      <p:sp>
        <p:nvSpPr>
          <p:cNvPr id="4" name="Text 1"/>
          <p:cNvSpPr/>
          <p:nvPr/>
        </p:nvSpPr>
        <p:spPr>
          <a:xfrm>
            <a:off x="914400" y="502920"/>
            <a:ext cx="96286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3F948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THE ROUTINES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640080" y="868680"/>
            <a:ext cx="99943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322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Four questioning routines</a:t>
            </a:r>
            <a:endParaRPr lang="en-US" sz="2700" dirty="0"/>
          </a:p>
        </p:txBody>
      </p:sp>
      <p:sp>
        <p:nvSpPr>
          <p:cNvPr id="6" name="Shape 3"/>
          <p:cNvSpPr/>
          <p:nvPr/>
        </p:nvSpPr>
        <p:spPr>
          <a:xfrm>
            <a:off x="640080" y="1828800"/>
            <a:ext cx="5074920" cy="1554480"/>
          </a:xfrm>
          <a:prstGeom prst="rect">
            <a:avLst/>
          </a:prstGeom>
          <a:solidFill>
            <a:srgbClr val="F7FAF8"/>
          </a:solidFill>
          <a:ln w="12700">
            <a:solidFill>
              <a:srgbClr val="3F9488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640080" y="1828800"/>
            <a:ext cx="64008" cy="1554480"/>
          </a:xfrm>
          <a:prstGeom prst="rect">
            <a:avLst/>
          </a:prstGeom>
          <a:solidFill>
            <a:srgbClr val="3F9488"/>
          </a:solidFill>
          <a:ln/>
        </p:spPr>
      </p:sp>
      <p:pic>
        <p:nvPicPr>
          <p:cNvPr id="8" name="Image 1" descr="assets/icon9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6112" y="2066544"/>
            <a:ext cx="457200" cy="45720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508760" y="2048256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322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Cold-calling</a:t>
            </a:r>
            <a:endParaRPr lang="en-US" sz="1600" dirty="0"/>
          </a:p>
        </p:txBody>
      </p:sp>
      <p:sp>
        <p:nvSpPr>
          <p:cNvPr id="10" name="Text 6"/>
          <p:cNvSpPr/>
          <p:nvPr/>
        </p:nvSpPr>
        <p:spPr>
          <a:xfrm>
            <a:off x="896112" y="2578608"/>
            <a:ext cx="4572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Pose to all, hold the pause, then name — so everyone thinks. Warm, never a gotcha.</a:t>
            </a:r>
            <a:endParaRPr lang="en-US" sz="1250" dirty="0"/>
          </a:p>
        </p:txBody>
      </p:sp>
      <p:sp>
        <p:nvSpPr>
          <p:cNvPr id="11" name="Shape 7"/>
          <p:cNvSpPr/>
          <p:nvPr/>
        </p:nvSpPr>
        <p:spPr>
          <a:xfrm>
            <a:off x="6126480" y="1828800"/>
            <a:ext cx="5074920" cy="1554480"/>
          </a:xfrm>
          <a:prstGeom prst="rect">
            <a:avLst/>
          </a:prstGeom>
          <a:solidFill>
            <a:srgbClr val="F7FAF8"/>
          </a:solidFill>
          <a:ln w="12700">
            <a:solidFill>
              <a:srgbClr val="3F9488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6126480" y="1828800"/>
            <a:ext cx="64008" cy="1554480"/>
          </a:xfrm>
          <a:prstGeom prst="rect">
            <a:avLst/>
          </a:prstGeom>
          <a:solidFill>
            <a:srgbClr val="3F9488"/>
          </a:solidFill>
          <a:ln/>
        </p:spPr>
      </p:sp>
      <p:pic>
        <p:nvPicPr>
          <p:cNvPr id="13" name="Image 2" descr="assets/icon12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2512" y="2066544"/>
            <a:ext cx="457200" cy="457200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6995160" y="2048256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322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Wait time</a:t>
            </a:r>
            <a:endParaRPr lang="en-US" sz="1600" dirty="0"/>
          </a:p>
        </p:txBody>
      </p:sp>
      <p:sp>
        <p:nvSpPr>
          <p:cNvPr id="15" name="Text 10"/>
          <p:cNvSpPr/>
          <p:nvPr/>
        </p:nvSpPr>
        <p:spPr>
          <a:xfrm>
            <a:off x="6382512" y="2578608"/>
            <a:ext cx="4572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 few seconds of silence after the question transforms the answers.</a:t>
            </a:r>
            <a:endParaRPr lang="en-US" sz="1250" dirty="0"/>
          </a:p>
        </p:txBody>
      </p:sp>
      <p:sp>
        <p:nvSpPr>
          <p:cNvPr id="16" name="Shape 11"/>
          <p:cNvSpPr/>
          <p:nvPr/>
        </p:nvSpPr>
        <p:spPr>
          <a:xfrm>
            <a:off x="640080" y="3703320"/>
            <a:ext cx="5074920" cy="1554480"/>
          </a:xfrm>
          <a:prstGeom prst="rect">
            <a:avLst/>
          </a:prstGeom>
          <a:solidFill>
            <a:srgbClr val="F7FAF8"/>
          </a:solidFill>
          <a:ln w="12700">
            <a:solidFill>
              <a:srgbClr val="3F9488"/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640080" y="3703320"/>
            <a:ext cx="64008" cy="1554480"/>
          </a:xfrm>
          <a:prstGeom prst="rect">
            <a:avLst/>
          </a:prstGeom>
          <a:solidFill>
            <a:srgbClr val="3F9488"/>
          </a:solidFill>
          <a:ln/>
        </p:spPr>
      </p:sp>
      <p:pic>
        <p:nvPicPr>
          <p:cNvPr id="18" name="Image 3" descr="assets/icon4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6112" y="3941064"/>
            <a:ext cx="457200" cy="457200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1508760" y="3922776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322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Probing</a:t>
            </a:r>
            <a:endParaRPr lang="en-US" sz="1600" dirty="0"/>
          </a:p>
        </p:txBody>
      </p:sp>
      <p:sp>
        <p:nvSpPr>
          <p:cNvPr id="20" name="Text 14"/>
          <p:cNvSpPr/>
          <p:nvPr/>
        </p:nvSpPr>
        <p:spPr>
          <a:xfrm>
            <a:off x="896112" y="4453128"/>
            <a:ext cx="4572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Follow the first answer with a second question that deepens it.</a:t>
            </a:r>
            <a:endParaRPr lang="en-US" sz="1250" dirty="0"/>
          </a:p>
        </p:txBody>
      </p:sp>
      <p:sp>
        <p:nvSpPr>
          <p:cNvPr id="21" name="Shape 15"/>
          <p:cNvSpPr/>
          <p:nvPr/>
        </p:nvSpPr>
        <p:spPr>
          <a:xfrm>
            <a:off x="6126480" y="3703320"/>
            <a:ext cx="5074920" cy="1554480"/>
          </a:xfrm>
          <a:prstGeom prst="rect">
            <a:avLst/>
          </a:prstGeom>
          <a:solidFill>
            <a:srgbClr val="F7FAF8"/>
          </a:solidFill>
          <a:ln w="12700">
            <a:solidFill>
              <a:srgbClr val="3F9488"/>
            </a:solidFill>
            <a:prstDash val="solid"/>
          </a:ln>
        </p:spPr>
      </p:sp>
      <p:sp>
        <p:nvSpPr>
          <p:cNvPr id="22" name="Shape 16"/>
          <p:cNvSpPr/>
          <p:nvPr/>
        </p:nvSpPr>
        <p:spPr>
          <a:xfrm>
            <a:off x="6126480" y="3703320"/>
            <a:ext cx="64008" cy="1554480"/>
          </a:xfrm>
          <a:prstGeom prst="rect">
            <a:avLst/>
          </a:prstGeom>
          <a:solidFill>
            <a:srgbClr val="3F9488"/>
          </a:solidFill>
          <a:ln/>
        </p:spPr>
      </p:sp>
      <p:pic>
        <p:nvPicPr>
          <p:cNvPr id="23" name="Image 4" descr="assets/icon15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82512" y="3941064"/>
            <a:ext cx="457200" cy="457200"/>
          </a:xfrm>
          <a:prstGeom prst="rect">
            <a:avLst/>
          </a:prstGeom>
        </p:spPr>
      </p:pic>
      <p:sp>
        <p:nvSpPr>
          <p:cNvPr id="24" name="Text 17"/>
          <p:cNvSpPr/>
          <p:nvPr/>
        </p:nvSpPr>
        <p:spPr>
          <a:xfrm>
            <a:off x="6995160" y="3922776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322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Pair-share</a:t>
            </a:r>
            <a:endParaRPr lang="en-US" sz="1600" dirty="0"/>
          </a:p>
        </p:txBody>
      </p:sp>
      <p:sp>
        <p:nvSpPr>
          <p:cNvPr id="25" name="Text 18"/>
          <p:cNvSpPr/>
          <p:nvPr/>
        </p:nvSpPr>
        <p:spPr>
          <a:xfrm>
            <a:off x="6382512" y="4453128"/>
            <a:ext cx="4572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Brief paired rehearsal so every pupil frames an answer before speaking.</a:t>
            </a:r>
            <a:endParaRPr lang="en-US" sz="1250" dirty="0"/>
          </a:p>
        </p:txBody>
      </p:sp>
      <p:pic>
        <p:nvPicPr>
          <p:cNvPr id="26" name="Image 5" descr="assets/icon9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0080" y="5495544"/>
            <a:ext cx="310896" cy="310896"/>
          </a:xfrm>
          <a:prstGeom prst="rect">
            <a:avLst/>
          </a:prstGeom>
        </p:spPr>
      </p:pic>
      <p:sp>
        <p:nvSpPr>
          <p:cNvPr id="27" name="Text 19"/>
          <p:cNvSpPr/>
          <p:nvPr/>
        </p:nvSpPr>
        <p:spPr>
          <a:xfrm>
            <a:off x="1097280" y="5477256"/>
            <a:ext cx="104515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4322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Discuss  </a:t>
            </a:r>
            <a:pPr indent="0" marL="0">
              <a:buNone/>
            </a:pPr>
            <a:r>
              <a:rPr lang="en-US" sz="125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Which routine would most change who does the thinking in your room?</a:t>
            </a:r>
            <a:endParaRPr lang="en-US" sz="1250" dirty="0"/>
          </a:p>
        </p:txBody>
      </p:sp>
      <p:sp>
        <p:nvSpPr>
          <p:cNvPr id="28" name="Text 20"/>
          <p:cNvSpPr/>
          <p:nvPr/>
        </p:nvSpPr>
        <p:spPr>
          <a:xfrm>
            <a:off x="64008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3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Teaching Excellence Programme · Questioning &amp; Dialogue</a:t>
            </a:r>
            <a:endParaRPr lang="en-US" sz="800" dirty="0"/>
          </a:p>
        </p:txBody>
      </p:sp>
      <p:sp>
        <p:nvSpPr>
          <p:cNvPr id="29" name="Text 21"/>
          <p:cNvSpPr/>
          <p:nvPr/>
        </p:nvSpPr>
        <p:spPr>
          <a:xfrm>
            <a:off x="7891272" y="645566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73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 Nishkam Schools programme</a:t>
            </a:r>
            <a:pPr algn="r" indent="0" marL="0">
              <a:buNone/>
            </a:pPr>
            <a:r>
              <a:rPr lang="en-US" sz="800" dirty="0">
                <a:solidFill>
                  <a:srgbClr val="6B73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    ·    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crest.png">    </p:cNvPr>
          <p:cNvPicPr>
            <a:picLocks noChangeAspect="1"/>
          </p:cNvPicPr>
          <p:nvPr/>
        </p:nvPicPr>
        <p:blipFill>
          <a:blip r:embed="rId1">
            <a:alphaModFix amt="48000"/>
          </a:blip>
          <a:stretch>
            <a:fillRect/>
          </a:stretch>
        </p:blipFill>
        <p:spPr>
          <a:xfrm>
            <a:off x="10707624" y="384048"/>
            <a:ext cx="841248" cy="73152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640080" y="585216"/>
            <a:ext cx="146304" cy="146304"/>
          </a:xfrm>
          <a:prstGeom prst="rect">
            <a:avLst/>
          </a:prstGeom>
          <a:solidFill>
            <a:srgbClr val="B07D2B"/>
          </a:solidFill>
          <a:ln/>
        </p:spPr>
      </p:sp>
      <p:sp>
        <p:nvSpPr>
          <p:cNvPr id="4" name="Text 1"/>
          <p:cNvSpPr/>
          <p:nvPr/>
        </p:nvSpPr>
        <p:spPr>
          <a:xfrm>
            <a:off x="914400" y="502920"/>
            <a:ext cx="96286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3F948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THE THINKING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640080" y="868680"/>
            <a:ext cx="99943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322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Where this comes from</a:t>
            </a:r>
            <a:endParaRPr lang="en-US" sz="2700" dirty="0"/>
          </a:p>
        </p:txBody>
      </p:sp>
      <p:pic>
        <p:nvPicPr>
          <p:cNvPr id="6" name="Image 1" descr="assets/icon3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874520"/>
            <a:ext cx="502920" cy="50292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1325880" y="1828800"/>
            <a:ext cx="7040880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Dylan Wiliam — </a:t>
            </a:r>
            <a:pPr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remove the choice to opt out; build in wait time so every pupil has to think.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Mary Budd Rowe — </a:t>
            </a:r>
            <a:pPr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 few seconds of wait time markedly lengthens and improves pupils’ answers.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Doug Lemov — </a:t>
            </a:r>
            <a:pPr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Cold Call and Turn and Talk make participation universal rather than volunteered.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Robin Alexander — </a:t>
            </a:r>
            <a:pPr indent="0" marL="0">
              <a:buNone/>
            </a:pPr>
            <a:r>
              <a:rPr lang="en-US" sz="150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dialogic talk: answers are followed up, built on and connected, not just collected.</a:t>
            </a:r>
            <a:endParaRPr lang="en-US" sz="1500" dirty="0"/>
          </a:p>
        </p:txBody>
      </p:sp>
      <p:sp>
        <p:nvSpPr>
          <p:cNvPr id="8" name="Shape 4"/>
          <p:cNvSpPr/>
          <p:nvPr/>
        </p:nvSpPr>
        <p:spPr>
          <a:xfrm>
            <a:off x="8686800" y="1828800"/>
            <a:ext cx="2834640" cy="2377440"/>
          </a:xfrm>
          <a:prstGeom prst="rect">
            <a:avLst/>
          </a:prstGeom>
          <a:solidFill>
            <a:srgbClr val="F4ECE0"/>
          </a:solidFill>
          <a:ln w="12700">
            <a:solidFill>
              <a:srgbClr val="B07D2B"/>
            </a:solidFill>
            <a:prstDash val="solid"/>
          </a:ln>
        </p:spPr>
      </p:sp>
      <p:sp>
        <p:nvSpPr>
          <p:cNvPr id="9" name="Shape 5"/>
          <p:cNvSpPr/>
          <p:nvPr/>
        </p:nvSpPr>
        <p:spPr>
          <a:xfrm>
            <a:off x="8686800" y="1828800"/>
            <a:ext cx="64008" cy="2377440"/>
          </a:xfrm>
          <a:prstGeom prst="rect">
            <a:avLst/>
          </a:prstGeom>
          <a:solidFill>
            <a:srgbClr val="B07D2B"/>
          </a:solidFill>
          <a:ln/>
        </p:spPr>
      </p:sp>
      <p:pic>
        <p:nvPicPr>
          <p:cNvPr id="10" name="Image 2" descr="assets/icon9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15400" y="2011680"/>
            <a:ext cx="365760" cy="365760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9326880" y="201168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322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Discuss</a:t>
            </a:r>
            <a:endParaRPr lang="en-US" sz="1500" dirty="0"/>
          </a:p>
        </p:txBody>
      </p:sp>
      <p:sp>
        <p:nvSpPr>
          <p:cNvPr id="12" name="Text 7"/>
          <p:cNvSpPr/>
          <p:nvPr/>
        </p:nvSpPr>
        <p:spPr>
          <a:xfrm>
            <a:off x="8915400" y="2560320"/>
            <a:ext cx="24231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How long is your wait time really — and what would doubling it change?</a:t>
            </a:r>
            <a:endParaRPr lang="en-US" sz="1300" dirty="0"/>
          </a:p>
        </p:txBody>
      </p:sp>
      <p:sp>
        <p:nvSpPr>
          <p:cNvPr id="13" name="Text 8"/>
          <p:cNvSpPr/>
          <p:nvPr/>
        </p:nvSpPr>
        <p:spPr>
          <a:xfrm>
            <a:off x="640080" y="5715000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3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Wiliam, Embedded Formative Assessment · Rowe on wait time · Lemov, Teach Like a Champion · Alexander, Dialogic Teaching.</a:t>
            </a:r>
            <a:endParaRPr lang="en-US" sz="1050" dirty="0"/>
          </a:p>
        </p:txBody>
      </p:sp>
      <p:sp>
        <p:nvSpPr>
          <p:cNvPr id="14" name="Text 9"/>
          <p:cNvSpPr/>
          <p:nvPr/>
        </p:nvSpPr>
        <p:spPr>
          <a:xfrm>
            <a:off x="64008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3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Teaching Excellence Programme · Questioning &amp; Dialogue</a:t>
            </a:r>
            <a:endParaRPr lang="en-US" sz="800" dirty="0"/>
          </a:p>
        </p:txBody>
      </p:sp>
      <p:sp>
        <p:nvSpPr>
          <p:cNvPr id="15" name="Text 10"/>
          <p:cNvSpPr/>
          <p:nvPr/>
        </p:nvSpPr>
        <p:spPr>
          <a:xfrm>
            <a:off x="7891272" y="645566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73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 Nishkam Schools programme</a:t>
            </a:r>
            <a:pPr algn="r" indent="0" marL="0">
              <a:buNone/>
            </a:pPr>
            <a:r>
              <a:rPr lang="en-US" sz="800" dirty="0">
                <a:solidFill>
                  <a:srgbClr val="6B73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    ·    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crest.png">    </p:cNvPr>
          <p:cNvPicPr>
            <a:picLocks noChangeAspect="1"/>
          </p:cNvPicPr>
          <p:nvPr/>
        </p:nvPicPr>
        <p:blipFill>
          <a:blip r:embed="rId1">
            <a:alphaModFix amt="48000"/>
          </a:blip>
          <a:stretch>
            <a:fillRect/>
          </a:stretch>
        </p:blipFill>
        <p:spPr>
          <a:xfrm>
            <a:off x="10707624" y="384048"/>
            <a:ext cx="841248" cy="73152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640080" y="585216"/>
            <a:ext cx="146304" cy="146304"/>
          </a:xfrm>
          <a:prstGeom prst="rect">
            <a:avLst/>
          </a:prstGeom>
          <a:solidFill>
            <a:srgbClr val="B07D2B"/>
          </a:solidFill>
          <a:ln/>
        </p:spPr>
      </p:sp>
      <p:sp>
        <p:nvSpPr>
          <p:cNvPr id="4" name="Text 1"/>
          <p:cNvSpPr/>
          <p:nvPr/>
        </p:nvSpPr>
        <p:spPr>
          <a:xfrm>
            <a:off x="914400" y="502920"/>
            <a:ext cx="96286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3F948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THE SEQUENCE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640080" y="868680"/>
            <a:ext cx="99943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322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Choral → MWB → Pair → Cold-call</a:t>
            </a:r>
            <a:endParaRPr lang="en-US" sz="2700" dirty="0"/>
          </a:p>
        </p:txBody>
      </p:sp>
      <p:sp>
        <p:nvSpPr>
          <p:cNvPr id="6" name="Shape 3"/>
          <p:cNvSpPr/>
          <p:nvPr/>
        </p:nvSpPr>
        <p:spPr>
          <a:xfrm>
            <a:off x="640080" y="1828800"/>
            <a:ext cx="2521458" cy="566928"/>
          </a:xfrm>
          <a:prstGeom prst="rect">
            <a:avLst/>
          </a:prstGeom>
          <a:solidFill>
            <a:srgbClr val="3F9488"/>
          </a:solidFill>
          <a:ln/>
        </p:spPr>
      </p:sp>
      <p:sp>
        <p:nvSpPr>
          <p:cNvPr id="7" name="Text 4"/>
          <p:cNvSpPr/>
          <p:nvPr/>
        </p:nvSpPr>
        <p:spPr>
          <a:xfrm>
            <a:off x="640080" y="1828800"/>
            <a:ext cx="252145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CHORAL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640080" y="2395728"/>
            <a:ext cx="2521458" cy="2816352"/>
          </a:xfrm>
          <a:prstGeom prst="rect">
            <a:avLst/>
          </a:prstGeom>
          <a:solidFill>
            <a:srgbClr val="F7FAF8"/>
          </a:solidFill>
          <a:ln/>
        </p:spPr>
      </p:sp>
      <p:sp>
        <p:nvSpPr>
          <p:cNvPr id="9" name="Text 6"/>
          <p:cNvSpPr/>
          <p:nvPr/>
        </p:nvSpPr>
        <p:spPr>
          <a:xfrm>
            <a:off x="804672" y="2560320"/>
            <a:ext cx="2210562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Whole-class response</a:t>
            </a:r>
            <a:endParaRPr lang="en-US" sz="12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Builds fluency and confidence</a:t>
            </a:r>
            <a:endParaRPr lang="en-US" sz="12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From Pillar 3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3435858" y="1828800"/>
            <a:ext cx="2521458" cy="566928"/>
          </a:xfrm>
          <a:prstGeom prst="rect">
            <a:avLst/>
          </a:prstGeom>
          <a:solidFill>
            <a:srgbClr val="14322D"/>
          </a:solidFill>
          <a:ln/>
        </p:spPr>
      </p:sp>
      <p:sp>
        <p:nvSpPr>
          <p:cNvPr id="11" name="Text 8"/>
          <p:cNvSpPr/>
          <p:nvPr/>
        </p:nvSpPr>
        <p:spPr>
          <a:xfrm>
            <a:off x="3435858" y="1828800"/>
            <a:ext cx="252145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MWB</a:t>
            </a:r>
            <a:endParaRPr lang="en-US" sz="1500" dirty="0"/>
          </a:p>
        </p:txBody>
      </p:sp>
      <p:sp>
        <p:nvSpPr>
          <p:cNvPr id="12" name="Shape 9"/>
          <p:cNvSpPr/>
          <p:nvPr/>
        </p:nvSpPr>
        <p:spPr>
          <a:xfrm>
            <a:off x="3435858" y="2395728"/>
            <a:ext cx="2521458" cy="2816352"/>
          </a:xfrm>
          <a:prstGeom prst="rect">
            <a:avLst/>
          </a:prstGeom>
          <a:solidFill>
            <a:srgbClr val="F7FAF8"/>
          </a:solidFill>
          <a:ln/>
        </p:spPr>
      </p:sp>
      <p:sp>
        <p:nvSpPr>
          <p:cNvPr id="13" name="Text 10"/>
          <p:cNvSpPr/>
          <p:nvPr/>
        </p:nvSpPr>
        <p:spPr>
          <a:xfrm>
            <a:off x="3600450" y="2560320"/>
            <a:ext cx="2210562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Every pupil answers at once</a:t>
            </a:r>
            <a:endParaRPr lang="en-US" sz="12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An all-pupil check</a:t>
            </a:r>
            <a:endParaRPr lang="en-US" sz="12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From Pillar 4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6231636" y="1828800"/>
            <a:ext cx="2521458" cy="566928"/>
          </a:xfrm>
          <a:prstGeom prst="rect">
            <a:avLst/>
          </a:prstGeom>
          <a:solidFill>
            <a:srgbClr val="B07D2B"/>
          </a:solidFill>
          <a:ln/>
        </p:spPr>
      </p:sp>
      <p:sp>
        <p:nvSpPr>
          <p:cNvPr id="15" name="Text 12"/>
          <p:cNvSpPr/>
          <p:nvPr/>
        </p:nvSpPr>
        <p:spPr>
          <a:xfrm>
            <a:off x="6231636" y="1828800"/>
            <a:ext cx="252145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PAIR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6231636" y="2395728"/>
            <a:ext cx="2521458" cy="2816352"/>
          </a:xfrm>
          <a:prstGeom prst="rect">
            <a:avLst/>
          </a:prstGeom>
          <a:solidFill>
            <a:srgbClr val="F7FAF8"/>
          </a:solidFill>
          <a:ln/>
        </p:spPr>
      </p:sp>
      <p:sp>
        <p:nvSpPr>
          <p:cNvPr id="17" name="Text 14"/>
          <p:cNvSpPr/>
          <p:nvPr/>
        </p:nvSpPr>
        <p:spPr>
          <a:xfrm>
            <a:off x="6396228" y="2560320"/>
            <a:ext cx="2210562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Brief paired rehearsal</a:t>
            </a:r>
            <a:endParaRPr lang="en-US" sz="12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Every pupil frames an answer</a:t>
            </a:r>
            <a:endParaRPr lang="en-US" sz="12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Circulate silently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9027414" y="1828800"/>
            <a:ext cx="2521458" cy="566928"/>
          </a:xfrm>
          <a:prstGeom prst="rect">
            <a:avLst/>
          </a:prstGeom>
          <a:solidFill>
            <a:srgbClr val="C0613F"/>
          </a:solidFill>
          <a:ln/>
        </p:spPr>
      </p:sp>
      <p:sp>
        <p:nvSpPr>
          <p:cNvPr id="19" name="Text 16"/>
          <p:cNvSpPr/>
          <p:nvPr/>
        </p:nvSpPr>
        <p:spPr>
          <a:xfrm>
            <a:off x="9027414" y="1828800"/>
            <a:ext cx="252145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COLD-CALL</a:t>
            </a:r>
            <a:endParaRPr lang="en-US" sz="1500" dirty="0"/>
          </a:p>
        </p:txBody>
      </p:sp>
      <p:sp>
        <p:nvSpPr>
          <p:cNvPr id="20" name="Shape 17"/>
          <p:cNvSpPr/>
          <p:nvPr/>
        </p:nvSpPr>
        <p:spPr>
          <a:xfrm>
            <a:off x="9027414" y="2395728"/>
            <a:ext cx="2521458" cy="2816352"/>
          </a:xfrm>
          <a:prstGeom prst="rect">
            <a:avLst/>
          </a:prstGeom>
          <a:solidFill>
            <a:srgbClr val="F7FAF8"/>
          </a:solidFill>
          <a:ln/>
        </p:spPr>
      </p:sp>
      <p:sp>
        <p:nvSpPr>
          <p:cNvPr id="21" name="Text 18"/>
          <p:cNvSpPr/>
          <p:nvPr/>
        </p:nvSpPr>
        <p:spPr>
          <a:xfrm>
            <a:off x="9192006" y="2560320"/>
            <a:ext cx="2210562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Pose, pause, then name</a:t>
            </a:r>
            <a:endParaRPr lang="en-US" sz="12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Accountable talk</a:t>
            </a:r>
            <a:endParaRPr lang="en-US" sz="12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Probe the answer deeper</a:t>
            </a:r>
            <a:endParaRPr lang="en-US" sz="1200" dirty="0"/>
          </a:p>
        </p:txBody>
      </p:sp>
      <p:pic>
        <p:nvPicPr>
          <p:cNvPr id="22" name="Image 1" descr="assets/icon9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5449824"/>
            <a:ext cx="310896" cy="310896"/>
          </a:xfrm>
          <a:prstGeom prst="rect">
            <a:avLst/>
          </a:prstGeom>
        </p:spPr>
      </p:pic>
      <p:sp>
        <p:nvSpPr>
          <p:cNvPr id="23" name="Text 19"/>
          <p:cNvSpPr/>
          <p:nvPr/>
        </p:nvSpPr>
        <p:spPr>
          <a:xfrm>
            <a:off x="1097280" y="5431536"/>
            <a:ext cx="104515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4322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Discuss  </a:t>
            </a:r>
            <a:pPr indent="0" marL="0">
              <a:buNone/>
            </a:pPr>
            <a:r>
              <a:rPr lang="en-US" sz="125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Where would this sequence fit in a lesson you teach this week?</a:t>
            </a:r>
            <a:endParaRPr lang="en-US" sz="1250" dirty="0"/>
          </a:p>
        </p:txBody>
      </p:sp>
      <p:sp>
        <p:nvSpPr>
          <p:cNvPr id="24" name="Text 20"/>
          <p:cNvSpPr/>
          <p:nvPr/>
        </p:nvSpPr>
        <p:spPr>
          <a:xfrm>
            <a:off x="640080" y="5943600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3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The routines build on one another: fluency, then check, then rehearsal, then accountable talk.</a:t>
            </a:r>
            <a:endParaRPr lang="en-US" sz="1050" dirty="0"/>
          </a:p>
        </p:txBody>
      </p:sp>
      <p:sp>
        <p:nvSpPr>
          <p:cNvPr id="25" name="Text 21"/>
          <p:cNvSpPr/>
          <p:nvPr/>
        </p:nvSpPr>
        <p:spPr>
          <a:xfrm>
            <a:off x="64008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3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Teaching Excellence Programme · Questioning &amp; Dialogue</a:t>
            </a:r>
            <a:endParaRPr lang="en-US" sz="800" dirty="0"/>
          </a:p>
        </p:txBody>
      </p:sp>
      <p:sp>
        <p:nvSpPr>
          <p:cNvPr id="26" name="Text 22"/>
          <p:cNvSpPr/>
          <p:nvPr/>
        </p:nvSpPr>
        <p:spPr>
          <a:xfrm>
            <a:off x="7891272" y="645566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73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 Nishkam Schools programme</a:t>
            </a:r>
            <a:pPr algn="r" indent="0" marL="0">
              <a:buNone/>
            </a:pPr>
            <a:r>
              <a:rPr lang="en-US" sz="800" dirty="0">
                <a:solidFill>
                  <a:srgbClr val="6B73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    ·    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crest.png">    </p:cNvPr>
          <p:cNvPicPr>
            <a:picLocks noChangeAspect="1"/>
          </p:cNvPicPr>
          <p:nvPr/>
        </p:nvPicPr>
        <p:blipFill>
          <a:blip r:embed="rId1">
            <a:alphaModFix amt="48000"/>
          </a:blip>
          <a:stretch>
            <a:fillRect/>
          </a:stretch>
        </p:blipFill>
        <p:spPr>
          <a:xfrm>
            <a:off x="10707624" y="384048"/>
            <a:ext cx="841248" cy="73152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640080" y="585216"/>
            <a:ext cx="146304" cy="146304"/>
          </a:xfrm>
          <a:prstGeom prst="rect">
            <a:avLst/>
          </a:prstGeom>
          <a:solidFill>
            <a:srgbClr val="B07D2B"/>
          </a:solidFill>
          <a:ln/>
        </p:spPr>
      </p:sp>
      <p:sp>
        <p:nvSpPr>
          <p:cNvPr id="4" name="Text 1"/>
          <p:cNvSpPr/>
          <p:nvPr/>
        </p:nvSpPr>
        <p:spPr>
          <a:xfrm>
            <a:off x="914400" y="502920"/>
            <a:ext cx="96286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3F948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THE NISHKAM FRAME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640080" y="868680"/>
            <a:ext cx="99943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322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Questioning that includes everyone</a:t>
            </a:r>
            <a:endParaRPr lang="en-US" sz="2700" dirty="0"/>
          </a:p>
        </p:txBody>
      </p:sp>
      <p:sp>
        <p:nvSpPr>
          <p:cNvPr id="6" name="Shape 3"/>
          <p:cNvSpPr/>
          <p:nvPr/>
        </p:nvSpPr>
        <p:spPr>
          <a:xfrm>
            <a:off x="640080" y="1874520"/>
            <a:ext cx="10908792" cy="3200400"/>
          </a:xfrm>
          <a:prstGeom prst="rect">
            <a:avLst/>
          </a:prstGeom>
          <a:solidFill>
            <a:srgbClr val="F4ECE0"/>
          </a:solidFill>
          <a:ln w="12700">
            <a:solidFill>
              <a:srgbClr val="B07D2B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640080" y="1874520"/>
            <a:ext cx="64008" cy="3200400"/>
          </a:xfrm>
          <a:prstGeom prst="rect">
            <a:avLst/>
          </a:prstGeom>
          <a:solidFill>
            <a:srgbClr val="B07D2B"/>
          </a:solidFill>
          <a:ln/>
        </p:spPr>
      </p:sp>
      <p:pic>
        <p:nvPicPr>
          <p:cNvPr id="8" name="Image 1" descr="assets/crest.png">    </p:cNvPr>
          <p:cNvPicPr>
            <a:picLocks noChangeAspect="1"/>
          </p:cNvPicPr>
          <p:nvPr/>
        </p:nvPicPr>
        <p:blipFill>
          <a:blip r:embed="rId2">
            <a:alphaModFix amt="45000"/>
          </a:blip>
          <a:stretch>
            <a:fillRect/>
          </a:stretch>
        </p:blipFill>
        <p:spPr>
          <a:xfrm>
            <a:off x="10287000" y="3794760"/>
            <a:ext cx="914400" cy="795528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005840" y="210312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4322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At Nishkam</a:t>
            </a:r>
            <a:endParaRPr lang="en-US" sz="1800" dirty="0"/>
          </a:p>
        </p:txBody>
      </p:sp>
      <p:sp>
        <p:nvSpPr>
          <p:cNvPr id="10" name="Text 6"/>
          <p:cNvSpPr/>
          <p:nvPr/>
        </p:nvSpPr>
        <p:spPr>
          <a:xfrm>
            <a:off x="1005840" y="2606040"/>
            <a:ext cx="63093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14322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Peacefulness </a:t>
            </a:r>
            <a:pPr indent="0" marL="0">
              <a:spcAft>
                <a:spcPts val="900"/>
              </a:spcAft>
              <a:buNone/>
            </a:pPr>
            <a:r>
              <a:rPr lang="en-US" sz="155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— calm and warm — cold-calling that includes, never catches out.</a:t>
            </a:r>
            <a:endParaRPr lang="en-US" sz="1550" dirty="0"/>
          </a:p>
          <a:p>
            <a:pPr indent="0" marL="0">
              <a:buNone/>
            </a:pPr>
            <a:r>
              <a:rPr lang="en-US" sz="1550" b="1" dirty="0">
                <a:solidFill>
                  <a:srgbClr val="14322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Determination </a:t>
            </a:r>
            <a:pPr indent="0" marL="0">
              <a:spcAft>
                <a:spcPts val="900"/>
              </a:spcAft>
              <a:buNone/>
            </a:pPr>
            <a:r>
              <a:rPr lang="en-US" sz="155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— the insistence that every pupil, not just the eager few, thinks.</a:t>
            </a:r>
            <a:endParaRPr lang="en-US" sz="1550" dirty="0"/>
          </a:p>
          <a:p>
            <a:pPr indent="0" marL="0">
              <a:buNone/>
            </a:pPr>
            <a:r>
              <a:rPr lang="en-US" sz="1550" b="1" dirty="0">
                <a:solidFill>
                  <a:srgbClr val="14322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Diligence </a:t>
            </a:r>
            <a:pPr indent="0" marL="0">
              <a:buNone/>
            </a:pPr>
            <a:r>
              <a:rPr lang="en-US" sz="155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— the discipline to hold the pause and ask the second question.</a:t>
            </a:r>
            <a:endParaRPr lang="en-US" sz="1550" dirty="0"/>
          </a:p>
        </p:txBody>
      </p:sp>
      <p:sp>
        <p:nvSpPr>
          <p:cNvPr id="11" name="Text 7"/>
          <p:cNvSpPr/>
          <p:nvPr/>
        </p:nvSpPr>
        <p:spPr>
          <a:xfrm>
            <a:off x="7315200" y="2697480"/>
            <a:ext cx="40233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4322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For any school:  </a:t>
            </a:r>
            <a:pPr indent="0" marL="0">
              <a:buNone/>
            </a:pPr>
            <a:r>
              <a:rPr lang="en-US" sz="140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Universal participation is a moral stance as much as a technique: every pupil is worth hearing from.</a:t>
            </a:r>
            <a:endParaRPr lang="en-US" sz="1400" dirty="0"/>
          </a:p>
        </p:txBody>
      </p:sp>
      <p:sp>
        <p:nvSpPr>
          <p:cNvPr id="12" name="Text 8"/>
          <p:cNvSpPr/>
          <p:nvPr/>
        </p:nvSpPr>
        <p:spPr>
          <a:xfrm>
            <a:off x="64008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3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Teaching Excellence Programme · Questioning &amp; Dialogue</a:t>
            </a:r>
            <a:endParaRPr lang="en-US" sz="800" dirty="0"/>
          </a:p>
        </p:txBody>
      </p:sp>
      <p:sp>
        <p:nvSpPr>
          <p:cNvPr id="13" name="Text 9"/>
          <p:cNvSpPr/>
          <p:nvPr/>
        </p:nvSpPr>
        <p:spPr>
          <a:xfrm>
            <a:off x="7891272" y="645566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73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 Nishkam Schools programme</a:t>
            </a:r>
            <a:pPr algn="r" indent="0" marL="0">
              <a:buNone/>
            </a:pPr>
            <a:r>
              <a:rPr lang="en-US" sz="800" dirty="0">
                <a:solidFill>
                  <a:srgbClr val="6B73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    ·    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crest.png">    </p:cNvPr>
          <p:cNvPicPr>
            <a:picLocks noChangeAspect="1"/>
          </p:cNvPicPr>
          <p:nvPr/>
        </p:nvPicPr>
        <p:blipFill>
          <a:blip r:embed="rId1">
            <a:alphaModFix amt="48000"/>
          </a:blip>
          <a:stretch>
            <a:fillRect/>
          </a:stretch>
        </p:blipFill>
        <p:spPr>
          <a:xfrm>
            <a:off x="10707624" y="384048"/>
            <a:ext cx="841248" cy="73152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640080" y="585216"/>
            <a:ext cx="146304" cy="146304"/>
          </a:xfrm>
          <a:prstGeom prst="rect">
            <a:avLst/>
          </a:prstGeom>
          <a:solidFill>
            <a:srgbClr val="B07D2B"/>
          </a:solidFill>
          <a:ln/>
        </p:spPr>
      </p:sp>
      <p:sp>
        <p:nvSpPr>
          <p:cNvPr id="4" name="Text 1"/>
          <p:cNvSpPr/>
          <p:nvPr/>
        </p:nvSpPr>
        <p:spPr>
          <a:xfrm>
            <a:off x="914400" y="502920"/>
            <a:ext cx="96286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3F948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WHAT GOOD LOOKS LIKE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640080" y="868680"/>
            <a:ext cx="99943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322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The cold-calling checklist</a:t>
            </a:r>
            <a:endParaRPr lang="en-US" sz="27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783080"/>
          <a:ext cx="850392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758952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4322D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CC3</a:t>
                      </a:r>
                      <a:endParaRPr lang="en-US" sz="11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D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E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A1F1D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Question posed to the whole class.</a:t>
                      </a:r>
                      <a:endParaRPr lang="en-US" sz="11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D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4322D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CC4</a:t>
                      </a:r>
                      <a:endParaRPr lang="en-US" sz="11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D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E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A1F1D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No name attached to the initial question.</a:t>
                      </a:r>
                      <a:endParaRPr lang="en-US" sz="11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D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4322D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CC5</a:t>
                      </a:r>
                      <a:endParaRPr lang="en-US" sz="11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D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E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A1F1D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Thinking time held before naming a pupil.</a:t>
                      </a:r>
                      <a:endParaRPr lang="en-US" sz="11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D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4322D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CC6</a:t>
                      </a:r>
                      <a:endParaRPr lang="en-US" sz="11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D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E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A1F1D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Question then directed to a named pupil.</a:t>
                      </a:r>
                      <a:endParaRPr lang="en-US" sz="11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D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4322D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CC9</a:t>
                      </a:r>
                      <a:endParaRPr lang="en-US" sz="11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D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E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A1F1D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Pupil asked to elaborate or explain.</a:t>
                      </a:r>
                      <a:endParaRPr lang="en-US" sz="11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D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4322D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CC11</a:t>
                      </a:r>
                      <a:endParaRPr lang="en-US" sz="11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D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E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A1F1D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Misconceptions identified and addressed.</a:t>
                      </a:r>
                      <a:endParaRPr lang="en-US" sz="11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D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hape 3"/>
          <p:cNvSpPr/>
          <p:nvPr/>
        </p:nvSpPr>
        <p:spPr>
          <a:xfrm>
            <a:off x="9326880" y="1783080"/>
            <a:ext cx="2194560" cy="2103120"/>
          </a:xfrm>
          <a:prstGeom prst="rect">
            <a:avLst/>
          </a:prstGeom>
          <a:solidFill>
            <a:srgbClr val="E8F1EE"/>
          </a:solidFill>
          <a:ln w="12700">
            <a:solidFill>
              <a:srgbClr val="3F9488"/>
            </a:solidFill>
            <a:prstDash val="solid"/>
          </a:ln>
        </p:spPr>
      </p:sp>
      <p:sp>
        <p:nvSpPr>
          <p:cNvPr id="8" name="Shape 4"/>
          <p:cNvSpPr/>
          <p:nvPr/>
        </p:nvSpPr>
        <p:spPr>
          <a:xfrm>
            <a:off x="9326880" y="1783080"/>
            <a:ext cx="64008" cy="2103120"/>
          </a:xfrm>
          <a:prstGeom prst="rect">
            <a:avLst/>
          </a:prstGeom>
          <a:solidFill>
            <a:srgbClr val="3F9488"/>
          </a:solidFill>
          <a:ln/>
        </p:spPr>
      </p:sp>
      <p:pic>
        <p:nvPicPr>
          <p:cNvPr id="9" name="Image 1" descr="assets/icon16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28048" y="1938528"/>
            <a:ext cx="384048" cy="384048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9528048" y="2423160"/>
            <a:ext cx="18745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Use this to observe, or to be observed.</a:t>
            </a:r>
            <a:endParaRPr lang="en-US" sz="1200" dirty="0"/>
          </a:p>
        </p:txBody>
      </p:sp>
      <p:sp>
        <p:nvSpPr>
          <p:cNvPr id="11" name="Text 6"/>
          <p:cNvSpPr/>
          <p:nvPr/>
        </p:nvSpPr>
        <p:spPr>
          <a:xfrm>
            <a:off x="640080" y="58064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3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The full CC codes and the probe-stem bank sit behind the modules online.</a:t>
            </a:r>
            <a:endParaRPr lang="en-US" sz="1050" dirty="0"/>
          </a:p>
        </p:txBody>
      </p:sp>
      <p:sp>
        <p:nvSpPr>
          <p:cNvPr id="12" name="Text 7"/>
          <p:cNvSpPr/>
          <p:nvPr/>
        </p:nvSpPr>
        <p:spPr>
          <a:xfrm>
            <a:off x="64008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3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Teaching Excellence Programme · Questioning &amp; Dialogue</a:t>
            </a:r>
            <a:endParaRPr lang="en-US" sz="800" dirty="0"/>
          </a:p>
        </p:txBody>
      </p:sp>
      <p:sp>
        <p:nvSpPr>
          <p:cNvPr id="13" name="Text 8"/>
          <p:cNvSpPr/>
          <p:nvPr/>
        </p:nvSpPr>
        <p:spPr>
          <a:xfrm>
            <a:off x="7891272" y="645566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73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 Nishkam Schools programme</a:t>
            </a:r>
            <a:pPr algn="r" indent="0" marL="0">
              <a:buNone/>
            </a:pPr>
            <a:r>
              <a:rPr lang="en-US" sz="800" dirty="0">
                <a:solidFill>
                  <a:srgbClr val="6B73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    ·    10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crest.png">    </p:cNvPr>
          <p:cNvPicPr>
            <a:picLocks noChangeAspect="1"/>
          </p:cNvPicPr>
          <p:nvPr/>
        </p:nvPicPr>
        <p:blipFill>
          <a:blip r:embed="rId1">
            <a:alphaModFix amt="48000"/>
          </a:blip>
          <a:stretch>
            <a:fillRect/>
          </a:stretch>
        </p:blipFill>
        <p:spPr>
          <a:xfrm>
            <a:off x="10707624" y="384048"/>
            <a:ext cx="841248" cy="73152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640080" y="585216"/>
            <a:ext cx="146304" cy="146304"/>
          </a:xfrm>
          <a:prstGeom prst="rect">
            <a:avLst/>
          </a:prstGeom>
          <a:solidFill>
            <a:srgbClr val="B07D2B"/>
          </a:solidFill>
          <a:ln/>
        </p:spPr>
      </p:sp>
      <p:sp>
        <p:nvSpPr>
          <p:cNvPr id="4" name="Text 1"/>
          <p:cNvSpPr/>
          <p:nvPr/>
        </p:nvSpPr>
        <p:spPr>
          <a:xfrm>
            <a:off x="914400" y="502920"/>
            <a:ext cx="96286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3F948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DELIBERATE PRACTICE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640080" y="868680"/>
            <a:ext cx="99943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322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Rehearse cold-call and probe</a:t>
            </a:r>
            <a:endParaRPr lang="en-US" sz="2700" dirty="0"/>
          </a:p>
        </p:txBody>
      </p:sp>
      <p:sp>
        <p:nvSpPr>
          <p:cNvPr id="6" name="Shape 3"/>
          <p:cNvSpPr/>
          <p:nvPr/>
        </p:nvSpPr>
        <p:spPr>
          <a:xfrm>
            <a:off x="640080" y="1783080"/>
            <a:ext cx="5212080" cy="3611880"/>
          </a:xfrm>
          <a:prstGeom prst="rect">
            <a:avLst/>
          </a:prstGeom>
          <a:solidFill>
            <a:srgbClr val="F7FAF8"/>
          </a:solidFill>
          <a:ln w="12700">
            <a:solidFill>
              <a:srgbClr val="3F9488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640080" y="1783080"/>
            <a:ext cx="64008" cy="3611880"/>
          </a:xfrm>
          <a:prstGeom prst="rect">
            <a:avLst/>
          </a:prstGeom>
          <a:solidFill>
            <a:srgbClr val="3F9488"/>
          </a:solidFill>
          <a:ln/>
        </p:spPr>
      </p:sp>
      <p:pic>
        <p:nvPicPr>
          <p:cNvPr id="8" name="Image 1" descr="assets/icon15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6112" y="1965960"/>
            <a:ext cx="411480" cy="41148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444752" y="1965960"/>
            <a:ext cx="4114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322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The set-up</a:t>
            </a:r>
            <a:endParaRPr lang="en-US" sz="1600" dirty="0"/>
          </a:p>
        </p:txBody>
      </p:sp>
      <p:sp>
        <p:nvSpPr>
          <p:cNvPr id="10" name="Text 6"/>
          <p:cNvSpPr/>
          <p:nvPr/>
        </p:nvSpPr>
        <p:spPr>
          <a:xfrm>
            <a:off x="896112" y="2560320"/>
            <a:ext cx="470916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In pairs, the partner gives one recall question and one higher-order question. The teacher delivers each in full, holding three seconds of thinking time before naming, then asks one probing follow-up.</a:t>
            </a:r>
            <a:endParaRPr lang="en-US" sz="1350" dirty="0"/>
          </a:p>
        </p:txBody>
      </p:sp>
      <p:sp>
        <p:nvSpPr>
          <p:cNvPr id="11" name="Shape 7"/>
          <p:cNvSpPr/>
          <p:nvPr/>
        </p:nvSpPr>
        <p:spPr>
          <a:xfrm>
            <a:off x="6126480" y="1783080"/>
            <a:ext cx="5120640" cy="3611880"/>
          </a:xfrm>
          <a:prstGeom prst="rect">
            <a:avLst/>
          </a:prstGeom>
          <a:solidFill>
            <a:srgbClr val="F4ECE0"/>
          </a:solidFill>
          <a:ln w="12700">
            <a:solidFill>
              <a:srgbClr val="B07D2B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6126480" y="1783080"/>
            <a:ext cx="64008" cy="3611880"/>
          </a:xfrm>
          <a:prstGeom prst="rect">
            <a:avLst/>
          </a:prstGeom>
          <a:solidFill>
            <a:srgbClr val="B07D2B"/>
          </a:solidFill>
          <a:ln/>
        </p:spPr>
      </p:sp>
      <p:pic>
        <p:nvPicPr>
          <p:cNvPr id="13" name="Image 2" descr="assets/icon2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2512" y="1965960"/>
            <a:ext cx="411480" cy="411480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6931152" y="1965960"/>
            <a:ext cx="4114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322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Coach, watch for</a:t>
            </a:r>
            <a:endParaRPr lang="en-US" sz="1600" dirty="0"/>
          </a:p>
        </p:txBody>
      </p:sp>
      <p:sp>
        <p:nvSpPr>
          <p:cNvPr id="15" name="Text 10"/>
          <p:cNvSpPr/>
          <p:nvPr/>
        </p:nvSpPr>
        <p:spPr>
          <a:xfrm>
            <a:off x="6382512" y="2560320"/>
            <a:ext cx="461772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The question posed before any name.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 full three-second pause, held.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 warm naming, not a gotcha.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 second question that deepens the first answer.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The pause held again after the probe.</a:t>
            </a:r>
            <a:endParaRPr lang="en-US" sz="1350" dirty="0"/>
          </a:p>
        </p:txBody>
      </p:sp>
      <p:sp>
        <p:nvSpPr>
          <p:cNvPr id="16" name="Text 11"/>
          <p:cNvSpPr/>
          <p:nvPr/>
        </p:nvSpPr>
        <p:spPr>
          <a:xfrm>
            <a:off x="640080" y="5715000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3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Swap roles so both rehearse holding the silence.</a:t>
            </a:r>
            <a:endParaRPr lang="en-US" sz="1050" dirty="0"/>
          </a:p>
        </p:txBody>
      </p:sp>
      <p:sp>
        <p:nvSpPr>
          <p:cNvPr id="17" name="Text 12"/>
          <p:cNvSpPr/>
          <p:nvPr/>
        </p:nvSpPr>
        <p:spPr>
          <a:xfrm>
            <a:off x="64008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3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Teaching Excellence Programme · Questioning &amp; Dialogue</a:t>
            </a:r>
            <a:endParaRPr lang="en-US" sz="800" dirty="0"/>
          </a:p>
        </p:txBody>
      </p:sp>
      <p:sp>
        <p:nvSpPr>
          <p:cNvPr id="18" name="Text 13"/>
          <p:cNvSpPr/>
          <p:nvPr/>
        </p:nvSpPr>
        <p:spPr>
          <a:xfrm>
            <a:off x="7891272" y="645566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73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 Nishkam Schools programme</a:t>
            </a:r>
            <a:pPr algn="r" indent="0" marL="0">
              <a:buNone/>
            </a:pPr>
            <a:r>
              <a:rPr lang="en-US" sz="800" dirty="0">
                <a:solidFill>
                  <a:srgbClr val="6B73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    ·    11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crest.png">    </p:cNvPr>
          <p:cNvPicPr>
            <a:picLocks noChangeAspect="1"/>
          </p:cNvPicPr>
          <p:nvPr/>
        </p:nvPicPr>
        <p:blipFill>
          <a:blip r:embed="rId1">
            <a:alphaModFix amt="48000"/>
          </a:blip>
          <a:stretch>
            <a:fillRect/>
          </a:stretch>
        </p:blipFill>
        <p:spPr>
          <a:xfrm>
            <a:off x="10707624" y="384048"/>
            <a:ext cx="841248" cy="73152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640080" y="585216"/>
            <a:ext cx="146304" cy="146304"/>
          </a:xfrm>
          <a:prstGeom prst="rect">
            <a:avLst/>
          </a:prstGeom>
          <a:solidFill>
            <a:srgbClr val="B07D2B"/>
          </a:solidFill>
          <a:ln/>
        </p:spPr>
      </p:sp>
      <p:sp>
        <p:nvSpPr>
          <p:cNvPr id="4" name="Text 1"/>
          <p:cNvSpPr/>
          <p:nvPr/>
        </p:nvSpPr>
        <p:spPr>
          <a:xfrm>
            <a:off x="914400" y="502920"/>
            <a:ext cx="96286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3F948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PROBING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640080" y="868680"/>
            <a:ext cx="99943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322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 probe for every level</a:t>
            </a:r>
            <a:endParaRPr lang="en-US" sz="2700" dirty="0"/>
          </a:p>
        </p:txBody>
      </p:sp>
      <p:sp>
        <p:nvSpPr>
          <p:cNvPr id="6" name="Shape 3"/>
          <p:cNvSpPr/>
          <p:nvPr/>
        </p:nvSpPr>
        <p:spPr>
          <a:xfrm>
            <a:off x="640080" y="1810512"/>
            <a:ext cx="5074920" cy="1463040"/>
          </a:xfrm>
          <a:prstGeom prst="rect">
            <a:avLst/>
          </a:prstGeom>
          <a:solidFill>
            <a:srgbClr val="F7FAF8"/>
          </a:solidFill>
          <a:ln w="12700">
            <a:solidFill>
              <a:srgbClr val="3F9488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640080" y="1810512"/>
            <a:ext cx="64008" cy="1463040"/>
          </a:xfrm>
          <a:prstGeom prst="rect">
            <a:avLst/>
          </a:prstGeom>
          <a:solidFill>
            <a:srgbClr val="3F9488"/>
          </a:solidFill>
          <a:ln/>
        </p:spPr>
      </p:sp>
      <p:pic>
        <p:nvPicPr>
          <p:cNvPr id="8" name="Image 1" descr="assets/icon3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6112" y="2011680"/>
            <a:ext cx="420624" cy="420624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463040" y="1993392"/>
            <a:ext cx="4069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322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Remember / Apply</a:t>
            </a:r>
            <a:endParaRPr lang="en-US" sz="1500" dirty="0"/>
          </a:p>
        </p:txBody>
      </p:sp>
      <p:sp>
        <p:nvSpPr>
          <p:cNvPr id="10" name="Text 6"/>
          <p:cNvSpPr/>
          <p:nvPr/>
        </p:nvSpPr>
        <p:spPr>
          <a:xfrm>
            <a:off x="896112" y="2468880"/>
            <a:ext cx="4572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‘What do we know about…?’  ·  ‘How would you use this in…?’</a:t>
            </a:r>
            <a:endParaRPr lang="en-US" sz="1250" dirty="0"/>
          </a:p>
        </p:txBody>
      </p:sp>
      <p:sp>
        <p:nvSpPr>
          <p:cNvPr id="11" name="Shape 7"/>
          <p:cNvSpPr/>
          <p:nvPr/>
        </p:nvSpPr>
        <p:spPr>
          <a:xfrm>
            <a:off x="6126480" y="1810512"/>
            <a:ext cx="5074920" cy="1463040"/>
          </a:xfrm>
          <a:prstGeom prst="rect">
            <a:avLst/>
          </a:prstGeom>
          <a:solidFill>
            <a:srgbClr val="F7FAF8"/>
          </a:solidFill>
          <a:ln w="12700">
            <a:solidFill>
              <a:srgbClr val="3F9488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6126480" y="1810512"/>
            <a:ext cx="64008" cy="1463040"/>
          </a:xfrm>
          <a:prstGeom prst="rect">
            <a:avLst/>
          </a:prstGeom>
          <a:solidFill>
            <a:srgbClr val="3F9488"/>
          </a:solidFill>
          <a:ln/>
        </p:spPr>
      </p:sp>
      <p:pic>
        <p:nvPicPr>
          <p:cNvPr id="13" name="Image 2" descr="assets/icon4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2512" y="2011680"/>
            <a:ext cx="420624" cy="420624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6949440" y="1993392"/>
            <a:ext cx="4069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322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Analyse</a:t>
            </a:r>
            <a:endParaRPr lang="en-US" sz="1500" dirty="0"/>
          </a:p>
        </p:txBody>
      </p:sp>
      <p:sp>
        <p:nvSpPr>
          <p:cNvPr id="15" name="Text 10"/>
          <p:cNvSpPr/>
          <p:nvPr/>
        </p:nvSpPr>
        <p:spPr>
          <a:xfrm>
            <a:off x="6382512" y="2468880"/>
            <a:ext cx="4572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‘What are the key differences between…?’</a:t>
            </a:r>
            <a:endParaRPr lang="en-US" sz="1250" dirty="0"/>
          </a:p>
        </p:txBody>
      </p:sp>
      <p:sp>
        <p:nvSpPr>
          <p:cNvPr id="16" name="Shape 11"/>
          <p:cNvSpPr/>
          <p:nvPr/>
        </p:nvSpPr>
        <p:spPr>
          <a:xfrm>
            <a:off x="640080" y="3566160"/>
            <a:ext cx="5074920" cy="1463040"/>
          </a:xfrm>
          <a:prstGeom prst="rect">
            <a:avLst/>
          </a:prstGeom>
          <a:solidFill>
            <a:srgbClr val="F7FAF8"/>
          </a:solidFill>
          <a:ln w="12700">
            <a:solidFill>
              <a:srgbClr val="3F9488"/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640080" y="3566160"/>
            <a:ext cx="64008" cy="1463040"/>
          </a:xfrm>
          <a:prstGeom prst="rect">
            <a:avLst/>
          </a:prstGeom>
          <a:solidFill>
            <a:srgbClr val="3F9488"/>
          </a:solidFill>
          <a:ln/>
        </p:spPr>
      </p:sp>
      <p:pic>
        <p:nvPicPr>
          <p:cNvPr id="18" name="Image 3" descr="assets/icon16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6112" y="3767328"/>
            <a:ext cx="420624" cy="420624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1463040" y="3749040"/>
            <a:ext cx="4069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322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Evaluate</a:t>
            </a:r>
            <a:endParaRPr lang="en-US" sz="1500" dirty="0"/>
          </a:p>
        </p:txBody>
      </p:sp>
      <p:sp>
        <p:nvSpPr>
          <p:cNvPr id="20" name="Text 14"/>
          <p:cNvSpPr/>
          <p:nvPr/>
        </p:nvSpPr>
        <p:spPr>
          <a:xfrm>
            <a:off x="896112" y="4224528"/>
            <a:ext cx="4572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‘Which of these is more effective, and why?’</a:t>
            </a:r>
            <a:endParaRPr lang="en-US" sz="1250" dirty="0"/>
          </a:p>
        </p:txBody>
      </p:sp>
      <p:sp>
        <p:nvSpPr>
          <p:cNvPr id="21" name="Shape 15"/>
          <p:cNvSpPr/>
          <p:nvPr/>
        </p:nvSpPr>
        <p:spPr>
          <a:xfrm>
            <a:off x="6126480" y="3566160"/>
            <a:ext cx="5074920" cy="1463040"/>
          </a:xfrm>
          <a:prstGeom prst="rect">
            <a:avLst/>
          </a:prstGeom>
          <a:solidFill>
            <a:srgbClr val="F7FAF8"/>
          </a:solidFill>
          <a:ln w="12700">
            <a:solidFill>
              <a:srgbClr val="3F9488"/>
            </a:solidFill>
            <a:prstDash val="solid"/>
          </a:ln>
        </p:spPr>
      </p:sp>
      <p:sp>
        <p:nvSpPr>
          <p:cNvPr id="22" name="Shape 16"/>
          <p:cNvSpPr/>
          <p:nvPr/>
        </p:nvSpPr>
        <p:spPr>
          <a:xfrm>
            <a:off x="6126480" y="3566160"/>
            <a:ext cx="64008" cy="1463040"/>
          </a:xfrm>
          <a:prstGeom prst="rect">
            <a:avLst/>
          </a:prstGeom>
          <a:solidFill>
            <a:srgbClr val="3F9488"/>
          </a:solidFill>
          <a:ln/>
        </p:spPr>
      </p:sp>
      <p:pic>
        <p:nvPicPr>
          <p:cNvPr id="23" name="Image 4" descr="assets/icon1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82512" y="3767328"/>
            <a:ext cx="420624" cy="420624"/>
          </a:xfrm>
          <a:prstGeom prst="rect">
            <a:avLst/>
          </a:prstGeom>
        </p:spPr>
      </p:pic>
      <p:sp>
        <p:nvSpPr>
          <p:cNvPr id="24" name="Text 17"/>
          <p:cNvSpPr/>
          <p:nvPr/>
        </p:nvSpPr>
        <p:spPr>
          <a:xfrm>
            <a:off x="6949440" y="3749040"/>
            <a:ext cx="4069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322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Create</a:t>
            </a:r>
            <a:endParaRPr lang="en-US" sz="1500" dirty="0"/>
          </a:p>
        </p:txBody>
      </p:sp>
      <p:sp>
        <p:nvSpPr>
          <p:cNvPr id="25" name="Text 18"/>
          <p:cNvSpPr/>
          <p:nvPr/>
        </p:nvSpPr>
        <p:spPr>
          <a:xfrm>
            <a:off x="6382512" y="4224528"/>
            <a:ext cx="4572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‘What might happen if…?’</a:t>
            </a:r>
            <a:endParaRPr lang="en-US" sz="1250" dirty="0"/>
          </a:p>
        </p:txBody>
      </p:sp>
      <p:pic>
        <p:nvPicPr>
          <p:cNvPr id="26" name="Image 5" descr="assets/icon9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0080" y="5495544"/>
            <a:ext cx="310896" cy="310896"/>
          </a:xfrm>
          <a:prstGeom prst="rect">
            <a:avLst/>
          </a:prstGeom>
        </p:spPr>
      </p:pic>
      <p:sp>
        <p:nvSpPr>
          <p:cNvPr id="27" name="Text 19"/>
          <p:cNvSpPr/>
          <p:nvPr/>
        </p:nvSpPr>
        <p:spPr>
          <a:xfrm>
            <a:off x="1097280" y="5477256"/>
            <a:ext cx="104515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4322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Discuss  </a:t>
            </a:r>
            <a:pPr indent="0" marL="0">
              <a:buNone/>
            </a:pPr>
            <a:r>
              <a:rPr lang="en-US" sz="125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For a topic you teach, what is one probe that would push a first answer further?</a:t>
            </a:r>
            <a:endParaRPr lang="en-US" sz="1250" dirty="0"/>
          </a:p>
        </p:txBody>
      </p:sp>
      <p:sp>
        <p:nvSpPr>
          <p:cNvPr id="28" name="Text 20"/>
          <p:cNvSpPr/>
          <p:nvPr/>
        </p:nvSpPr>
        <p:spPr>
          <a:xfrm>
            <a:off x="640080" y="5943600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3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Choose the stem to match the thinking you want; then hold the pause.</a:t>
            </a:r>
            <a:endParaRPr lang="en-US" sz="1050" dirty="0"/>
          </a:p>
        </p:txBody>
      </p:sp>
      <p:sp>
        <p:nvSpPr>
          <p:cNvPr id="29" name="Text 21"/>
          <p:cNvSpPr/>
          <p:nvPr/>
        </p:nvSpPr>
        <p:spPr>
          <a:xfrm>
            <a:off x="64008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3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Teaching Excellence Programme · Questioning &amp; Dialogue</a:t>
            </a:r>
            <a:endParaRPr lang="en-US" sz="800" dirty="0"/>
          </a:p>
        </p:txBody>
      </p:sp>
      <p:sp>
        <p:nvSpPr>
          <p:cNvPr id="30" name="Text 22"/>
          <p:cNvSpPr/>
          <p:nvPr/>
        </p:nvSpPr>
        <p:spPr>
          <a:xfrm>
            <a:off x="7891272" y="645566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73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 Nishkam Schools programme</a:t>
            </a:r>
            <a:pPr algn="r" indent="0" marL="0">
              <a:buNone/>
            </a:pPr>
            <a:r>
              <a:rPr lang="en-US" sz="800" dirty="0">
                <a:solidFill>
                  <a:srgbClr val="6B73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    ·    12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crest.png">    </p:cNvPr>
          <p:cNvPicPr>
            <a:picLocks noChangeAspect="1"/>
          </p:cNvPicPr>
          <p:nvPr/>
        </p:nvPicPr>
        <p:blipFill>
          <a:blip r:embed="rId1">
            <a:alphaModFix amt="48000"/>
          </a:blip>
          <a:stretch>
            <a:fillRect/>
          </a:stretch>
        </p:blipFill>
        <p:spPr>
          <a:xfrm>
            <a:off x="10707624" y="384048"/>
            <a:ext cx="841248" cy="73152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640080" y="585216"/>
            <a:ext cx="146304" cy="146304"/>
          </a:xfrm>
          <a:prstGeom prst="rect">
            <a:avLst/>
          </a:prstGeom>
          <a:solidFill>
            <a:srgbClr val="B07D2B"/>
          </a:solidFill>
          <a:ln/>
        </p:spPr>
      </p:sp>
      <p:sp>
        <p:nvSpPr>
          <p:cNvPr id="4" name="Text 1"/>
          <p:cNvSpPr/>
          <p:nvPr/>
        </p:nvSpPr>
        <p:spPr>
          <a:xfrm>
            <a:off x="914400" y="502920"/>
            <a:ext cx="96286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3F948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FOR EVERY PUPIL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640080" y="868680"/>
            <a:ext cx="99943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322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Why hands-down questioning reaches everyone</a:t>
            </a:r>
            <a:endParaRPr lang="en-US" sz="2700" dirty="0"/>
          </a:p>
        </p:txBody>
      </p:sp>
      <p:pic>
        <p:nvPicPr>
          <p:cNvPr id="6" name="Image 1" descr="assets/icon6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920240"/>
            <a:ext cx="502920" cy="50292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1325880" y="1920240"/>
            <a:ext cx="7315200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70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Hands-up questioning lets the same few answer and the rest opt out; cold-calling brings everyone in.</a:t>
            </a:r>
            <a:endParaRPr lang="en-US" sz="17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70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Pair-share gives less confident pupils a rehearsal, so being named is not exposing.</a:t>
            </a:r>
            <a:endParaRPr lang="en-US" sz="1700" dirty="0"/>
          </a:p>
          <a:p>
            <a:pPr marL="342900" indent="-342900">
              <a:buSzPct val="100000"/>
              <a:buChar char="•"/>
            </a:pPr>
            <a:r>
              <a:rPr lang="en-US" sz="170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Wait time gives slower processors the seconds they need to form a real answer.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8869680" y="1920240"/>
            <a:ext cx="2651760" cy="2194560"/>
          </a:xfrm>
          <a:prstGeom prst="rect">
            <a:avLst/>
          </a:prstGeom>
          <a:solidFill>
            <a:srgbClr val="F4ECE0"/>
          </a:solidFill>
          <a:ln w="12700">
            <a:solidFill>
              <a:srgbClr val="B07D2B"/>
            </a:solidFill>
            <a:prstDash val="solid"/>
          </a:ln>
        </p:spPr>
      </p:sp>
      <p:sp>
        <p:nvSpPr>
          <p:cNvPr id="9" name="Shape 5"/>
          <p:cNvSpPr/>
          <p:nvPr/>
        </p:nvSpPr>
        <p:spPr>
          <a:xfrm>
            <a:off x="8869680" y="1920240"/>
            <a:ext cx="64008" cy="2194560"/>
          </a:xfrm>
          <a:prstGeom prst="rect">
            <a:avLst/>
          </a:prstGeom>
          <a:solidFill>
            <a:srgbClr val="B07D2B"/>
          </a:solidFill>
          <a:ln/>
        </p:spPr>
      </p:sp>
      <p:pic>
        <p:nvPicPr>
          <p:cNvPr id="10" name="Image 2" descr="assets/icon9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98280" y="2103120"/>
            <a:ext cx="365760" cy="365760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9509760" y="210312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322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Discuss</a:t>
            </a:r>
            <a:endParaRPr lang="en-US" sz="1500" dirty="0"/>
          </a:p>
        </p:txBody>
      </p:sp>
      <p:sp>
        <p:nvSpPr>
          <p:cNvPr id="12" name="Text 7"/>
          <p:cNvSpPr/>
          <p:nvPr/>
        </p:nvSpPr>
        <p:spPr>
          <a:xfrm>
            <a:off x="9098280" y="2651760"/>
            <a:ext cx="22860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Which pupil would gain most from a hands-down lesson with built-in rehearsal?</a:t>
            </a:r>
            <a:endParaRPr lang="en-US" sz="1250" dirty="0"/>
          </a:p>
        </p:txBody>
      </p:sp>
      <p:sp>
        <p:nvSpPr>
          <p:cNvPr id="13" name="Text 8"/>
          <p:cNvSpPr/>
          <p:nvPr/>
        </p:nvSpPr>
        <p:spPr>
          <a:xfrm>
            <a:off x="64008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3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Teaching Excellence Programme · Questioning &amp; Dialogue</a:t>
            </a:r>
            <a:endParaRPr lang="en-US" sz="800" dirty="0"/>
          </a:p>
        </p:txBody>
      </p:sp>
      <p:sp>
        <p:nvSpPr>
          <p:cNvPr id="14" name="Text 9"/>
          <p:cNvSpPr/>
          <p:nvPr/>
        </p:nvSpPr>
        <p:spPr>
          <a:xfrm>
            <a:off x="7891272" y="645566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73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 Nishkam Schools programme</a:t>
            </a:r>
            <a:pPr algn="r" indent="0" marL="0">
              <a:buNone/>
            </a:pPr>
            <a:r>
              <a:rPr lang="en-US" sz="800" dirty="0">
                <a:solidFill>
                  <a:srgbClr val="6B73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    ·    13</a:t>
            </a:r>
            <a:endParaRPr lang="en-US" sz="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crest.png">    </p:cNvPr>
          <p:cNvPicPr>
            <a:picLocks noChangeAspect="1"/>
          </p:cNvPicPr>
          <p:nvPr/>
        </p:nvPicPr>
        <p:blipFill>
          <a:blip r:embed="rId1">
            <a:alphaModFix amt="48000"/>
          </a:blip>
          <a:stretch>
            <a:fillRect/>
          </a:stretch>
        </p:blipFill>
        <p:spPr>
          <a:xfrm>
            <a:off x="10707624" y="384048"/>
            <a:ext cx="841248" cy="73152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640080" y="585216"/>
            <a:ext cx="146304" cy="146304"/>
          </a:xfrm>
          <a:prstGeom prst="rect">
            <a:avLst/>
          </a:prstGeom>
          <a:solidFill>
            <a:srgbClr val="B07D2B"/>
          </a:solidFill>
          <a:ln/>
        </p:spPr>
      </p:sp>
      <p:sp>
        <p:nvSpPr>
          <p:cNvPr id="4" name="Text 1"/>
          <p:cNvSpPr/>
          <p:nvPr/>
        </p:nvSpPr>
        <p:spPr>
          <a:xfrm>
            <a:off x="914400" y="502920"/>
            <a:ext cx="96286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3F948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WATCH, THEN DISCUSS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640080" y="868680"/>
            <a:ext cx="99943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322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Questioning on screen</a:t>
            </a:r>
            <a:endParaRPr lang="en-US" sz="2700" dirty="0"/>
          </a:p>
        </p:txBody>
      </p:sp>
      <p:sp>
        <p:nvSpPr>
          <p:cNvPr id="6" name="Shape 3"/>
          <p:cNvSpPr/>
          <p:nvPr/>
        </p:nvSpPr>
        <p:spPr>
          <a:xfrm>
            <a:off x="640080" y="1828800"/>
            <a:ext cx="5852160" cy="3291840"/>
          </a:xfrm>
          <a:prstGeom prst="rect">
            <a:avLst/>
          </a:prstGeom>
          <a:solidFill>
            <a:srgbClr val="11201C"/>
          </a:solidFill>
          <a:ln/>
        </p:spPr>
      </p:sp>
      <p:sp>
        <p:nvSpPr>
          <p:cNvPr id="7" name="Shape 4"/>
          <p:cNvSpPr/>
          <p:nvPr/>
        </p:nvSpPr>
        <p:spPr>
          <a:xfrm>
            <a:off x="3063240" y="2697480"/>
            <a:ext cx="1005840" cy="100584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8" name="Shape 5"/>
          <p:cNvSpPr/>
          <p:nvPr/>
        </p:nvSpPr>
        <p:spPr>
          <a:xfrm rot="5400000">
            <a:off x="3374136" y="2971800"/>
            <a:ext cx="502920" cy="640080"/>
          </a:xfrm>
          <a:prstGeom prst="triangle">
            <a:avLst/>
          </a:prstGeom>
          <a:solidFill>
            <a:srgbClr val="14322D"/>
          </a:solidFill>
          <a:ln/>
        </p:spPr>
      </p:sp>
      <p:sp>
        <p:nvSpPr>
          <p:cNvPr id="9" name="Text 6"/>
          <p:cNvSpPr/>
          <p:nvPr/>
        </p:nvSpPr>
        <p:spPr>
          <a:xfrm>
            <a:off x="640080" y="4251960"/>
            <a:ext cx="5852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BFE0D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Play the clip here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640080" y="4617720"/>
            <a:ext cx="5852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Teach Like a Champion </a:t>
            </a:r>
            <a:pPr algn="ctr" indent="0" marL="0">
              <a:buNone/>
            </a:pPr>
            <a:r>
              <a:rPr lang="en-US" sz="1100" dirty="0">
                <a:solidFill>
                  <a:srgbClr val="8FB8A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· video portal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6858000" y="1828800"/>
            <a:ext cx="4663440" cy="3291840"/>
          </a:xfrm>
          <a:prstGeom prst="rect">
            <a:avLst/>
          </a:prstGeom>
          <a:solidFill>
            <a:srgbClr val="E8F1EE"/>
          </a:solidFill>
          <a:ln w="12700">
            <a:solidFill>
              <a:srgbClr val="3F9488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6858000" y="1828800"/>
            <a:ext cx="64008" cy="3291840"/>
          </a:xfrm>
          <a:prstGeom prst="rect">
            <a:avLst/>
          </a:prstGeom>
          <a:solidFill>
            <a:srgbClr val="3F9488"/>
          </a:solidFill>
          <a:ln/>
        </p:spPr>
      </p:sp>
      <p:sp>
        <p:nvSpPr>
          <p:cNvPr id="13" name="Text 10"/>
          <p:cNvSpPr/>
          <p:nvPr/>
        </p:nvSpPr>
        <p:spPr>
          <a:xfrm>
            <a:off x="7086600" y="1993392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322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Where to find it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7086600" y="2331720"/>
            <a:ext cx="4206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4322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Portal:  </a:t>
            </a:r>
            <a:pPr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books.wiley.com/titles/9781119712619</a:t>
            </a:r>
            <a:endParaRPr lang="en-US" sz="1250" dirty="0"/>
          </a:p>
          <a:p>
            <a:pPr indent="0" marL="0">
              <a:buNone/>
            </a:pPr>
            <a:r>
              <a:rPr lang="en-US" sz="1250" b="1" dirty="0">
                <a:solidFill>
                  <a:srgbClr val="14322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Password:  </a:t>
            </a:r>
            <a:pPr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consider</a:t>
            </a:r>
            <a:endParaRPr lang="en-US" sz="1250" dirty="0"/>
          </a:p>
          <a:p>
            <a:pPr indent="0" marL="0">
              <a:buNone/>
            </a:pPr>
            <a:r>
              <a:rPr lang="en-US" sz="1250" b="1" dirty="0">
                <a:solidFill>
                  <a:srgbClr val="14322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Clips:  </a:t>
            </a:r>
            <a:pPr indent="0" marL="0">
              <a:spcAft>
                <a:spcPts val="1000"/>
              </a:spcAft>
              <a:buNone/>
            </a:pPr>
            <a:r>
              <a:rPr lang="en-US" sz="125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Cold Call; Wait Time; Turn and Talk</a:t>
            </a:r>
            <a:endParaRPr lang="en-US" sz="1250" dirty="0"/>
          </a:p>
        </p:txBody>
      </p:sp>
      <p:sp>
        <p:nvSpPr>
          <p:cNvPr id="15" name="Text 12"/>
          <p:cNvSpPr/>
          <p:nvPr/>
        </p:nvSpPr>
        <p:spPr>
          <a:xfrm>
            <a:off x="7086600" y="3493008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322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As you watch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7086600" y="3840480"/>
            <a:ext cx="4251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How is the question posed before a pupil is named?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How long is the pause — and what does it do?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How is the first answer followed up?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64008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3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Teaching Excellence Programme · Questioning &amp; Dialogue</a:t>
            </a:r>
            <a:endParaRPr lang="en-US" sz="800" dirty="0"/>
          </a:p>
        </p:txBody>
      </p:sp>
      <p:sp>
        <p:nvSpPr>
          <p:cNvPr id="18" name="Text 15"/>
          <p:cNvSpPr/>
          <p:nvPr/>
        </p:nvSpPr>
        <p:spPr>
          <a:xfrm>
            <a:off x="7891272" y="645566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73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 Nishkam Schools programme</a:t>
            </a:r>
            <a:pPr algn="r" indent="0" marL="0">
              <a:buNone/>
            </a:pPr>
            <a:r>
              <a:rPr lang="en-US" sz="800" dirty="0">
                <a:solidFill>
                  <a:srgbClr val="6B73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    ·    14</a:t>
            </a:r>
            <a:endParaRPr lang="en-US" sz="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432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crest_light.png">    </p:cNvPr>
          <p:cNvPicPr>
            <a:picLocks noChangeAspect="1"/>
          </p:cNvPicPr>
          <p:nvPr/>
        </p:nvPicPr>
        <p:blipFill>
          <a:blip r:embed="rId1">
            <a:alphaModFix amt="16000"/>
          </a:blip>
          <a:stretch>
            <a:fillRect/>
          </a:stretch>
        </p:blipFill>
        <p:spPr>
          <a:xfrm>
            <a:off x="7772400" y="3200400"/>
            <a:ext cx="3931920" cy="341985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640080" y="1737360"/>
            <a:ext cx="201168" cy="201168"/>
          </a:xfrm>
          <a:prstGeom prst="rect">
            <a:avLst/>
          </a:prstGeom>
          <a:solidFill>
            <a:srgbClr val="B07D2B"/>
          </a:solidFill>
          <a:ln/>
        </p:spPr>
      </p:sp>
      <p:sp>
        <p:nvSpPr>
          <p:cNvPr id="4" name="Text 1"/>
          <p:cNvSpPr/>
          <p:nvPr/>
        </p:nvSpPr>
        <p:spPr>
          <a:xfrm>
            <a:off x="1005840" y="1664208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FE0D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Next steps</a:t>
            </a:r>
            <a:endParaRPr lang="en-US" sz="1300" dirty="0"/>
          </a:p>
        </p:txBody>
      </p:sp>
      <p:sp>
        <p:nvSpPr>
          <p:cNvPr id="5" name="Text 2"/>
          <p:cNvSpPr/>
          <p:nvPr/>
        </p:nvSpPr>
        <p:spPr>
          <a:xfrm>
            <a:off x="640080" y="237744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1600"/>
              </a:spcAft>
              <a:buNone/>
            </a:pPr>
            <a:r>
              <a:rPr lang="en-US" sz="22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Plan one lesson hands-down, with cold-call questions chosen in advance.</a:t>
            </a:r>
            <a:endParaRPr lang="en-US" sz="2200" dirty="0"/>
          </a:p>
          <a:p>
            <a:pPr indent="0" marL="0">
              <a:spcAft>
                <a:spcPts val="1600"/>
              </a:spcAft>
              <a:buNone/>
            </a:pPr>
            <a:r>
              <a:rPr lang="en-US" sz="22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Double your wait time in one lesson and note the change.</a:t>
            </a:r>
            <a:endParaRPr lang="en-US" sz="2200" dirty="0"/>
          </a:p>
          <a:p>
            <a:pPr indent="0" marL="0">
              <a:spcAft>
                <a:spcPts val="1600"/>
              </a:spcAft>
              <a:buNone/>
            </a:pPr>
            <a:r>
              <a:rPr lang="en-US" sz="22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Write two sequenced probes for a concept pupils find hard.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Read the Pillar 5 modules online for the worked detail.</a:t>
            </a:r>
            <a:endParaRPr lang="en-US" sz="2200" dirty="0"/>
          </a:p>
        </p:txBody>
      </p:sp>
      <p:sp>
        <p:nvSpPr>
          <p:cNvPr id="6" name="Text 3"/>
          <p:cNvSpPr/>
          <p:nvPr/>
        </p:nvSpPr>
        <p:spPr>
          <a:xfrm>
            <a:off x="640080" y="630936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FB8A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 Nishkam Schools professional development programme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entury Gothic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entury Gothic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Pillar 5 — facilitator deck</dc:title>
  <dc:subject>PptxGenJS Presentation</dc:subject>
  <dc:creator>Nishkam Schools</dc:creator>
  <cp:lastModifiedBy>Nishkam Schools</cp:lastModifiedBy>
  <cp:revision>1</cp:revision>
  <dcterms:created xsi:type="dcterms:W3CDTF">2026-06-17T09:23:24Z</dcterms:created>
  <dcterms:modified xsi:type="dcterms:W3CDTF">2026-06-17T09:23:24Z</dcterms:modified>
</cp:coreProperties>
</file>