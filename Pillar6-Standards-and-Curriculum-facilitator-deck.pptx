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2.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22D"/>
        </a:solidFill>
      </p:bgPr>
    </p:bg>
    <p:spTree>
      <p:nvGrpSpPr>
        <p:cNvPr id="1" name=""/>
        <p:cNvGrpSpPr/>
        <p:nvPr/>
      </p:nvGrpSpPr>
      <p:grpSpPr>
        <a:xfrm>
          <a:off x="0" y="0"/>
          <a:ext cx="0" cy="0"/>
          <a:chOff x="0" y="0"/>
          <a:chExt cx="0" cy="0"/>
        </a:xfrm>
      </p:grpSpPr>
      <p:pic>
        <p:nvPicPr>
          <p:cNvPr id="2" name="Image 0" descr="assets/crest_light.png">    </p:cNvPr>
          <p:cNvPicPr>
            <a:picLocks noChangeAspect="1"/>
          </p:cNvPicPr>
          <p:nvPr/>
        </p:nvPicPr>
        <p:blipFill>
          <a:blip r:embed="rId1">
            <a:alphaModFix amt="16000"/>
          </a:blip>
          <a:stretch>
            <a:fillRect/>
          </a:stretch>
        </p:blipFill>
        <p:spPr>
          <a:xfrm>
            <a:off x="7772400" y="3200400"/>
            <a:ext cx="3931920" cy="3419856"/>
          </a:xfrm>
          <a:prstGeom prst="rect">
            <a:avLst/>
          </a:prstGeom>
        </p:spPr>
      </p:pic>
      <p:sp>
        <p:nvSpPr>
          <p:cNvPr id="3" name="Shape 0"/>
          <p:cNvSpPr/>
          <p:nvPr/>
        </p:nvSpPr>
        <p:spPr>
          <a:xfrm>
            <a:off x="640080" y="1554480"/>
            <a:ext cx="201168" cy="201168"/>
          </a:xfrm>
          <a:prstGeom prst="rect">
            <a:avLst/>
          </a:prstGeom>
          <a:solidFill>
            <a:srgbClr val="B07D2B"/>
          </a:solidFill>
          <a:ln/>
        </p:spPr>
      </p:sp>
      <p:sp>
        <p:nvSpPr>
          <p:cNvPr id="4" name="Text 1"/>
          <p:cNvSpPr/>
          <p:nvPr/>
        </p:nvSpPr>
        <p:spPr>
          <a:xfrm>
            <a:off x="1005840" y="1481328"/>
            <a:ext cx="10058400" cy="365760"/>
          </a:xfrm>
          <a:prstGeom prst="rect">
            <a:avLst/>
          </a:prstGeom>
          <a:noFill/>
          <a:ln/>
        </p:spPr>
        <p:txBody>
          <a:bodyPr wrap="square" lIns="0" tIns="0" rIns="0" bIns="0" rtlCol="0" anchor="ctr"/>
          <a:lstStyle/>
          <a:p>
            <a:pPr indent="0" marL="0">
              <a:buNone/>
            </a:pPr>
            <a:r>
              <a:rPr lang="en-US" sz="1300" b="1" spc="200" kern="0" dirty="0">
                <a:solidFill>
                  <a:srgbClr val="BFE0D7"/>
                </a:solidFill>
                <a:latin typeface="Century Gothic" pitchFamily="34" charset="0"/>
                <a:ea typeface="Century Gothic" pitchFamily="34" charset="-122"/>
                <a:cs typeface="Century Gothic" pitchFamily="34" charset="-120"/>
              </a:rPr>
              <a:t>TEACHING EXCELLENCE PROGRAMME  ·  Pillar Six</a:t>
            </a:r>
            <a:endParaRPr lang="en-US" sz="1300" dirty="0"/>
          </a:p>
        </p:txBody>
      </p:sp>
      <p:sp>
        <p:nvSpPr>
          <p:cNvPr id="5" name="Text 2"/>
          <p:cNvSpPr/>
          <p:nvPr/>
        </p:nvSpPr>
        <p:spPr>
          <a:xfrm>
            <a:off x="640080" y="2103120"/>
            <a:ext cx="10607040" cy="1280160"/>
          </a:xfrm>
          <a:prstGeom prst="rect">
            <a:avLst/>
          </a:prstGeom>
          <a:noFill/>
          <a:ln/>
        </p:spPr>
        <p:txBody>
          <a:bodyPr wrap="square" lIns="0" tIns="0" rIns="0" bIns="0" rtlCol="0" anchor="ctr"/>
          <a:lstStyle/>
          <a:p>
            <a:pPr indent="0" marL="0">
              <a:buNone/>
            </a:pPr>
            <a:r>
              <a:rPr lang="en-US" sz="4400" b="1" dirty="0">
                <a:solidFill>
                  <a:srgbClr val="FFFFFF"/>
                </a:solidFill>
                <a:latin typeface="Century Gothic" pitchFamily="34" charset="0"/>
                <a:ea typeface="Century Gothic" pitchFamily="34" charset="-122"/>
                <a:cs typeface="Century Gothic" pitchFamily="34" charset="-120"/>
              </a:rPr>
              <a:t>Standards &amp; Curriculum</a:t>
            </a:r>
            <a:endParaRPr lang="en-US" sz="4400" dirty="0"/>
          </a:p>
        </p:txBody>
      </p:sp>
      <p:sp>
        <p:nvSpPr>
          <p:cNvPr id="6" name="Text 3"/>
          <p:cNvSpPr/>
          <p:nvPr/>
        </p:nvSpPr>
        <p:spPr>
          <a:xfrm>
            <a:off x="640080" y="3383280"/>
            <a:ext cx="10424160" cy="640080"/>
          </a:xfrm>
          <a:prstGeom prst="rect">
            <a:avLst/>
          </a:prstGeom>
          <a:noFill/>
          <a:ln/>
        </p:spPr>
        <p:txBody>
          <a:bodyPr wrap="square" lIns="0" tIns="0" rIns="0" bIns="0" rtlCol="0" anchor="ctr"/>
          <a:lstStyle/>
          <a:p>
            <a:pPr indent="0" marL="0">
              <a:buNone/>
            </a:pPr>
            <a:r>
              <a:rPr lang="en-US" sz="2300" dirty="0">
                <a:solidFill>
                  <a:srgbClr val="BFE0D7"/>
                </a:solidFill>
                <a:latin typeface="Century Gothic" pitchFamily="34" charset="0"/>
                <a:ea typeface="Century Gothic" pitchFamily="34" charset="-122"/>
                <a:cs typeface="Century Gothic" pitchFamily="34" charset="-120"/>
              </a:rPr>
              <a:t>The curriculum enacted, and the standards held in every book</a:t>
            </a:r>
            <a:endParaRPr lang="en-US" sz="2300" dirty="0"/>
          </a:p>
        </p:txBody>
      </p:sp>
      <p:sp>
        <p:nvSpPr>
          <p:cNvPr id="7" name="Text 4"/>
          <p:cNvSpPr/>
          <p:nvPr/>
        </p:nvSpPr>
        <p:spPr>
          <a:xfrm>
            <a:off x="640080" y="5120640"/>
            <a:ext cx="10058400" cy="365760"/>
          </a:xfrm>
          <a:prstGeom prst="rect">
            <a:avLst/>
          </a:prstGeom>
          <a:noFill/>
          <a:ln/>
        </p:spPr>
        <p:txBody>
          <a:bodyPr wrap="square" lIns="0" tIns="0" rIns="0" bIns="0" rtlCol="0" anchor="ct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Facilitator session</a:t>
            </a:r>
            <a:pPr indent="0" marL="0">
              <a:buNone/>
            </a:pPr>
            <a:r>
              <a:rPr lang="en-US" sz="1400" dirty="0">
                <a:solidFill>
                  <a:srgbClr val="BFE0D7"/>
                </a:solidFill>
                <a:latin typeface="Century Gothic" pitchFamily="34" charset="0"/>
                <a:ea typeface="Century Gothic" pitchFamily="34" charset="-122"/>
                <a:cs typeface="Century Gothic" pitchFamily="34" charset="-120"/>
              </a:rPr>
              <a:t>   ·   pairs with the Standards &amp; Curriculum booklet</a:t>
            </a:r>
            <a:endParaRPr lang="en-US" sz="1400" dirty="0"/>
          </a:p>
        </p:txBody>
      </p:sp>
      <p:sp>
        <p:nvSpPr>
          <p:cNvPr id="8" name="Text 5"/>
          <p:cNvSpPr/>
          <p:nvPr/>
        </p:nvSpPr>
        <p:spPr>
          <a:xfrm>
            <a:off x="640080" y="6309360"/>
            <a:ext cx="10058400" cy="320040"/>
          </a:xfrm>
          <a:prstGeom prst="rect">
            <a:avLst/>
          </a:prstGeom>
          <a:noFill/>
          <a:ln/>
        </p:spPr>
        <p:txBody>
          <a:bodyPr wrap="square" lIns="0" tIns="0" rIns="0" bIns="0" rtlCol="0" anchor="ctr"/>
          <a:lstStyle/>
          <a:p>
            <a:pPr indent="0" marL="0">
              <a:buNone/>
            </a:pPr>
            <a:r>
              <a:rPr lang="en-US" sz="1100" dirty="0">
                <a:solidFill>
                  <a:srgbClr val="8FB8AE"/>
                </a:solidFill>
                <a:latin typeface="Century Gothic" pitchFamily="34" charset="0"/>
                <a:ea typeface="Century Gothic" pitchFamily="34" charset="-122"/>
                <a:cs typeface="Century Gothic" pitchFamily="34" charset="-120"/>
              </a:rPr>
              <a:t>A professional development programme developed by Nishkam Schools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ONE PROGRAMME</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Six pillars, one shared method</a:t>
            </a:r>
            <a:endParaRPr lang="en-US" sz="2700" dirty="0"/>
          </a:p>
        </p:txBody>
      </p:sp>
      <p:sp>
        <p:nvSpPr>
          <p:cNvPr id="6" name="Text 3"/>
          <p:cNvSpPr/>
          <p:nvPr/>
        </p:nvSpPr>
        <p:spPr>
          <a:xfrm>
            <a:off x="685800" y="1874520"/>
            <a:ext cx="5852160" cy="3840480"/>
          </a:xfrm>
          <a:prstGeom prst="rect">
            <a:avLst/>
          </a:prstGeom>
          <a:noFill/>
          <a:ln/>
        </p:spPr>
        <p:txBody>
          <a:bodyPr wrap="square" lIns="0" tIns="0" rIns="0" bIns="0" rtlCol="0" anchor="t"/>
          <a:lstStyle/>
          <a:p>
            <a:pPr indent="0" marL="0">
              <a:spcAft>
                <a:spcPts val="1100"/>
              </a:spcAft>
              <a:buNone/>
            </a:pPr>
            <a:r>
              <a:rPr lang="en-US" sz="1500" dirty="0">
                <a:solidFill>
                  <a:srgbClr val="1A1F1D"/>
                </a:solidFill>
                <a:latin typeface="Century Gothic" pitchFamily="34" charset="0"/>
                <a:ea typeface="Century Gothic" pitchFamily="34" charset="-122"/>
                <a:cs typeface="Century Gothic" pitchFamily="34" charset="-120"/>
              </a:rPr>
              <a:t>1 · Behaviour &amp; Climate</a:t>
            </a:r>
            <a:endParaRPr lang="en-US" sz="1500" dirty="0"/>
          </a:p>
          <a:p>
            <a:pPr indent="0" marL="0">
              <a:spcAft>
                <a:spcPts val="1100"/>
              </a:spcAft>
              <a:buNone/>
            </a:pPr>
            <a:r>
              <a:rPr lang="en-US" sz="1500" dirty="0">
                <a:solidFill>
                  <a:srgbClr val="1A1F1D"/>
                </a:solidFill>
                <a:latin typeface="Century Gothic" pitchFamily="34" charset="0"/>
                <a:ea typeface="Century Gothic" pitchFamily="34" charset="-122"/>
                <a:cs typeface="Century Gothic" pitchFamily="34" charset="-120"/>
              </a:rPr>
              <a:t>2 · Adaptive Teaching &amp; Inclusion</a:t>
            </a:r>
            <a:endParaRPr lang="en-US" sz="1500" dirty="0"/>
          </a:p>
          <a:p>
            <a:pPr indent="0" marL="0">
              <a:spcAft>
                <a:spcPts val="1100"/>
              </a:spcAft>
              <a:buNone/>
            </a:pPr>
            <a:r>
              <a:rPr lang="en-US" sz="1500" dirty="0">
                <a:solidFill>
                  <a:srgbClr val="1A1F1D"/>
                </a:solidFill>
                <a:latin typeface="Century Gothic" pitchFamily="34" charset="0"/>
                <a:ea typeface="Century Gothic" pitchFamily="34" charset="-122"/>
                <a:cs typeface="Century Gothic" pitchFamily="34" charset="-120"/>
              </a:rPr>
              <a:t>3 · Instruction &amp; Modelling</a:t>
            </a:r>
            <a:endParaRPr lang="en-US" sz="1500" dirty="0"/>
          </a:p>
          <a:p>
            <a:pPr indent="0" marL="0">
              <a:spcAft>
                <a:spcPts val="1100"/>
              </a:spcAft>
              <a:buNone/>
            </a:pPr>
            <a:r>
              <a:rPr lang="en-US" sz="1500" dirty="0">
                <a:solidFill>
                  <a:srgbClr val="1A1F1D"/>
                </a:solidFill>
                <a:latin typeface="Century Gothic" pitchFamily="34" charset="0"/>
                <a:ea typeface="Century Gothic" pitchFamily="34" charset="-122"/>
                <a:cs typeface="Century Gothic" pitchFamily="34" charset="-120"/>
              </a:rPr>
              <a:t>4 · Checking for Understanding</a:t>
            </a:r>
            <a:endParaRPr lang="en-US" sz="1500" dirty="0"/>
          </a:p>
          <a:p>
            <a:pPr indent="0" marL="0">
              <a:spcAft>
                <a:spcPts val="1100"/>
              </a:spcAft>
              <a:buNone/>
            </a:pPr>
            <a:r>
              <a:rPr lang="en-US" sz="1500" dirty="0">
                <a:solidFill>
                  <a:srgbClr val="1A1F1D"/>
                </a:solidFill>
                <a:latin typeface="Century Gothic" pitchFamily="34" charset="0"/>
                <a:ea typeface="Century Gothic" pitchFamily="34" charset="-122"/>
                <a:cs typeface="Century Gothic" pitchFamily="34" charset="-120"/>
              </a:rPr>
              <a:t>5 · Questioning &amp; Classroom Dialogue</a:t>
            </a:r>
            <a:endParaRPr lang="en-US" sz="1500" dirty="0"/>
          </a:p>
          <a:p>
            <a:pPr indent="0" marL="0">
              <a:spcAft>
                <a:spcPts val="1100"/>
              </a:spcAft>
              <a:buNone/>
            </a:pPr>
            <a:r>
              <a:rPr lang="en-US" sz="1500" b="1" dirty="0">
                <a:solidFill>
                  <a:srgbClr val="14322D"/>
                </a:solidFill>
                <a:latin typeface="Century Gothic" pitchFamily="34" charset="0"/>
                <a:ea typeface="Century Gothic" pitchFamily="34" charset="-122"/>
                <a:cs typeface="Century Gothic" pitchFamily="34" charset="-120"/>
              </a:rPr>
              <a:t>6 · Standards &amp; Curriculum</a:t>
            </a:r>
            <a:endParaRPr lang="en-US" sz="1500" dirty="0"/>
          </a:p>
        </p:txBody>
      </p:sp>
      <p:sp>
        <p:nvSpPr>
          <p:cNvPr id="7" name="Shape 4"/>
          <p:cNvSpPr/>
          <p:nvPr/>
        </p:nvSpPr>
        <p:spPr>
          <a:xfrm>
            <a:off x="640080" y="3881628"/>
            <a:ext cx="64008" cy="292608"/>
          </a:xfrm>
          <a:prstGeom prst="rect">
            <a:avLst/>
          </a:prstGeom>
          <a:solidFill>
            <a:srgbClr val="B07D2B"/>
          </a:solidFill>
          <a:ln/>
        </p:spPr>
      </p:sp>
      <p:sp>
        <p:nvSpPr>
          <p:cNvPr id="8" name="Shape 5"/>
          <p:cNvSpPr/>
          <p:nvPr/>
        </p:nvSpPr>
        <p:spPr>
          <a:xfrm>
            <a:off x="6858000" y="1783080"/>
            <a:ext cx="4663440" cy="3977640"/>
          </a:xfrm>
          <a:prstGeom prst="rect">
            <a:avLst/>
          </a:prstGeom>
          <a:solidFill>
            <a:srgbClr val="E8F1EE"/>
          </a:solidFill>
          <a:ln w="12700">
            <a:solidFill>
              <a:srgbClr val="3F9488"/>
            </a:solidFill>
            <a:prstDash val="solid"/>
          </a:ln>
        </p:spPr>
      </p:sp>
      <p:sp>
        <p:nvSpPr>
          <p:cNvPr id="9" name="Shape 6"/>
          <p:cNvSpPr/>
          <p:nvPr/>
        </p:nvSpPr>
        <p:spPr>
          <a:xfrm>
            <a:off x="6858000" y="1783080"/>
            <a:ext cx="64008" cy="3977640"/>
          </a:xfrm>
          <a:prstGeom prst="rect">
            <a:avLst/>
          </a:prstGeom>
          <a:solidFill>
            <a:srgbClr val="3F9488"/>
          </a:solidFill>
          <a:ln/>
        </p:spPr>
      </p:sp>
      <p:pic>
        <p:nvPicPr>
          <p:cNvPr id="10" name="Image 1" descr="assets/icon11.png">    </p:cNvPr>
          <p:cNvPicPr>
            <a:picLocks noChangeAspect="1"/>
          </p:cNvPicPr>
          <p:nvPr/>
        </p:nvPicPr>
        <p:blipFill>
          <a:blip r:embed="rId2"/>
          <a:stretch>
            <a:fillRect/>
          </a:stretch>
        </p:blipFill>
        <p:spPr>
          <a:xfrm>
            <a:off x="7114032" y="1993392"/>
            <a:ext cx="457200" cy="457200"/>
          </a:xfrm>
          <a:prstGeom prst="rect">
            <a:avLst/>
          </a:prstGeom>
        </p:spPr>
      </p:pic>
      <p:sp>
        <p:nvSpPr>
          <p:cNvPr id="11" name="Text 7"/>
          <p:cNvSpPr/>
          <p:nvPr/>
        </p:nvSpPr>
        <p:spPr>
          <a:xfrm>
            <a:off x="7680960" y="2011680"/>
            <a:ext cx="3657600" cy="41148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How teachers use it</a:t>
            </a:r>
            <a:endParaRPr lang="en-US" sz="1600" dirty="0"/>
          </a:p>
        </p:txBody>
      </p:sp>
      <p:sp>
        <p:nvSpPr>
          <p:cNvPr id="12" name="Text 8"/>
          <p:cNvSpPr/>
          <p:nvPr/>
        </p:nvSpPr>
        <p:spPr>
          <a:xfrm>
            <a:off x="7114032" y="2606040"/>
            <a:ext cx="4206240" cy="3017520"/>
          </a:xfrm>
          <a:prstGeom prst="rect">
            <a:avLst/>
          </a:prstGeom>
          <a:noFill/>
          <a:ln/>
        </p:spPr>
        <p:txBody>
          <a:bodyPr wrap="square" lIns="0" tIns="0" rIns="0" bIns="0" rtlCol="0" anchor="t"/>
          <a:lstStyle/>
          <a:p>
            <a:pPr indent="0" marL="0">
              <a:buNone/>
            </a:pPr>
            <a:r>
              <a:rPr lang="en-US" sz="1350" b="1" dirty="0">
                <a:solidFill>
                  <a:srgbClr val="000000"/>
                </a:solidFill>
                <a:latin typeface="Century Gothic" pitchFamily="34" charset="0"/>
                <a:ea typeface="Century Gothic" pitchFamily="34" charset="-122"/>
                <a:cs typeface="Century Gothic" pitchFamily="34" charset="-120"/>
              </a:rPr>
              <a:t>Independent study</a:t>
            </a:r>
            <a:endParaRPr lang="en-US" sz="1350" dirty="0"/>
          </a:p>
          <a:p>
            <a:pPr indent="0" marL="0">
              <a:spcAft>
                <a:spcPts val="800"/>
              </a:spcAft>
              <a:buNone/>
            </a:pPr>
            <a:r>
              <a:rPr lang="en-US" sz="1200" dirty="0">
                <a:solidFill>
                  <a:srgbClr val="6B736E"/>
                </a:solidFill>
                <a:latin typeface="Century Gothic" pitchFamily="34" charset="0"/>
                <a:ea typeface="Century Gothic" pitchFamily="34" charset="-122"/>
                <a:cs typeface="Century Gothic" pitchFamily="34" charset="-120"/>
              </a:rPr>
              <a:t>the booklet, worked through alone</a:t>
            </a:r>
            <a:endParaRPr lang="en-US" sz="1350" dirty="0"/>
          </a:p>
          <a:p>
            <a:pPr indent="0" marL="0">
              <a:buNone/>
            </a:pPr>
            <a:r>
              <a:rPr lang="en-US" sz="1350" b="1" dirty="0">
                <a:solidFill>
                  <a:srgbClr val="000000"/>
                </a:solidFill>
                <a:latin typeface="Century Gothic" pitchFamily="34" charset="0"/>
                <a:ea typeface="Century Gothic" pitchFamily="34" charset="-122"/>
                <a:cs typeface="Century Gothic" pitchFamily="34" charset="-120"/>
              </a:rPr>
              <a:t>Coaching quartets</a:t>
            </a:r>
            <a:endParaRPr lang="en-US" sz="1350" dirty="0"/>
          </a:p>
          <a:p>
            <a:pPr indent="0" marL="0">
              <a:spcAft>
                <a:spcPts val="800"/>
              </a:spcAft>
              <a:buNone/>
            </a:pPr>
            <a:r>
              <a:rPr lang="en-US" sz="1200" dirty="0">
                <a:solidFill>
                  <a:srgbClr val="6B736E"/>
                </a:solidFill>
                <a:latin typeface="Century Gothic" pitchFamily="34" charset="0"/>
                <a:ea typeface="Century Gothic" pitchFamily="34" charset="-122"/>
                <a:cs typeface="Century Gothic" pitchFamily="34" charset="-120"/>
              </a:rPr>
              <a:t>three or four colleagues rehearse together</a:t>
            </a:r>
            <a:endParaRPr lang="en-US" sz="1350" dirty="0"/>
          </a:p>
          <a:p>
            <a:pPr indent="0" marL="0">
              <a:buNone/>
            </a:pPr>
            <a:r>
              <a:rPr lang="en-US" sz="1350" b="1" dirty="0">
                <a:solidFill>
                  <a:srgbClr val="000000"/>
                </a:solidFill>
                <a:latin typeface="Century Gothic" pitchFamily="34" charset="0"/>
                <a:ea typeface="Century Gothic" pitchFamily="34" charset="-122"/>
                <a:cs typeface="Century Gothic" pitchFamily="34" charset="-120"/>
              </a:rPr>
              <a:t>Class teams</a:t>
            </a:r>
            <a:endParaRPr lang="en-US" sz="1350" dirty="0"/>
          </a:p>
          <a:p>
            <a:pPr indent="0" marL="0">
              <a:spcAft>
                <a:spcPts val="800"/>
              </a:spcAft>
              <a:buNone/>
            </a:pPr>
            <a:r>
              <a:rPr lang="en-US" sz="1200" dirty="0">
                <a:solidFill>
                  <a:srgbClr val="6B736E"/>
                </a:solidFill>
                <a:latin typeface="Century Gothic" pitchFamily="34" charset="0"/>
                <a:ea typeface="Century Gothic" pitchFamily="34" charset="-122"/>
                <a:cs typeface="Century Gothic" pitchFamily="34" charset="-120"/>
              </a:rPr>
              <a:t>adapting each method to your class</a:t>
            </a:r>
            <a:endParaRPr lang="en-US" sz="1350" dirty="0"/>
          </a:p>
          <a:p>
            <a:pPr indent="0" marL="0">
              <a:buNone/>
            </a:pPr>
            <a:r>
              <a:rPr lang="en-US" sz="1350" b="1" dirty="0">
                <a:solidFill>
                  <a:srgbClr val="000000"/>
                </a:solidFill>
                <a:latin typeface="Century Gothic" pitchFamily="34" charset="0"/>
                <a:ea typeface="Century Gothic" pitchFamily="34" charset="-122"/>
                <a:cs typeface="Century Gothic" pitchFamily="34" charset="-120"/>
              </a:rPr>
              <a:t>Whole-school CPD</a:t>
            </a:r>
            <a:endParaRPr lang="en-US" sz="1350" dirty="0"/>
          </a:p>
          <a:p>
            <a:pPr indent="0" marL="0">
              <a:buNone/>
            </a:pPr>
            <a:r>
              <a:rPr lang="en-US" sz="1200" dirty="0">
                <a:solidFill>
                  <a:srgbClr val="6B736E"/>
                </a:solidFill>
                <a:latin typeface="Century Gothic" pitchFamily="34" charset="0"/>
                <a:ea typeface="Century Gothic" pitchFamily="34" charset="-122"/>
                <a:cs typeface="Century Gothic" pitchFamily="34" charset="-120"/>
              </a:rPr>
              <a:t>this session</a:t>
            </a:r>
            <a:endParaRPr lang="en-US" sz="1350" dirty="0"/>
          </a:p>
        </p:txBody>
      </p:sp>
      <p:sp>
        <p:nvSpPr>
          <p:cNvPr id="13" name="Text 9"/>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4" name="Text 10"/>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THIS SESSION</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What this hour does</a:t>
            </a:r>
            <a:endParaRPr lang="en-US" sz="2700" dirty="0"/>
          </a:p>
        </p:txBody>
      </p:sp>
      <p:sp>
        <p:nvSpPr>
          <p:cNvPr id="6" name="Text 3"/>
          <p:cNvSpPr/>
          <p:nvPr/>
        </p:nvSpPr>
        <p:spPr>
          <a:xfrm>
            <a:off x="640080" y="1965960"/>
            <a:ext cx="7772400" cy="3108960"/>
          </a:xfrm>
          <a:prstGeom prst="rect">
            <a:avLst/>
          </a:prstGeom>
          <a:noFill/>
          <a:ln/>
        </p:spPr>
        <p:txBody>
          <a:bodyPr wrap="square" rtlCol="0" anchor="t"/>
          <a:lstStyle/>
          <a:p>
            <a:pPr marL="342900" indent="-342900">
              <a:spcAft>
                <a:spcPts val="13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See the curriculum as the progression model: knowledge, in a deliberate sequence.</a:t>
            </a:r>
            <a:endParaRPr lang="en-US" sz="1700" dirty="0"/>
          </a:p>
          <a:p>
            <a:pPr marL="342900" indent="-342900">
              <a:spcAft>
                <a:spcPts val="13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Walk curriculum delivery, the book look, and reading for pleasure.</a:t>
            </a:r>
            <a:endParaRPr lang="en-US" sz="1700" dirty="0"/>
          </a:p>
          <a:p>
            <a:pPr marL="342900" indent="-342900">
              <a:spcAft>
                <a:spcPts val="13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Read a set of books together against a shared standard.</a:t>
            </a:r>
            <a:endParaRPr lang="en-US" sz="1700" dirty="0"/>
          </a:p>
          <a:p>
            <a:pPr marL="342900" indent="-342900">
              <a:spcAft>
                <a:spcPts val="13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Leave with one standard to hold consistently, and one read-aloud planned.</a:t>
            </a:r>
            <a:endParaRPr lang="en-US" sz="1700" dirty="0"/>
          </a:p>
        </p:txBody>
      </p:sp>
      <p:sp>
        <p:nvSpPr>
          <p:cNvPr id="7" name="Shape 4"/>
          <p:cNvSpPr/>
          <p:nvPr/>
        </p:nvSpPr>
        <p:spPr>
          <a:xfrm>
            <a:off x="8869680" y="1965960"/>
            <a:ext cx="2651760" cy="2651760"/>
          </a:xfrm>
          <a:prstGeom prst="rect">
            <a:avLst/>
          </a:prstGeom>
          <a:solidFill>
            <a:srgbClr val="F4ECE0"/>
          </a:solidFill>
          <a:ln w="12700">
            <a:solidFill>
              <a:srgbClr val="B07D2B"/>
            </a:solidFill>
            <a:prstDash val="solid"/>
          </a:ln>
        </p:spPr>
      </p:sp>
      <p:sp>
        <p:nvSpPr>
          <p:cNvPr id="8" name="Shape 5"/>
          <p:cNvSpPr/>
          <p:nvPr/>
        </p:nvSpPr>
        <p:spPr>
          <a:xfrm>
            <a:off x="8869680" y="1965960"/>
            <a:ext cx="64008" cy="2651760"/>
          </a:xfrm>
          <a:prstGeom prst="rect">
            <a:avLst/>
          </a:prstGeom>
          <a:solidFill>
            <a:srgbClr val="B07D2B"/>
          </a:solidFill>
          <a:ln/>
        </p:spPr>
      </p:sp>
      <p:pic>
        <p:nvPicPr>
          <p:cNvPr id="9" name="Image 1" descr="assets/icon8.png">    </p:cNvPr>
          <p:cNvPicPr>
            <a:picLocks noChangeAspect="1"/>
          </p:cNvPicPr>
          <p:nvPr/>
        </p:nvPicPr>
        <p:blipFill>
          <a:blip r:embed="rId2"/>
          <a:stretch>
            <a:fillRect/>
          </a:stretch>
        </p:blipFill>
        <p:spPr>
          <a:xfrm>
            <a:off x="9098280" y="2194560"/>
            <a:ext cx="420624" cy="420624"/>
          </a:xfrm>
          <a:prstGeom prst="rect">
            <a:avLst/>
          </a:prstGeom>
        </p:spPr>
      </p:pic>
      <p:sp>
        <p:nvSpPr>
          <p:cNvPr id="10" name="Text 6"/>
          <p:cNvSpPr/>
          <p:nvPr/>
        </p:nvSpPr>
        <p:spPr>
          <a:xfrm>
            <a:off x="9098280" y="2697480"/>
            <a:ext cx="2240280" cy="548640"/>
          </a:xfrm>
          <a:prstGeom prst="rect">
            <a:avLst/>
          </a:prstGeom>
          <a:noFill/>
          <a:ln/>
        </p:spPr>
        <p:txBody>
          <a:bodyPr wrap="square" lIns="0" tIns="0" rIns="0" bIns="0" rtlCol="0" anchor="ctr"/>
          <a:lstStyle/>
          <a:p>
            <a:pPr indent="0" marL="0">
              <a:buNone/>
            </a:pPr>
            <a:r>
              <a:rPr lang="en-US" sz="1400" b="1" dirty="0">
                <a:solidFill>
                  <a:srgbClr val="14322D"/>
                </a:solidFill>
                <a:latin typeface="Century Gothic" pitchFamily="34" charset="0"/>
                <a:ea typeface="Century Gothic" pitchFamily="34" charset="-122"/>
                <a:cs typeface="Century Gothic" pitchFamily="34" charset="-120"/>
              </a:rPr>
              <a:t>Keep the booklet open</a:t>
            </a:r>
            <a:endParaRPr lang="en-US" sz="1400" dirty="0"/>
          </a:p>
        </p:txBody>
      </p:sp>
      <p:sp>
        <p:nvSpPr>
          <p:cNvPr id="11" name="Text 7"/>
          <p:cNvSpPr/>
          <p:nvPr/>
        </p:nvSpPr>
        <p:spPr>
          <a:xfrm>
            <a:off x="9098280" y="3246120"/>
            <a:ext cx="2286000" cy="128016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The slides lead the room; the booklet is where you record your thinking and the tasks.</a:t>
            </a:r>
            <a:endParaRPr lang="en-US" sz="1250" dirty="0"/>
          </a:p>
        </p:txBody>
      </p:sp>
      <p:pic>
        <p:nvPicPr>
          <p:cNvPr id="12" name="Image 2" descr="assets/icon9.png">    </p:cNvPr>
          <p:cNvPicPr>
            <a:picLocks noChangeAspect="1"/>
          </p:cNvPicPr>
          <p:nvPr/>
        </p:nvPicPr>
        <p:blipFill>
          <a:blip r:embed="rId3"/>
          <a:stretch>
            <a:fillRect/>
          </a:stretch>
        </p:blipFill>
        <p:spPr>
          <a:xfrm>
            <a:off x="640080" y="5495544"/>
            <a:ext cx="310896" cy="310896"/>
          </a:xfrm>
          <a:prstGeom prst="rect">
            <a:avLst/>
          </a:prstGeom>
        </p:spPr>
      </p:pic>
      <p:sp>
        <p:nvSpPr>
          <p:cNvPr id="13" name="Text 8"/>
          <p:cNvSpPr/>
          <p:nvPr/>
        </p:nvSpPr>
        <p:spPr>
          <a:xfrm>
            <a:off x="1097280" y="5477256"/>
            <a:ext cx="10451592" cy="365760"/>
          </a:xfrm>
          <a:prstGeom prst="rect">
            <a:avLst/>
          </a:prstGeom>
          <a:noFill/>
          <a:ln/>
        </p:spPr>
        <p:txBody>
          <a:bodyPr wrap="square" lIns="0" tIns="0" rIns="0" bIns="0" rtlCol="0" anchor="ctr"/>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Discuss  </a:t>
            </a:r>
            <a:pPr indent="0" marL="0">
              <a:buNone/>
            </a:pPr>
            <a:r>
              <a:rPr lang="en-US" sz="1250" dirty="0">
                <a:solidFill>
                  <a:srgbClr val="1A1F1D"/>
                </a:solidFill>
                <a:latin typeface="Century Gothic" pitchFamily="34" charset="0"/>
                <a:ea typeface="Century Gothic" pitchFamily="34" charset="-122"/>
                <a:cs typeface="Century Gothic" pitchFamily="34" charset="-120"/>
              </a:rPr>
              <a:t>What does a strong set of books look like in your class — and how would you know?</a:t>
            </a:r>
            <a:endParaRPr lang="en-US" sz="1250" dirty="0"/>
          </a:p>
        </p:txBody>
      </p:sp>
      <p:sp>
        <p:nvSpPr>
          <p:cNvPr id="14" name="Text 9"/>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5" name="Text 10"/>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WHY THIS MATTERS</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What a set of books shows</a:t>
            </a:r>
            <a:endParaRPr lang="en-US" sz="2700" dirty="0"/>
          </a:p>
        </p:txBody>
      </p:sp>
      <p:sp>
        <p:nvSpPr>
          <p:cNvPr id="6" name="Shape 3"/>
          <p:cNvSpPr/>
          <p:nvPr/>
        </p:nvSpPr>
        <p:spPr>
          <a:xfrm>
            <a:off x="640080" y="1783080"/>
            <a:ext cx="5074920" cy="3154680"/>
          </a:xfrm>
          <a:prstGeom prst="rect">
            <a:avLst/>
          </a:prstGeom>
          <a:solidFill>
            <a:srgbClr val="F4F1EC"/>
          </a:solidFill>
          <a:ln w="12700">
            <a:solidFill>
              <a:srgbClr val="C0613F"/>
            </a:solidFill>
            <a:prstDash val="solid"/>
          </a:ln>
        </p:spPr>
      </p:sp>
      <p:sp>
        <p:nvSpPr>
          <p:cNvPr id="7" name="Shape 4"/>
          <p:cNvSpPr/>
          <p:nvPr/>
        </p:nvSpPr>
        <p:spPr>
          <a:xfrm>
            <a:off x="640080" y="1783080"/>
            <a:ext cx="64008" cy="3154680"/>
          </a:xfrm>
          <a:prstGeom prst="rect">
            <a:avLst/>
          </a:prstGeom>
          <a:solidFill>
            <a:srgbClr val="C0613F"/>
          </a:solidFill>
          <a:ln/>
        </p:spPr>
      </p:sp>
      <p:pic>
        <p:nvPicPr>
          <p:cNvPr id="8" name="Image 1" descr="assets/icon5.png">    </p:cNvPr>
          <p:cNvPicPr>
            <a:picLocks noChangeAspect="1"/>
          </p:cNvPicPr>
          <p:nvPr/>
        </p:nvPicPr>
        <p:blipFill>
          <a:blip r:embed="rId2"/>
          <a:stretch>
            <a:fillRect/>
          </a:stretch>
        </p:blipFill>
        <p:spPr>
          <a:xfrm>
            <a:off x="868680" y="1920240"/>
            <a:ext cx="384048" cy="384048"/>
          </a:xfrm>
          <a:prstGeom prst="rect">
            <a:avLst/>
          </a:prstGeom>
        </p:spPr>
      </p:pic>
      <p:sp>
        <p:nvSpPr>
          <p:cNvPr id="9" name="Text 5"/>
          <p:cNvSpPr/>
          <p:nvPr/>
        </p:nvSpPr>
        <p:spPr>
          <a:xfrm>
            <a:off x="1371600" y="1920240"/>
            <a:ext cx="4160520" cy="384048"/>
          </a:xfrm>
          <a:prstGeom prst="rect">
            <a:avLst/>
          </a:prstGeom>
          <a:noFill/>
          <a:ln/>
        </p:spPr>
        <p:txBody>
          <a:bodyPr wrap="square" lIns="0" tIns="0" rIns="0" bIns="0" rtlCol="0" anchor="ctr"/>
          <a:lstStyle/>
          <a:p>
            <a:pPr indent="0" marL="0">
              <a:buNone/>
            </a:pPr>
            <a:r>
              <a:rPr lang="en-US" sz="1600" b="1" dirty="0">
                <a:solidFill>
                  <a:srgbClr val="8A4836"/>
                </a:solidFill>
                <a:latin typeface="Century Gothic" pitchFamily="34" charset="0"/>
                <a:ea typeface="Century Gothic" pitchFamily="34" charset="-122"/>
                <a:cs typeface="Century Gothic" pitchFamily="34" charset="-120"/>
              </a:rPr>
              <a:t>Books with no clear standard</a:t>
            </a:r>
            <a:endParaRPr lang="en-US" sz="1600" dirty="0"/>
          </a:p>
        </p:txBody>
      </p:sp>
      <p:sp>
        <p:nvSpPr>
          <p:cNvPr id="10" name="Text 6"/>
          <p:cNvSpPr/>
          <p:nvPr/>
        </p:nvSpPr>
        <p:spPr>
          <a:xfrm>
            <a:off x="868680" y="2423160"/>
            <a:ext cx="4617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No clear sequence; topics in any order.</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Misconceptions left uncorrected.</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Feedback given, never acted on.</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The same difficulty all year.</a:t>
            </a:r>
            <a:endParaRPr lang="en-US" sz="1300" dirty="0"/>
          </a:p>
        </p:txBody>
      </p:sp>
      <p:sp>
        <p:nvSpPr>
          <p:cNvPr id="11" name="Shape 7"/>
          <p:cNvSpPr/>
          <p:nvPr/>
        </p:nvSpPr>
        <p:spPr>
          <a:xfrm>
            <a:off x="6126480" y="1783080"/>
            <a:ext cx="5074920" cy="3154680"/>
          </a:xfrm>
          <a:prstGeom prst="rect">
            <a:avLst/>
          </a:prstGeom>
          <a:solidFill>
            <a:srgbClr val="E8F1EE"/>
          </a:solidFill>
          <a:ln w="12700">
            <a:solidFill>
              <a:srgbClr val="3F9488"/>
            </a:solidFill>
            <a:prstDash val="solid"/>
          </a:ln>
        </p:spPr>
      </p:sp>
      <p:sp>
        <p:nvSpPr>
          <p:cNvPr id="12" name="Shape 8"/>
          <p:cNvSpPr/>
          <p:nvPr/>
        </p:nvSpPr>
        <p:spPr>
          <a:xfrm>
            <a:off x="6126480" y="1783080"/>
            <a:ext cx="64008" cy="3154680"/>
          </a:xfrm>
          <a:prstGeom prst="rect">
            <a:avLst/>
          </a:prstGeom>
          <a:solidFill>
            <a:srgbClr val="3F9488"/>
          </a:solidFill>
          <a:ln/>
        </p:spPr>
      </p:sp>
      <p:pic>
        <p:nvPicPr>
          <p:cNvPr id="13" name="Image 2" descr="assets/icon6.png">    </p:cNvPr>
          <p:cNvPicPr>
            <a:picLocks noChangeAspect="1"/>
          </p:cNvPicPr>
          <p:nvPr/>
        </p:nvPicPr>
        <p:blipFill>
          <a:blip r:embed="rId3"/>
          <a:stretch>
            <a:fillRect/>
          </a:stretch>
        </p:blipFill>
        <p:spPr>
          <a:xfrm>
            <a:off x="6355080" y="1920240"/>
            <a:ext cx="384048" cy="384048"/>
          </a:xfrm>
          <a:prstGeom prst="rect">
            <a:avLst/>
          </a:prstGeom>
        </p:spPr>
      </p:pic>
      <p:sp>
        <p:nvSpPr>
          <p:cNvPr id="14" name="Text 9"/>
          <p:cNvSpPr/>
          <p:nvPr/>
        </p:nvSpPr>
        <p:spPr>
          <a:xfrm>
            <a:off x="6858000" y="1920240"/>
            <a:ext cx="4160520" cy="384048"/>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Books kept to a standard</a:t>
            </a:r>
            <a:endParaRPr lang="en-US" sz="1600" dirty="0"/>
          </a:p>
        </p:txBody>
      </p:sp>
      <p:sp>
        <p:nvSpPr>
          <p:cNvPr id="15" name="Text 10"/>
          <p:cNvSpPr/>
          <p:nvPr/>
        </p:nvSpPr>
        <p:spPr>
          <a:xfrm>
            <a:off x="6355080" y="2423160"/>
            <a:ext cx="4617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A clear sequence that builds on prior knowledge.</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Errors caught and addressed.</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Pupils respond to feedback in purple pen.</a:t>
            </a:r>
            <a:endParaRPr lang="en-US" sz="1300" dirty="0"/>
          </a:p>
          <a:p>
            <a:pPr marL="342900" indent="-342900">
              <a:spcAft>
                <a:spcPts val="600"/>
              </a:spcAft>
              <a:buSzPct val="100000"/>
              <a:buChar char="•"/>
            </a:pPr>
            <a:r>
              <a:rPr lang="en-US" sz="1300" dirty="0">
                <a:solidFill>
                  <a:srgbClr val="1A1F1D"/>
                </a:solidFill>
                <a:latin typeface="Century Gothic" pitchFamily="34" charset="0"/>
                <a:ea typeface="Century Gothic" pitchFamily="34" charset="-122"/>
                <a:cs typeface="Century Gothic" pitchFamily="34" charset="-120"/>
              </a:rPr>
              <a:t>Rising challenge over time.</a:t>
            </a:r>
            <a:endParaRPr lang="en-US" sz="1300" dirty="0"/>
          </a:p>
        </p:txBody>
      </p:sp>
      <p:pic>
        <p:nvPicPr>
          <p:cNvPr id="16" name="Image 3" descr="assets/icon9.png">    </p:cNvPr>
          <p:cNvPicPr>
            <a:picLocks noChangeAspect="1"/>
          </p:cNvPicPr>
          <p:nvPr/>
        </p:nvPicPr>
        <p:blipFill>
          <a:blip r:embed="rId4"/>
          <a:stretch>
            <a:fillRect/>
          </a:stretch>
        </p:blipFill>
        <p:spPr>
          <a:xfrm>
            <a:off x="640080" y="5175504"/>
            <a:ext cx="310896" cy="310896"/>
          </a:xfrm>
          <a:prstGeom prst="rect">
            <a:avLst/>
          </a:prstGeom>
        </p:spPr>
      </p:pic>
      <p:sp>
        <p:nvSpPr>
          <p:cNvPr id="17" name="Text 11"/>
          <p:cNvSpPr/>
          <p:nvPr/>
        </p:nvSpPr>
        <p:spPr>
          <a:xfrm>
            <a:off x="1097280" y="5157216"/>
            <a:ext cx="10451592" cy="365760"/>
          </a:xfrm>
          <a:prstGeom prst="rect">
            <a:avLst/>
          </a:prstGeom>
          <a:noFill/>
          <a:ln/>
        </p:spPr>
        <p:txBody>
          <a:bodyPr wrap="square" lIns="0" tIns="0" rIns="0" bIns="0" rtlCol="0" anchor="ctr"/>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Discuss  </a:t>
            </a:r>
            <a:pPr indent="0" marL="0">
              <a:buNone/>
            </a:pPr>
            <a:r>
              <a:rPr lang="en-US" sz="1250" dirty="0">
                <a:solidFill>
                  <a:srgbClr val="1A1F1D"/>
                </a:solidFill>
                <a:latin typeface="Century Gothic" pitchFamily="34" charset="0"/>
                <a:ea typeface="Century Gothic" pitchFamily="34" charset="-122"/>
                <a:cs typeface="Century Gothic" pitchFamily="34" charset="-120"/>
              </a:rPr>
              <a:t>Which is closer to your classes’ books — and what is the first thing you would change?</a:t>
            </a:r>
            <a:endParaRPr lang="en-US" sz="1250" dirty="0"/>
          </a:p>
        </p:txBody>
      </p:sp>
      <p:sp>
        <p:nvSpPr>
          <p:cNvPr id="18" name="Text 12"/>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9" name="Text 13"/>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322D"/>
        </a:solidFill>
      </p:bgPr>
    </p:bg>
    <p:spTree>
      <p:nvGrpSpPr>
        <p:cNvPr id="1" name=""/>
        <p:cNvGrpSpPr/>
        <p:nvPr/>
      </p:nvGrpSpPr>
      <p:grpSpPr>
        <a:xfrm>
          <a:off x="0" y="0"/>
          <a:ext cx="0" cy="0"/>
          <a:chOff x="0" y="0"/>
          <a:chExt cx="0" cy="0"/>
        </a:xfrm>
      </p:grpSpPr>
      <p:pic>
        <p:nvPicPr>
          <p:cNvPr id="2" name="Image 0" descr="assets/crest_light.png">    </p:cNvPr>
          <p:cNvPicPr>
            <a:picLocks noChangeAspect="1"/>
          </p:cNvPicPr>
          <p:nvPr/>
        </p:nvPicPr>
        <p:blipFill>
          <a:blip r:embed="rId1">
            <a:alphaModFix amt="60000"/>
          </a:blip>
          <a:stretch>
            <a:fillRect/>
          </a:stretch>
        </p:blipFill>
        <p:spPr>
          <a:xfrm>
            <a:off x="10707624" y="384048"/>
            <a:ext cx="841248" cy="731520"/>
          </a:xfrm>
          <a:prstGeom prst="rect">
            <a:avLst/>
          </a:prstGeom>
        </p:spPr>
      </p:pic>
      <p:sp>
        <p:nvSpPr>
          <p:cNvPr id="3" name="Shape 0"/>
          <p:cNvSpPr/>
          <p:nvPr/>
        </p:nvSpPr>
        <p:spPr>
          <a:xfrm>
            <a:off x="640080" y="2286000"/>
            <a:ext cx="201168" cy="201168"/>
          </a:xfrm>
          <a:prstGeom prst="rect">
            <a:avLst/>
          </a:prstGeom>
          <a:solidFill>
            <a:srgbClr val="B07D2B"/>
          </a:solidFill>
          <a:ln/>
        </p:spPr>
      </p:sp>
      <p:sp>
        <p:nvSpPr>
          <p:cNvPr id="4" name="Text 1"/>
          <p:cNvSpPr/>
          <p:nvPr/>
        </p:nvSpPr>
        <p:spPr>
          <a:xfrm>
            <a:off x="640080" y="2606040"/>
            <a:ext cx="10424160" cy="1737360"/>
          </a:xfrm>
          <a:prstGeom prst="rect">
            <a:avLst/>
          </a:prstGeom>
          <a:noFill/>
          <a:ln/>
        </p:spPr>
        <p:txBody>
          <a:bodyPr wrap="square" lIns="0" tIns="0" rIns="0" bIns="0" rtlCol="0" anchor="ctr"/>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A pupil’s book is the record of a year’s thinking. It shows the standard the teacher expects.</a:t>
            </a:r>
            <a:endParaRPr lang="en-US" sz="2800" dirty="0"/>
          </a:p>
        </p:txBody>
      </p:sp>
      <p:sp>
        <p:nvSpPr>
          <p:cNvPr id="5" name="Text 2"/>
          <p:cNvSpPr/>
          <p:nvPr/>
        </p:nvSpPr>
        <p:spPr>
          <a:xfrm>
            <a:off x="640080" y="4480560"/>
            <a:ext cx="10424160" cy="457200"/>
          </a:xfrm>
          <a:prstGeom prst="rect">
            <a:avLst/>
          </a:prstGeom>
          <a:noFill/>
          <a:ln/>
        </p:spPr>
        <p:txBody>
          <a:bodyPr wrap="square" lIns="0" tIns="0" rIns="0" bIns="0" rtlCol="0" anchor="ctr"/>
          <a:lstStyle/>
          <a:p>
            <a:pPr indent="0" marL="0">
              <a:buNone/>
            </a:pPr>
            <a:r>
              <a:rPr lang="en-US" sz="1600" i="1" dirty="0">
                <a:solidFill>
                  <a:srgbClr val="BFE0D7"/>
                </a:solidFill>
                <a:latin typeface="Century Gothic" pitchFamily="34" charset="0"/>
                <a:ea typeface="Century Gothic" pitchFamily="34" charset="-122"/>
                <a:cs typeface="Century Gothic" pitchFamily="34" charset="-120"/>
              </a:rPr>
              <a:t>The curriculum is the progression model.  </a:t>
            </a:r>
            <a:pPr indent="0" marL="0">
              <a:buNone/>
            </a:pPr>
            <a:r>
              <a:rPr lang="en-US" sz="1600" dirty="0">
                <a:solidFill>
                  <a:srgbClr val="8FB8AE"/>
                </a:solidFill>
                <a:latin typeface="Century Gothic" pitchFamily="34" charset="0"/>
                <a:ea typeface="Century Gothic" pitchFamily="34" charset="-122"/>
                <a:cs typeface="Century Gothic" pitchFamily="34" charset="-120"/>
              </a:rPr>
              <a:t>— after Christine Counsell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THE PILLAR</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Four ideas behind the pillar</a:t>
            </a:r>
            <a:endParaRPr lang="en-US" sz="2700" dirty="0"/>
          </a:p>
        </p:txBody>
      </p:sp>
      <p:sp>
        <p:nvSpPr>
          <p:cNvPr id="6" name="Shape 3"/>
          <p:cNvSpPr/>
          <p:nvPr/>
        </p:nvSpPr>
        <p:spPr>
          <a:xfrm>
            <a:off x="640080" y="1828800"/>
            <a:ext cx="5074920" cy="1554480"/>
          </a:xfrm>
          <a:prstGeom prst="rect">
            <a:avLst/>
          </a:prstGeom>
          <a:solidFill>
            <a:srgbClr val="F7FAF8"/>
          </a:solidFill>
          <a:ln w="12700">
            <a:solidFill>
              <a:srgbClr val="3F9488"/>
            </a:solidFill>
            <a:prstDash val="solid"/>
          </a:ln>
        </p:spPr>
      </p:sp>
      <p:sp>
        <p:nvSpPr>
          <p:cNvPr id="7" name="Shape 4"/>
          <p:cNvSpPr/>
          <p:nvPr/>
        </p:nvSpPr>
        <p:spPr>
          <a:xfrm>
            <a:off x="640080" y="1828800"/>
            <a:ext cx="64008" cy="1554480"/>
          </a:xfrm>
          <a:prstGeom prst="rect">
            <a:avLst/>
          </a:prstGeom>
          <a:solidFill>
            <a:srgbClr val="3F9488"/>
          </a:solidFill>
          <a:ln/>
        </p:spPr>
      </p:sp>
      <p:pic>
        <p:nvPicPr>
          <p:cNvPr id="8" name="Image 1" descr="assets/icon11.png">    </p:cNvPr>
          <p:cNvPicPr>
            <a:picLocks noChangeAspect="1"/>
          </p:cNvPicPr>
          <p:nvPr/>
        </p:nvPicPr>
        <p:blipFill>
          <a:blip r:embed="rId2"/>
          <a:stretch>
            <a:fillRect/>
          </a:stretch>
        </p:blipFill>
        <p:spPr>
          <a:xfrm>
            <a:off x="896112" y="2066544"/>
            <a:ext cx="457200" cy="457200"/>
          </a:xfrm>
          <a:prstGeom prst="rect">
            <a:avLst/>
          </a:prstGeom>
        </p:spPr>
      </p:pic>
      <p:sp>
        <p:nvSpPr>
          <p:cNvPr id="9" name="Text 5"/>
          <p:cNvSpPr/>
          <p:nvPr/>
        </p:nvSpPr>
        <p:spPr>
          <a:xfrm>
            <a:off x="1508760" y="2048256"/>
            <a:ext cx="4023360" cy="45720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Sequence</a:t>
            </a:r>
            <a:endParaRPr lang="en-US" sz="1600" dirty="0"/>
          </a:p>
        </p:txBody>
      </p:sp>
      <p:sp>
        <p:nvSpPr>
          <p:cNvPr id="10" name="Text 6"/>
          <p:cNvSpPr/>
          <p:nvPr/>
        </p:nvSpPr>
        <p:spPr>
          <a:xfrm>
            <a:off x="896112" y="257860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The curriculum is knowledge in a deliberate order; each lesson builds on the last (CD1).</a:t>
            </a:r>
            <a:endParaRPr lang="en-US" sz="1250" dirty="0"/>
          </a:p>
        </p:txBody>
      </p:sp>
      <p:sp>
        <p:nvSpPr>
          <p:cNvPr id="11" name="Shape 7"/>
          <p:cNvSpPr/>
          <p:nvPr/>
        </p:nvSpPr>
        <p:spPr>
          <a:xfrm>
            <a:off x="6126480" y="1828800"/>
            <a:ext cx="5074920" cy="1554480"/>
          </a:xfrm>
          <a:prstGeom prst="rect">
            <a:avLst/>
          </a:prstGeom>
          <a:solidFill>
            <a:srgbClr val="F7FAF8"/>
          </a:solidFill>
          <a:ln w="12700">
            <a:solidFill>
              <a:srgbClr val="3F9488"/>
            </a:solidFill>
            <a:prstDash val="solid"/>
          </a:ln>
        </p:spPr>
      </p:sp>
      <p:sp>
        <p:nvSpPr>
          <p:cNvPr id="12" name="Shape 8"/>
          <p:cNvSpPr/>
          <p:nvPr/>
        </p:nvSpPr>
        <p:spPr>
          <a:xfrm>
            <a:off x="6126480" y="1828800"/>
            <a:ext cx="64008" cy="1554480"/>
          </a:xfrm>
          <a:prstGeom prst="rect">
            <a:avLst/>
          </a:prstGeom>
          <a:solidFill>
            <a:srgbClr val="3F9488"/>
          </a:solidFill>
          <a:ln/>
        </p:spPr>
      </p:sp>
      <p:pic>
        <p:nvPicPr>
          <p:cNvPr id="13" name="Image 2" descr="assets/icon3.png">    </p:cNvPr>
          <p:cNvPicPr>
            <a:picLocks noChangeAspect="1"/>
          </p:cNvPicPr>
          <p:nvPr/>
        </p:nvPicPr>
        <p:blipFill>
          <a:blip r:embed="rId3"/>
          <a:stretch>
            <a:fillRect/>
          </a:stretch>
        </p:blipFill>
        <p:spPr>
          <a:xfrm>
            <a:off x="6382512" y="2066544"/>
            <a:ext cx="457200" cy="457200"/>
          </a:xfrm>
          <a:prstGeom prst="rect">
            <a:avLst/>
          </a:prstGeom>
        </p:spPr>
      </p:pic>
      <p:sp>
        <p:nvSpPr>
          <p:cNvPr id="14" name="Text 9"/>
          <p:cNvSpPr/>
          <p:nvPr/>
        </p:nvSpPr>
        <p:spPr>
          <a:xfrm>
            <a:off x="6995160" y="2048256"/>
            <a:ext cx="4023360" cy="45720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Coherence &amp; depth</a:t>
            </a:r>
            <a:endParaRPr lang="en-US" sz="1600" dirty="0"/>
          </a:p>
        </p:txBody>
      </p:sp>
      <p:sp>
        <p:nvSpPr>
          <p:cNvPr id="15" name="Text 10"/>
          <p:cNvSpPr/>
          <p:nvPr/>
        </p:nvSpPr>
        <p:spPr>
          <a:xfrm>
            <a:off x="6382512" y="257860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Fewer things in greater depth, with connections made explicit.</a:t>
            </a:r>
            <a:endParaRPr lang="en-US" sz="1250" dirty="0"/>
          </a:p>
        </p:txBody>
      </p:sp>
      <p:sp>
        <p:nvSpPr>
          <p:cNvPr id="16" name="Shape 11"/>
          <p:cNvSpPr/>
          <p:nvPr/>
        </p:nvSpPr>
        <p:spPr>
          <a:xfrm>
            <a:off x="640080" y="3703320"/>
            <a:ext cx="5074920" cy="1554480"/>
          </a:xfrm>
          <a:prstGeom prst="rect">
            <a:avLst/>
          </a:prstGeom>
          <a:solidFill>
            <a:srgbClr val="F7FAF8"/>
          </a:solidFill>
          <a:ln w="12700">
            <a:solidFill>
              <a:srgbClr val="3F9488"/>
            </a:solidFill>
            <a:prstDash val="solid"/>
          </a:ln>
        </p:spPr>
      </p:sp>
      <p:sp>
        <p:nvSpPr>
          <p:cNvPr id="17" name="Shape 12"/>
          <p:cNvSpPr/>
          <p:nvPr/>
        </p:nvSpPr>
        <p:spPr>
          <a:xfrm>
            <a:off x="640080" y="3703320"/>
            <a:ext cx="64008" cy="1554480"/>
          </a:xfrm>
          <a:prstGeom prst="rect">
            <a:avLst/>
          </a:prstGeom>
          <a:solidFill>
            <a:srgbClr val="3F9488"/>
          </a:solidFill>
          <a:ln/>
        </p:spPr>
      </p:sp>
      <p:pic>
        <p:nvPicPr>
          <p:cNvPr id="18" name="Image 3" descr="assets/icon13.png">    </p:cNvPr>
          <p:cNvPicPr>
            <a:picLocks noChangeAspect="1"/>
          </p:cNvPicPr>
          <p:nvPr/>
        </p:nvPicPr>
        <p:blipFill>
          <a:blip r:embed="rId4"/>
          <a:stretch>
            <a:fillRect/>
          </a:stretch>
        </p:blipFill>
        <p:spPr>
          <a:xfrm>
            <a:off x="896112" y="3941064"/>
            <a:ext cx="457200" cy="457200"/>
          </a:xfrm>
          <a:prstGeom prst="rect">
            <a:avLst/>
          </a:prstGeom>
        </p:spPr>
      </p:pic>
      <p:sp>
        <p:nvSpPr>
          <p:cNvPr id="19" name="Text 13"/>
          <p:cNvSpPr/>
          <p:nvPr/>
        </p:nvSpPr>
        <p:spPr>
          <a:xfrm>
            <a:off x="1508760" y="3922776"/>
            <a:ext cx="4023360" cy="45720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Books as the record</a:t>
            </a:r>
            <a:endParaRPr lang="en-US" sz="1600" dirty="0"/>
          </a:p>
        </p:txBody>
      </p:sp>
      <p:sp>
        <p:nvSpPr>
          <p:cNvPr id="20" name="Text 14"/>
          <p:cNvSpPr/>
          <p:nvPr/>
        </p:nvSpPr>
        <p:spPr>
          <a:xfrm>
            <a:off x="896112" y="445312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What we accept in a book signals what we expect (BL).</a:t>
            </a:r>
            <a:endParaRPr lang="en-US" sz="1250" dirty="0"/>
          </a:p>
        </p:txBody>
      </p:sp>
      <p:sp>
        <p:nvSpPr>
          <p:cNvPr id="21" name="Shape 15"/>
          <p:cNvSpPr/>
          <p:nvPr/>
        </p:nvSpPr>
        <p:spPr>
          <a:xfrm>
            <a:off x="6126480" y="3703320"/>
            <a:ext cx="5074920" cy="1554480"/>
          </a:xfrm>
          <a:prstGeom prst="rect">
            <a:avLst/>
          </a:prstGeom>
          <a:solidFill>
            <a:srgbClr val="F7FAF8"/>
          </a:solidFill>
          <a:ln w="12700">
            <a:solidFill>
              <a:srgbClr val="3F9488"/>
            </a:solidFill>
            <a:prstDash val="solid"/>
          </a:ln>
        </p:spPr>
      </p:sp>
      <p:sp>
        <p:nvSpPr>
          <p:cNvPr id="22" name="Shape 16"/>
          <p:cNvSpPr/>
          <p:nvPr/>
        </p:nvSpPr>
        <p:spPr>
          <a:xfrm>
            <a:off x="6126480" y="3703320"/>
            <a:ext cx="64008" cy="1554480"/>
          </a:xfrm>
          <a:prstGeom prst="rect">
            <a:avLst/>
          </a:prstGeom>
          <a:solidFill>
            <a:srgbClr val="3F9488"/>
          </a:solidFill>
          <a:ln/>
        </p:spPr>
      </p:sp>
      <p:pic>
        <p:nvPicPr>
          <p:cNvPr id="23" name="Image 4" descr="assets/icon14.png">    </p:cNvPr>
          <p:cNvPicPr>
            <a:picLocks noChangeAspect="1"/>
          </p:cNvPicPr>
          <p:nvPr/>
        </p:nvPicPr>
        <p:blipFill>
          <a:blip r:embed="rId5"/>
          <a:stretch>
            <a:fillRect/>
          </a:stretch>
        </p:blipFill>
        <p:spPr>
          <a:xfrm>
            <a:off x="6382512" y="3941064"/>
            <a:ext cx="457200" cy="457200"/>
          </a:xfrm>
          <a:prstGeom prst="rect">
            <a:avLst/>
          </a:prstGeom>
        </p:spPr>
      </p:pic>
      <p:sp>
        <p:nvSpPr>
          <p:cNvPr id="24" name="Text 17"/>
          <p:cNvSpPr/>
          <p:nvPr/>
        </p:nvSpPr>
        <p:spPr>
          <a:xfrm>
            <a:off x="6995160" y="3922776"/>
            <a:ext cx="4023360" cy="45720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A reading culture</a:t>
            </a:r>
            <a:endParaRPr lang="en-US" sz="1600" dirty="0"/>
          </a:p>
        </p:txBody>
      </p:sp>
      <p:sp>
        <p:nvSpPr>
          <p:cNvPr id="25" name="Text 18"/>
          <p:cNvSpPr/>
          <p:nvPr/>
        </p:nvSpPr>
        <p:spPr>
          <a:xfrm>
            <a:off x="6382512" y="445312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Built deliberately: reading aloud, modelling, books made visible (RFP).</a:t>
            </a:r>
            <a:endParaRPr lang="en-US" sz="1250" dirty="0"/>
          </a:p>
        </p:txBody>
      </p:sp>
      <p:pic>
        <p:nvPicPr>
          <p:cNvPr id="26" name="Image 5" descr="assets/icon9.png">    </p:cNvPr>
          <p:cNvPicPr>
            <a:picLocks noChangeAspect="1"/>
          </p:cNvPicPr>
          <p:nvPr/>
        </p:nvPicPr>
        <p:blipFill>
          <a:blip r:embed="rId6"/>
          <a:stretch>
            <a:fillRect/>
          </a:stretch>
        </p:blipFill>
        <p:spPr>
          <a:xfrm>
            <a:off x="640080" y="5495544"/>
            <a:ext cx="310896" cy="310896"/>
          </a:xfrm>
          <a:prstGeom prst="rect">
            <a:avLst/>
          </a:prstGeom>
        </p:spPr>
      </p:pic>
      <p:sp>
        <p:nvSpPr>
          <p:cNvPr id="27" name="Text 19"/>
          <p:cNvSpPr/>
          <p:nvPr/>
        </p:nvSpPr>
        <p:spPr>
          <a:xfrm>
            <a:off x="1097280" y="5477256"/>
            <a:ext cx="10451592" cy="365760"/>
          </a:xfrm>
          <a:prstGeom prst="rect">
            <a:avLst/>
          </a:prstGeom>
          <a:noFill/>
          <a:ln/>
        </p:spPr>
        <p:txBody>
          <a:bodyPr wrap="square" lIns="0" tIns="0" rIns="0" bIns="0" rtlCol="0" anchor="ctr"/>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Discuss  </a:t>
            </a:r>
            <a:pPr indent="0" marL="0">
              <a:buNone/>
            </a:pPr>
            <a:r>
              <a:rPr lang="en-US" sz="1250" dirty="0">
                <a:solidFill>
                  <a:srgbClr val="1A1F1D"/>
                </a:solidFill>
                <a:latin typeface="Century Gothic" pitchFamily="34" charset="0"/>
                <a:ea typeface="Century Gothic" pitchFamily="34" charset="-122"/>
                <a:cs typeface="Century Gothic" pitchFamily="34" charset="-120"/>
              </a:rPr>
              <a:t>Which of the four is strongest in your class, and which is weakest?</a:t>
            </a:r>
            <a:endParaRPr lang="en-US" sz="1250" dirty="0"/>
          </a:p>
        </p:txBody>
      </p:sp>
      <p:sp>
        <p:nvSpPr>
          <p:cNvPr id="28" name="Text 20"/>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29" name="Text 21"/>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THE THINKING</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Where this comes from</a:t>
            </a:r>
            <a:endParaRPr lang="en-US" sz="2700" dirty="0"/>
          </a:p>
        </p:txBody>
      </p:sp>
      <p:pic>
        <p:nvPicPr>
          <p:cNvPr id="6" name="Image 1" descr="assets/icon3.png">    </p:cNvPr>
          <p:cNvPicPr>
            <a:picLocks noChangeAspect="1"/>
          </p:cNvPicPr>
          <p:nvPr/>
        </p:nvPicPr>
        <p:blipFill>
          <a:blip r:embed="rId2"/>
          <a:stretch>
            <a:fillRect/>
          </a:stretch>
        </p:blipFill>
        <p:spPr>
          <a:xfrm>
            <a:off x="640080" y="1874520"/>
            <a:ext cx="502920" cy="502920"/>
          </a:xfrm>
          <a:prstGeom prst="rect">
            <a:avLst/>
          </a:prstGeom>
        </p:spPr>
      </p:pic>
      <p:sp>
        <p:nvSpPr>
          <p:cNvPr id="7" name="Text 3"/>
          <p:cNvSpPr/>
          <p:nvPr/>
        </p:nvSpPr>
        <p:spPr>
          <a:xfrm>
            <a:off x="1325880" y="1828800"/>
            <a:ext cx="7040880" cy="3291840"/>
          </a:xfrm>
          <a:prstGeom prst="rect">
            <a:avLst/>
          </a:prstGeom>
          <a:noFill/>
          <a:ln/>
        </p:spPr>
        <p:txBody>
          <a:bodyPr wrap="square" rtlCol="0" anchor="t"/>
          <a:lstStyle/>
          <a:p>
            <a:pPr indent="0" marL="0">
              <a:buNone/>
            </a:pPr>
            <a:r>
              <a:rPr lang="en-US" sz="1500" b="1" dirty="0">
                <a:solidFill>
                  <a:srgbClr val="1A1F1D"/>
                </a:solidFill>
                <a:latin typeface="Century Gothic" pitchFamily="34" charset="0"/>
                <a:ea typeface="Century Gothic" pitchFamily="34" charset="-122"/>
                <a:cs typeface="Century Gothic" pitchFamily="34" charset="-120"/>
              </a:rPr>
              <a:t>Christine Counsell — </a:t>
            </a:r>
            <a:pPr indent="0" marL="0">
              <a:spcAft>
                <a:spcPts val="1000"/>
              </a:spcAft>
              <a:buNone/>
            </a:pPr>
            <a:r>
              <a:rPr lang="en-US" sz="1500" dirty="0">
                <a:solidFill>
                  <a:srgbClr val="1A1F1D"/>
                </a:solidFill>
                <a:latin typeface="Century Gothic" pitchFamily="34" charset="0"/>
                <a:ea typeface="Century Gothic" pitchFamily="34" charset="-122"/>
                <a:cs typeface="Century Gothic" pitchFamily="34" charset="-120"/>
              </a:rPr>
              <a:t>the curriculum is the progression model: progress is the accumulation of specific knowledge, in sequence.</a:t>
            </a:r>
            <a:endParaRPr lang="en-US" sz="1500" dirty="0"/>
          </a:p>
          <a:p>
            <a:pPr indent="0" marL="0">
              <a:buNone/>
            </a:pPr>
            <a:r>
              <a:rPr lang="en-US" sz="1500" b="1" dirty="0">
                <a:solidFill>
                  <a:srgbClr val="1A1F1D"/>
                </a:solidFill>
                <a:latin typeface="Century Gothic" pitchFamily="34" charset="0"/>
                <a:ea typeface="Century Gothic" pitchFamily="34" charset="-122"/>
                <a:cs typeface="Century Gothic" pitchFamily="34" charset="-120"/>
              </a:rPr>
              <a:t>Mary Myatt — </a:t>
            </a:r>
            <a:pPr indent="0" marL="0">
              <a:spcAft>
                <a:spcPts val="1000"/>
              </a:spcAft>
              <a:buNone/>
            </a:pPr>
            <a:r>
              <a:rPr lang="en-US" sz="1500" dirty="0">
                <a:solidFill>
                  <a:srgbClr val="1A1F1D"/>
                </a:solidFill>
                <a:latin typeface="Century Gothic" pitchFamily="34" charset="0"/>
                <a:ea typeface="Century Gothic" pitchFamily="34" charset="-122"/>
                <a:cs typeface="Century Gothic" pitchFamily="34" charset="-120"/>
              </a:rPr>
              <a:t>coherence and depth — fewer things, in greater depth, with connections made explicit.</a:t>
            </a:r>
            <a:endParaRPr lang="en-US" sz="1500" dirty="0"/>
          </a:p>
          <a:p>
            <a:pPr indent="0" marL="0">
              <a:buNone/>
            </a:pPr>
            <a:r>
              <a:rPr lang="en-US" sz="1500" b="1" dirty="0">
                <a:solidFill>
                  <a:srgbClr val="1A1F1D"/>
                </a:solidFill>
                <a:latin typeface="Century Gothic" pitchFamily="34" charset="0"/>
                <a:ea typeface="Century Gothic" pitchFamily="34" charset="-122"/>
                <a:cs typeface="Century Gothic" pitchFamily="34" charset="-120"/>
              </a:rPr>
              <a:t>Teresa Cremin — </a:t>
            </a:r>
            <a:pPr indent="0" marL="0">
              <a:spcAft>
                <a:spcPts val="1000"/>
              </a:spcAft>
              <a:buNone/>
            </a:pPr>
            <a:r>
              <a:rPr lang="en-US" sz="1500" dirty="0">
                <a:solidFill>
                  <a:srgbClr val="1A1F1D"/>
                </a:solidFill>
                <a:latin typeface="Century Gothic" pitchFamily="34" charset="0"/>
                <a:ea typeface="Century Gothic" pitchFamily="34" charset="-122"/>
                <a:cs typeface="Century Gothic" pitchFamily="34" charset="-120"/>
              </a:rPr>
              <a:t>reading for pleasure is linked to attainment and wellbeing; adults build the culture by being readers.</a:t>
            </a:r>
            <a:endParaRPr lang="en-US" sz="1500" dirty="0"/>
          </a:p>
          <a:p>
            <a:pPr indent="0" marL="0">
              <a:buNone/>
            </a:pPr>
            <a:r>
              <a:rPr lang="en-US" sz="1500" b="1" dirty="0">
                <a:solidFill>
                  <a:srgbClr val="1A1F1D"/>
                </a:solidFill>
                <a:latin typeface="Century Gothic" pitchFamily="34" charset="0"/>
                <a:ea typeface="Century Gothic" pitchFamily="34" charset="-122"/>
                <a:cs typeface="Century Gothic" pitchFamily="34" charset="-120"/>
              </a:rPr>
              <a:t>The DfE reading framework — </a:t>
            </a:r>
            <a:pPr indent="0" marL="0">
              <a:buNone/>
            </a:pPr>
            <a:r>
              <a:rPr lang="en-US" sz="1500" dirty="0">
                <a:solidFill>
                  <a:srgbClr val="1A1F1D"/>
                </a:solidFill>
                <a:latin typeface="Century Gothic" pitchFamily="34" charset="0"/>
                <a:ea typeface="Century Gothic" pitchFamily="34" charset="-122"/>
                <a:cs typeface="Century Gothic" pitchFamily="34" charset="-120"/>
              </a:rPr>
              <a:t>a reading culture is built deliberately, with reading aloud at its heart.</a:t>
            </a:r>
            <a:endParaRPr lang="en-US" sz="1500" dirty="0"/>
          </a:p>
        </p:txBody>
      </p:sp>
      <p:sp>
        <p:nvSpPr>
          <p:cNvPr id="8" name="Shape 4"/>
          <p:cNvSpPr/>
          <p:nvPr/>
        </p:nvSpPr>
        <p:spPr>
          <a:xfrm>
            <a:off x="8686800" y="1828800"/>
            <a:ext cx="2834640" cy="2377440"/>
          </a:xfrm>
          <a:prstGeom prst="rect">
            <a:avLst/>
          </a:prstGeom>
          <a:solidFill>
            <a:srgbClr val="F4ECE0"/>
          </a:solidFill>
          <a:ln w="12700">
            <a:solidFill>
              <a:srgbClr val="B07D2B"/>
            </a:solidFill>
            <a:prstDash val="solid"/>
          </a:ln>
        </p:spPr>
      </p:sp>
      <p:sp>
        <p:nvSpPr>
          <p:cNvPr id="9" name="Shape 5"/>
          <p:cNvSpPr/>
          <p:nvPr/>
        </p:nvSpPr>
        <p:spPr>
          <a:xfrm>
            <a:off x="8686800" y="1828800"/>
            <a:ext cx="64008" cy="2377440"/>
          </a:xfrm>
          <a:prstGeom prst="rect">
            <a:avLst/>
          </a:prstGeom>
          <a:solidFill>
            <a:srgbClr val="B07D2B"/>
          </a:solidFill>
          <a:ln/>
        </p:spPr>
      </p:sp>
      <p:pic>
        <p:nvPicPr>
          <p:cNvPr id="10" name="Image 2" descr="assets/icon9.png">    </p:cNvPr>
          <p:cNvPicPr>
            <a:picLocks noChangeAspect="1"/>
          </p:cNvPicPr>
          <p:nvPr/>
        </p:nvPicPr>
        <p:blipFill>
          <a:blip r:embed="rId3"/>
          <a:stretch>
            <a:fillRect/>
          </a:stretch>
        </p:blipFill>
        <p:spPr>
          <a:xfrm>
            <a:off x="8915400" y="2011680"/>
            <a:ext cx="365760" cy="365760"/>
          </a:xfrm>
          <a:prstGeom prst="rect">
            <a:avLst/>
          </a:prstGeom>
        </p:spPr>
      </p:pic>
      <p:sp>
        <p:nvSpPr>
          <p:cNvPr id="11" name="Text 6"/>
          <p:cNvSpPr/>
          <p:nvPr/>
        </p:nvSpPr>
        <p:spPr>
          <a:xfrm>
            <a:off x="9326880" y="2011680"/>
            <a:ext cx="2011680" cy="36576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Discuss</a:t>
            </a:r>
            <a:endParaRPr lang="en-US" sz="1500" dirty="0"/>
          </a:p>
        </p:txBody>
      </p:sp>
      <p:sp>
        <p:nvSpPr>
          <p:cNvPr id="12" name="Text 7"/>
          <p:cNvSpPr/>
          <p:nvPr/>
        </p:nvSpPr>
        <p:spPr>
          <a:xfrm>
            <a:off x="8915400" y="2560320"/>
            <a:ext cx="2423160" cy="1463040"/>
          </a:xfrm>
          <a:prstGeom prst="rect">
            <a:avLst/>
          </a:prstGeom>
          <a:noFill/>
          <a:ln/>
        </p:spPr>
        <p:txBody>
          <a:bodyPr wrap="square" lIns="0" tIns="0" rIns="0" bIns="0" rtlCol="0" anchor="t"/>
          <a:lstStyle/>
          <a:p>
            <a:pPr indent="0" marL="0">
              <a:buNone/>
            </a:pPr>
            <a:r>
              <a:rPr lang="en-US" sz="1300" dirty="0">
                <a:solidFill>
                  <a:srgbClr val="1A1F1D"/>
                </a:solidFill>
                <a:latin typeface="Century Gothic" pitchFamily="34" charset="0"/>
                <a:ea typeface="Century Gothic" pitchFamily="34" charset="-122"/>
                <a:cs typeface="Century Gothic" pitchFamily="34" charset="-120"/>
              </a:rPr>
              <a:t>Where is your curriculum strongest as a sequence — and where does it become coverage?</a:t>
            </a:r>
            <a:endParaRPr lang="en-US" sz="1300" dirty="0"/>
          </a:p>
        </p:txBody>
      </p:sp>
      <p:sp>
        <p:nvSpPr>
          <p:cNvPr id="13" name="Text 8"/>
          <p:cNvSpPr/>
          <p:nvPr/>
        </p:nvSpPr>
        <p:spPr>
          <a:xfrm>
            <a:off x="640080" y="5715000"/>
            <a:ext cx="10908792" cy="274320"/>
          </a:xfrm>
          <a:prstGeom prst="rect">
            <a:avLst/>
          </a:prstGeom>
          <a:noFill/>
          <a:ln/>
        </p:spPr>
        <p:txBody>
          <a:bodyPr wrap="square" lIns="0" tIns="0" rIns="0" bIns="0" rtlCol="0" anchor="ctr"/>
          <a:lstStyle/>
          <a:p>
            <a:pPr indent="0" marL="0">
              <a:buNone/>
            </a:pPr>
            <a:r>
              <a:rPr lang="en-US" sz="1050" i="1" dirty="0">
                <a:solidFill>
                  <a:srgbClr val="6B736E"/>
                </a:solidFill>
                <a:latin typeface="Century Gothic" pitchFamily="34" charset="0"/>
                <a:ea typeface="Century Gothic" pitchFamily="34" charset="-122"/>
                <a:cs typeface="Century Gothic" pitchFamily="34" charset="-120"/>
              </a:rPr>
              <a:t>Counsell on curriculum · Myatt, The Curriculum · Cremin on reading for pleasure · DfE, The Reading Framework.</a:t>
            </a:r>
            <a:endParaRPr lang="en-US" sz="1050" dirty="0"/>
          </a:p>
        </p:txBody>
      </p:sp>
      <p:sp>
        <p:nvSpPr>
          <p:cNvPr id="14" name="Text 9"/>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5" name="Text 10"/>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THE STANDARD IN BOOKS</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What a book look reads for</a:t>
            </a:r>
            <a:endParaRPr lang="en-US" sz="2700" dirty="0"/>
          </a:p>
        </p:txBody>
      </p:sp>
      <p:sp>
        <p:nvSpPr>
          <p:cNvPr id="6" name="Shape 3"/>
          <p:cNvSpPr/>
          <p:nvPr/>
        </p:nvSpPr>
        <p:spPr>
          <a:xfrm>
            <a:off x="640080" y="1783080"/>
            <a:ext cx="3566160" cy="3429000"/>
          </a:xfrm>
          <a:prstGeom prst="rect">
            <a:avLst/>
          </a:prstGeom>
          <a:solidFill>
            <a:srgbClr val="F7FAF8"/>
          </a:solidFill>
          <a:ln w="12700">
            <a:solidFill>
              <a:srgbClr val="3F9488"/>
            </a:solidFill>
            <a:prstDash val="solid"/>
          </a:ln>
        </p:spPr>
      </p:sp>
      <p:sp>
        <p:nvSpPr>
          <p:cNvPr id="7" name="Shape 4"/>
          <p:cNvSpPr/>
          <p:nvPr/>
        </p:nvSpPr>
        <p:spPr>
          <a:xfrm>
            <a:off x="640080" y="1783080"/>
            <a:ext cx="64008" cy="3429000"/>
          </a:xfrm>
          <a:prstGeom prst="rect">
            <a:avLst/>
          </a:prstGeom>
          <a:solidFill>
            <a:srgbClr val="3F9488"/>
          </a:solidFill>
          <a:ln/>
        </p:spPr>
      </p:sp>
      <p:pic>
        <p:nvPicPr>
          <p:cNvPr id="8" name="Image 1" descr="assets/icon13.png">    </p:cNvPr>
          <p:cNvPicPr>
            <a:picLocks noChangeAspect="1"/>
          </p:cNvPicPr>
          <p:nvPr/>
        </p:nvPicPr>
        <p:blipFill>
          <a:blip r:embed="rId2"/>
          <a:stretch>
            <a:fillRect/>
          </a:stretch>
        </p:blipFill>
        <p:spPr>
          <a:xfrm>
            <a:off x="914400" y="1965960"/>
            <a:ext cx="411480" cy="411480"/>
          </a:xfrm>
          <a:prstGeom prst="rect">
            <a:avLst/>
          </a:prstGeom>
        </p:spPr>
      </p:pic>
      <p:sp>
        <p:nvSpPr>
          <p:cNvPr id="9" name="Text 5"/>
          <p:cNvSpPr/>
          <p:nvPr/>
        </p:nvSpPr>
        <p:spPr>
          <a:xfrm>
            <a:off x="1463040" y="1965960"/>
            <a:ext cx="2560320" cy="457200"/>
          </a:xfrm>
          <a:prstGeom prst="rect">
            <a:avLst/>
          </a:prstGeom>
          <a:noFill/>
          <a:ln/>
        </p:spPr>
        <p:txBody>
          <a:bodyPr wrap="square" lIns="0" tIns="0" rIns="0" bIns="0" rtlCol="0" anchor="ctr"/>
          <a:lstStyle/>
          <a:p>
            <a:pPr indent="0" marL="0">
              <a:buNone/>
            </a:pPr>
            <a:r>
              <a:rPr lang="en-US" sz="1800" b="1" dirty="0">
                <a:solidFill>
                  <a:srgbClr val="14322D"/>
                </a:solidFill>
                <a:latin typeface="Century Gothic" pitchFamily="34" charset="0"/>
                <a:ea typeface="Century Gothic" pitchFamily="34" charset="-122"/>
                <a:cs typeface="Century Gothic" pitchFamily="34" charset="-120"/>
              </a:rPr>
              <a:t>Read for patterns, not ticks</a:t>
            </a:r>
            <a:endParaRPr lang="en-US" sz="1800" dirty="0"/>
          </a:p>
        </p:txBody>
      </p:sp>
      <p:sp>
        <p:nvSpPr>
          <p:cNvPr id="10" name="Text 6"/>
          <p:cNvSpPr/>
          <p:nvPr/>
        </p:nvSpPr>
        <p:spPr>
          <a:xfrm>
            <a:off x="914400" y="2560320"/>
            <a:ext cx="3108960" cy="2468880"/>
          </a:xfrm>
          <a:prstGeom prst="rect">
            <a:avLst/>
          </a:prstGeom>
          <a:noFill/>
          <a:ln/>
        </p:spPr>
        <p:txBody>
          <a:bodyPr wrap="square" lIns="0" tIns="0" rIns="0" bIns="0" rtlCol="0" anchor="t"/>
          <a:lstStyle/>
          <a:p>
            <a:pPr indent="0" marL="0">
              <a:spcAft>
                <a:spcPts val="700"/>
              </a:spcAft>
              <a:buNone/>
            </a:pPr>
            <a:r>
              <a:rPr lang="en-US" sz="1350" dirty="0">
                <a:solidFill>
                  <a:srgbClr val="1A1F1D"/>
                </a:solidFill>
                <a:latin typeface="Century Gothic" pitchFamily="34" charset="0"/>
                <a:ea typeface="Century Gothic" pitchFamily="34" charset="-122"/>
                <a:cs typeface="Century Gothic" pitchFamily="34" charset="-120"/>
              </a:rPr>
              <a:t>A book look reads a sample for patterns against a shared standard.</a:t>
            </a:r>
            <a:endParaRPr lang="en-US" sz="1350" dirty="0"/>
          </a:p>
          <a:p>
            <a:pPr indent="0" marL="0">
              <a:buNone/>
            </a:pPr>
            <a:r>
              <a:rPr lang="en-US" sz="1350" dirty="0">
                <a:solidFill>
                  <a:srgbClr val="1A1F1D"/>
                </a:solidFill>
                <a:latin typeface="Century Gothic" pitchFamily="34" charset="0"/>
                <a:ea typeface="Century Gothic" pitchFamily="34" charset="-122"/>
                <a:cs typeface="Century Gothic" pitchFamily="34" charset="-120"/>
              </a:rPr>
              <a:t>It raises the standard generally; it never names whose book fell short.</a:t>
            </a:r>
            <a:endParaRPr lang="en-US" sz="1350" dirty="0"/>
          </a:p>
        </p:txBody>
      </p:sp>
      <p:sp>
        <p:nvSpPr>
          <p:cNvPr id="11" name="Shape 7"/>
          <p:cNvSpPr/>
          <p:nvPr/>
        </p:nvSpPr>
        <p:spPr>
          <a:xfrm>
            <a:off x="4572000" y="1810512"/>
            <a:ext cx="365760" cy="365760"/>
          </a:xfrm>
          <a:prstGeom prst="ellipse">
            <a:avLst/>
          </a:prstGeom>
          <a:solidFill>
            <a:srgbClr val="14322D"/>
          </a:solidFill>
          <a:ln/>
        </p:spPr>
      </p:sp>
      <p:sp>
        <p:nvSpPr>
          <p:cNvPr id="12" name="Text 8"/>
          <p:cNvSpPr/>
          <p:nvPr/>
        </p:nvSpPr>
        <p:spPr>
          <a:xfrm>
            <a:off x="4572000" y="1810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13" name="Text 9"/>
          <p:cNvSpPr/>
          <p:nvPr/>
        </p:nvSpPr>
        <p:spPr>
          <a:xfrm>
            <a:off x="5120640" y="1764792"/>
            <a:ext cx="6583680" cy="457200"/>
          </a:xfrm>
          <a:prstGeom prst="rect">
            <a:avLst/>
          </a:prstGeom>
          <a:noFill/>
          <a:ln/>
        </p:spPr>
        <p:txBody>
          <a:bodyPr wrap="square" lIns="0" tIns="0" rIns="0" bIns="0" rtlCol="0" anchor="ctr"/>
          <a:lstStyle/>
          <a:p>
            <a:pPr indent="0" marL="0">
              <a:buNone/>
            </a:pPr>
            <a:r>
              <a:rPr lang="en-US" sz="1400" dirty="0">
                <a:solidFill>
                  <a:srgbClr val="1A1F1D"/>
                </a:solidFill>
                <a:latin typeface="Century Gothic" pitchFamily="34" charset="0"/>
                <a:ea typeface="Century Gothic" pitchFamily="34" charset="-122"/>
                <a:cs typeface="Century Gothic" pitchFamily="34" charset="-120"/>
              </a:rPr>
              <a:t>Sequence follows the scheme of learning (BL1).</a:t>
            </a:r>
            <a:endParaRPr lang="en-US" sz="1400" dirty="0"/>
          </a:p>
        </p:txBody>
      </p:sp>
      <p:sp>
        <p:nvSpPr>
          <p:cNvPr id="14" name="Shape 10"/>
          <p:cNvSpPr/>
          <p:nvPr/>
        </p:nvSpPr>
        <p:spPr>
          <a:xfrm>
            <a:off x="4572000" y="2377440"/>
            <a:ext cx="365760" cy="365760"/>
          </a:xfrm>
          <a:prstGeom prst="ellipse">
            <a:avLst/>
          </a:prstGeom>
          <a:solidFill>
            <a:srgbClr val="14322D"/>
          </a:solidFill>
          <a:ln/>
        </p:spPr>
      </p:sp>
      <p:sp>
        <p:nvSpPr>
          <p:cNvPr id="15" name="Text 11"/>
          <p:cNvSpPr/>
          <p:nvPr/>
        </p:nvSpPr>
        <p:spPr>
          <a:xfrm>
            <a:off x="4572000" y="2377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6" name="Text 12"/>
          <p:cNvSpPr/>
          <p:nvPr/>
        </p:nvSpPr>
        <p:spPr>
          <a:xfrm>
            <a:off x="5120640" y="2331720"/>
            <a:ext cx="6583680" cy="457200"/>
          </a:xfrm>
          <a:prstGeom prst="rect">
            <a:avLst/>
          </a:prstGeom>
          <a:noFill/>
          <a:ln/>
        </p:spPr>
        <p:txBody>
          <a:bodyPr wrap="square" lIns="0" tIns="0" rIns="0" bIns="0" rtlCol="0" anchor="ctr"/>
          <a:lstStyle/>
          <a:p>
            <a:pPr indent="0" marL="0">
              <a:buNone/>
            </a:pPr>
            <a:r>
              <a:rPr lang="en-US" sz="1400" dirty="0">
                <a:solidFill>
                  <a:srgbClr val="1A1F1D"/>
                </a:solidFill>
                <a:latin typeface="Century Gothic" pitchFamily="34" charset="0"/>
                <a:ea typeface="Century Gothic" pitchFamily="34" charset="-122"/>
                <a:cs typeface="Century Gothic" pitchFamily="34" charset="-120"/>
              </a:rPr>
              <a:t>Errors and misconceptions are addressed (BL2).</a:t>
            </a:r>
            <a:endParaRPr lang="en-US" sz="1400" dirty="0"/>
          </a:p>
        </p:txBody>
      </p:sp>
      <p:sp>
        <p:nvSpPr>
          <p:cNvPr id="17" name="Shape 13"/>
          <p:cNvSpPr/>
          <p:nvPr/>
        </p:nvSpPr>
        <p:spPr>
          <a:xfrm>
            <a:off x="4572000" y="2944368"/>
            <a:ext cx="365760" cy="365760"/>
          </a:xfrm>
          <a:prstGeom prst="ellipse">
            <a:avLst/>
          </a:prstGeom>
          <a:solidFill>
            <a:srgbClr val="14322D"/>
          </a:solidFill>
          <a:ln/>
        </p:spPr>
      </p:sp>
      <p:sp>
        <p:nvSpPr>
          <p:cNvPr id="18" name="Text 14"/>
          <p:cNvSpPr/>
          <p:nvPr/>
        </p:nvSpPr>
        <p:spPr>
          <a:xfrm>
            <a:off x="4572000" y="2944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9" name="Text 15"/>
          <p:cNvSpPr/>
          <p:nvPr/>
        </p:nvSpPr>
        <p:spPr>
          <a:xfrm>
            <a:off x="5120640" y="2898648"/>
            <a:ext cx="6583680" cy="457200"/>
          </a:xfrm>
          <a:prstGeom prst="rect">
            <a:avLst/>
          </a:prstGeom>
          <a:noFill/>
          <a:ln/>
        </p:spPr>
        <p:txBody>
          <a:bodyPr wrap="square" lIns="0" tIns="0" rIns="0" bIns="0" rtlCol="0" anchor="ctr"/>
          <a:lstStyle/>
          <a:p>
            <a:pPr indent="0" marL="0">
              <a:buNone/>
            </a:pPr>
            <a:r>
              <a:rPr lang="en-US" sz="1400" dirty="0">
                <a:solidFill>
                  <a:srgbClr val="1A1F1D"/>
                </a:solidFill>
                <a:latin typeface="Century Gothic" pitchFamily="34" charset="0"/>
                <a:ea typeface="Century Gothic" pitchFamily="34" charset="-122"/>
                <a:cs typeface="Century Gothic" pitchFamily="34" charset="-120"/>
              </a:rPr>
              <a:t>Presentation meets the non-negotiables (BL3).</a:t>
            </a:r>
            <a:endParaRPr lang="en-US" sz="1400" dirty="0"/>
          </a:p>
        </p:txBody>
      </p:sp>
      <p:sp>
        <p:nvSpPr>
          <p:cNvPr id="20" name="Shape 16"/>
          <p:cNvSpPr/>
          <p:nvPr/>
        </p:nvSpPr>
        <p:spPr>
          <a:xfrm>
            <a:off x="4572000" y="3511296"/>
            <a:ext cx="365760" cy="365760"/>
          </a:xfrm>
          <a:prstGeom prst="ellipse">
            <a:avLst/>
          </a:prstGeom>
          <a:solidFill>
            <a:srgbClr val="14322D"/>
          </a:solidFill>
          <a:ln/>
        </p:spPr>
      </p:sp>
      <p:sp>
        <p:nvSpPr>
          <p:cNvPr id="21" name="Text 17"/>
          <p:cNvSpPr/>
          <p:nvPr/>
        </p:nvSpPr>
        <p:spPr>
          <a:xfrm>
            <a:off x="4572000" y="3511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4</a:t>
            </a:r>
            <a:endParaRPr lang="en-US" sz="1300" dirty="0"/>
          </a:p>
        </p:txBody>
      </p:sp>
      <p:sp>
        <p:nvSpPr>
          <p:cNvPr id="22" name="Text 18"/>
          <p:cNvSpPr/>
          <p:nvPr/>
        </p:nvSpPr>
        <p:spPr>
          <a:xfrm>
            <a:off x="5120640" y="3465576"/>
            <a:ext cx="6583680" cy="457200"/>
          </a:xfrm>
          <a:prstGeom prst="rect">
            <a:avLst/>
          </a:prstGeom>
          <a:noFill/>
          <a:ln/>
        </p:spPr>
        <p:txBody>
          <a:bodyPr wrap="square" lIns="0" tIns="0" rIns="0" bIns="0" rtlCol="0" anchor="ctr"/>
          <a:lstStyle/>
          <a:p>
            <a:pPr indent="0" marL="0">
              <a:buNone/>
            </a:pPr>
            <a:r>
              <a:rPr lang="en-US" sz="1400" dirty="0">
                <a:solidFill>
                  <a:srgbClr val="1A1F1D"/>
                </a:solidFill>
                <a:latin typeface="Century Gothic" pitchFamily="34" charset="0"/>
                <a:ea typeface="Century Gothic" pitchFamily="34" charset="-122"/>
                <a:cs typeface="Century Gothic" pitchFamily="34" charset="-120"/>
              </a:rPr>
              <a:t>Marking policy followed; pupils respond in purple pen (BL4–BL5).</a:t>
            </a:r>
            <a:endParaRPr lang="en-US" sz="1400" dirty="0"/>
          </a:p>
        </p:txBody>
      </p:sp>
      <p:sp>
        <p:nvSpPr>
          <p:cNvPr id="23" name="Shape 19"/>
          <p:cNvSpPr/>
          <p:nvPr/>
        </p:nvSpPr>
        <p:spPr>
          <a:xfrm>
            <a:off x="4572000" y="4078224"/>
            <a:ext cx="365760" cy="365760"/>
          </a:xfrm>
          <a:prstGeom prst="ellipse">
            <a:avLst/>
          </a:prstGeom>
          <a:solidFill>
            <a:srgbClr val="14322D"/>
          </a:solidFill>
          <a:ln/>
        </p:spPr>
      </p:sp>
      <p:sp>
        <p:nvSpPr>
          <p:cNvPr id="24" name="Text 20"/>
          <p:cNvSpPr/>
          <p:nvPr/>
        </p:nvSpPr>
        <p:spPr>
          <a:xfrm>
            <a:off x="4572000" y="40782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5</a:t>
            </a:r>
            <a:endParaRPr lang="en-US" sz="1300" dirty="0"/>
          </a:p>
        </p:txBody>
      </p:sp>
      <p:sp>
        <p:nvSpPr>
          <p:cNvPr id="25" name="Text 21"/>
          <p:cNvSpPr/>
          <p:nvPr/>
        </p:nvSpPr>
        <p:spPr>
          <a:xfrm>
            <a:off x="5120640" y="4032504"/>
            <a:ext cx="6583680" cy="457200"/>
          </a:xfrm>
          <a:prstGeom prst="rect">
            <a:avLst/>
          </a:prstGeom>
          <a:noFill/>
          <a:ln/>
        </p:spPr>
        <p:txBody>
          <a:bodyPr wrap="square" lIns="0" tIns="0" rIns="0" bIns="0" rtlCol="0" anchor="ctr"/>
          <a:lstStyle/>
          <a:p>
            <a:pPr indent="0" marL="0">
              <a:buNone/>
            </a:pPr>
            <a:r>
              <a:rPr lang="en-US" sz="1400" dirty="0">
                <a:solidFill>
                  <a:srgbClr val="1A1F1D"/>
                </a:solidFill>
                <a:latin typeface="Century Gothic" pitchFamily="34" charset="0"/>
                <a:ea typeface="Century Gothic" pitchFamily="34" charset="-122"/>
                <a:cs typeface="Century Gothic" pitchFamily="34" charset="-120"/>
              </a:rPr>
              <a:t>Adaptation for SEND/PP, and stretch, are evident (BL6–BL7).</a:t>
            </a:r>
            <a:endParaRPr lang="en-US" sz="1400" dirty="0"/>
          </a:p>
        </p:txBody>
      </p:sp>
      <p:pic>
        <p:nvPicPr>
          <p:cNvPr id="26" name="Image 2" descr="assets/icon9.png">    </p:cNvPr>
          <p:cNvPicPr>
            <a:picLocks noChangeAspect="1"/>
          </p:cNvPicPr>
          <p:nvPr/>
        </p:nvPicPr>
        <p:blipFill>
          <a:blip r:embed="rId3"/>
          <a:stretch>
            <a:fillRect/>
          </a:stretch>
        </p:blipFill>
        <p:spPr>
          <a:xfrm>
            <a:off x="640080" y="5495544"/>
            <a:ext cx="310896" cy="310896"/>
          </a:xfrm>
          <a:prstGeom prst="rect">
            <a:avLst/>
          </a:prstGeom>
        </p:spPr>
      </p:pic>
      <p:sp>
        <p:nvSpPr>
          <p:cNvPr id="27" name="Text 22"/>
          <p:cNvSpPr/>
          <p:nvPr/>
        </p:nvSpPr>
        <p:spPr>
          <a:xfrm>
            <a:off x="1097280" y="5477256"/>
            <a:ext cx="10451592" cy="365760"/>
          </a:xfrm>
          <a:prstGeom prst="rect">
            <a:avLst/>
          </a:prstGeom>
          <a:noFill/>
          <a:ln/>
        </p:spPr>
        <p:txBody>
          <a:bodyPr wrap="square" lIns="0" tIns="0" rIns="0" bIns="0" rtlCol="0" anchor="ctr"/>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Discuss  </a:t>
            </a:r>
            <a:pPr indent="0" marL="0">
              <a:buNone/>
            </a:pPr>
            <a:r>
              <a:rPr lang="en-US" sz="1250" dirty="0">
                <a:solidFill>
                  <a:srgbClr val="1A1F1D"/>
                </a:solidFill>
                <a:latin typeface="Century Gothic" pitchFamily="34" charset="0"/>
                <a:ea typeface="Century Gothic" pitchFamily="34" charset="-122"/>
                <a:cs typeface="Century Gothic" pitchFamily="34" charset="-120"/>
              </a:rPr>
              <a:t>Bring a book to mind: which of these five would it pass, and which would it fail?</a:t>
            </a:r>
            <a:endParaRPr lang="en-US" sz="1250" dirty="0"/>
          </a:p>
        </p:txBody>
      </p:sp>
      <p:sp>
        <p:nvSpPr>
          <p:cNvPr id="28" name="Text 23"/>
          <p:cNvSpPr/>
          <p:nvPr/>
        </p:nvSpPr>
        <p:spPr>
          <a:xfrm>
            <a:off x="640080" y="5989320"/>
            <a:ext cx="10908792" cy="274320"/>
          </a:xfrm>
          <a:prstGeom prst="rect">
            <a:avLst/>
          </a:prstGeom>
          <a:noFill/>
          <a:ln/>
        </p:spPr>
        <p:txBody>
          <a:bodyPr wrap="square" lIns="0" tIns="0" rIns="0" bIns="0" rtlCol="0" anchor="ctr"/>
          <a:lstStyle/>
          <a:p>
            <a:pPr indent="0" marL="0">
              <a:buNone/>
            </a:pPr>
            <a:r>
              <a:rPr lang="en-US" sz="1050" i="1" dirty="0">
                <a:solidFill>
                  <a:srgbClr val="6B736E"/>
                </a:solidFill>
                <a:latin typeface="Century Gothic" pitchFamily="34" charset="0"/>
                <a:ea typeface="Century Gothic" pitchFamily="34" charset="-122"/>
                <a:cs typeface="Century Gothic" pitchFamily="34" charset="-120"/>
              </a:rPr>
              <a:t>Books are read together, for patterns, to agree what good looks like.</a:t>
            </a:r>
            <a:endParaRPr lang="en-US" sz="1050" dirty="0"/>
          </a:p>
        </p:txBody>
      </p:sp>
      <p:sp>
        <p:nvSpPr>
          <p:cNvPr id="29" name="Text 24"/>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30" name="Text 25"/>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THE NISHKAM FRAME</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Virtues within the curriculum</a:t>
            </a:r>
            <a:endParaRPr lang="en-US" sz="2700" dirty="0"/>
          </a:p>
        </p:txBody>
      </p:sp>
      <p:sp>
        <p:nvSpPr>
          <p:cNvPr id="6" name="Shape 3"/>
          <p:cNvSpPr/>
          <p:nvPr/>
        </p:nvSpPr>
        <p:spPr>
          <a:xfrm>
            <a:off x="640080" y="1874520"/>
            <a:ext cx="10908792" cy="3200400"/>
          </a:xfrm>
          <a:prstGeom prst="rect">
            <a:avLst/>
          </a:prstGeom>
          <a:solidFill>
            <a:srgbClr val="F4ECE0"/>
          </a:solidFill>
          <a:ln w="12700">
            <a:solidFill>
              <a:srgbClr val="B07D2B"/>
            </a:solidFill>
            <a:prstDash val="solid"/>
          </a:ln>
        </p:spPr>
      </p:sp>
      <p:sp>
        <p:nvSpPr>
          <p:cNvPr id="7" name="Shape 4"/>
          <p:cNvSpPr/>
          <p:nvPr/>
        </p:nvSpPr>
        <p:spPr>
          <a:xfrm>
            <a:off x="640080" y="1874520"/>
            <a:ext cx="64008" cy="3200400"/>
          </a:xfrm>
          <a:prstGeom prst="rect">
            <a:avLst/>
          </a:prstGeom>
          <a:solidFill>
            <a:srgbClr val="B07D2B"/>
          </a:solidFill>
          <a:ln/>
        </p:spPr>
      </p:sp>
      <p:pic>
        <p:nvPicPr>
          <p:cNvPr id="8" name="Image 1" descr="assets/crest.png">    </p:cNvPr>
          <p:cNvPicPr>
            <a:picLocks noChangeAspect="1"/>
          </p:cNvPicPr>
          <p:nvPr/>
        </p:nvPicPr>
        <p:blipFill>
          <a:blip r:embed="rId2">
            <a:alphaModFix amt="45000"/>
          </a:blip>
          <a:stretch>
            <a:fillRect/>
          </a:stretch>
        </p:blipFill>
        <p:spPr>
          <a:xfrm>
            <a:off x="10287000" y="3794760"/>
            <a:ext cx="914400" cy="795528"/>
          </a:xfrm>
          <a:prstGeom prst="rect">
            <a:avLst/>
          </a:prstGeom>
        </p:spPr>
      </p:pic>
      <p:sp>
        <p:nvSpPr>
          <p:cNvPr id="9" name="Text 5"/>
          <p:cNvSpPr/>
          <p:nvPr/>
        </p:nvSpPr>
        <p:spPr>
          <a:xfrm>
            <a:off x="1005840" y="2103120"/>
            <a:ext cx="4572000" cy="365760"/>
          </a:xfrm>
          <a:prstGeom prst="rect">
            <a:avLst/>
          </a:prstGeom>
          <a:noFill/>
          <a:ln/>
        </p:spPr>
        <p:txBody>
          <a:bodyPr wrap="square" lIns="0" tIns="0" rIns="0" bIns="0" rtlCol="0" anchor="ctr"/>
          <a:lstStyle/>
          <a:p>
            <a:pPr indent="0" marL="0">
              <a:buNone/>
            </a:pPr>
            <a:r>
              <a:rPr lang="en-US" sz="1800" b="1" dirty="0">
                <a:solidFill>
                  <a:srgbClr val="14322D"/>
                </a:solidFill>
                <a:latin typeface="Century Gothic" pitchFamily="34" charset="0"/>
                <a:ea typeface="Century Gothic" pitchFamily="34" charset="-122"/>
                <a:cs typeface="Century Gothic" pitchFamily="34" charset="-120"/>
              </a:rPr>
              <a:t>At Nishkam</a:t>
            </a:r>
            <a:endParaRPr lang="en-US" sz="1800" dirty="0"/>
          </a:p>
        </p:txBody>
      </p:sp>
      <p:sp>
        <p:nvSpPr>
          <p:cNvPr id="10" name="Text 6"/>
          <p:cNvSpPr/>
          <p:nvPr/>
        </p:nvSpPr>
        <p:spPr>
          <a:xfrm>
            <a:off x="1005840" y="2606040"/>
            <a:ext cx="6309360" cy="2103120"/>
          </a:xfrm>
          <a:prstGeom prst="rect">
            <a:avLst/>
          </a:prstGeom>
          <a:noFill/>
          <a:ln/>
        </p:spPr>
        <p:txBody>
          <a:bodyPr wrap="square" lIns="0" tIns="0" rIns="0" bIns="0" rtlCol="0" anchor="t"/>
          <a:lstStyle/>
          <a:p>
            <a:pPr indent="0" marL="0">
              <a:buNone/>
            </a:pPr>
            <a:r>
              <a:rPr lang="en-US" sz="1550" b="1" dirty="0">
                <a:solidFill>
                  <a:srgbClr val="14322D"/>
                </a:solidFill>
                <a:latin typeface="Century Gothic" pitchFamily="34" charset="0"/>
                <a:ea typeface="Century Gothic" pitchFamily="34" charset="-122"/>
                <a:cs typeface="Century Gothic" pitchFamily="34" charset="-120"/>
              </a:rPr>
              <a:t>Diligence </a:t>
            </a:r>
            <a:pPr indent="0" marL="0">
              <a:spcAft>
                <a:spcPts val="900"/>
              </a:spcAft>
              <a:buNone/>
            </a:pPr>
            <a:r>
              <a:rPr lang="en-US" sz="1550" dirty="0">
                <a:solidFill>
                  <a:srgbClr val="1A1F1D"/>
                </a:solidFill>
                <a:latin typeface="Century Gothic" pitchFamily="34" charset="0"/>
                <a:ea typeface="Century Gothic" pitchFamily="34" charset="-122"/>
                <a:cs typeface="Century Gothic" pitchFamily="34" charset="-120"/>
              </a:rPr>
              <a:t>— the care in presentation and completion a strong book shows (CD10).</a:t>
            </a:r>
            <a:endParaRPr lang="en-US" sz="1550" dirty="0"/>
          </a:p>
          <a:p>
            <a:pPr indent="0" marL="0">
              <a:buNone/>
            </a:pPr>
            <a:r>
              <a:rPr lang="en-US" sz="1550" b="1" dirty="0">
                <a:solidFill>
                  <a:srgbClr val="14322D"/>
                </a:solidFill>
                <a:latin typeface="Century Gothic" pitchFamily="34" charset="0"/>
                <a:ea typeface="Century Gothic" pitchFamily="34" charset="-122"/>
                <a:cs typeface="Century Gothic" pitchFamily="34" charset="-120"/>
              </a:rPr>
              <a:t>Determination </a:t>
            </a:r>
            <a:pPr indent="0" marL="0">
              <a:spcAft>
                <a:spcPts val="900"/>
              </a:spcAft>
              <a:buNone/>
            </a:pPr>
            <a:r>
              <a:rPr lang="en-US" sz="1550" dirty="0">
                <a:solidFill>
                  <a:srgbClr val="1A1F1D"/>
                </a:solidFill>
                <a:latin typeface="Century Gothic" pitchFamily="34" charset="0"/>
                <a:ea typeface="Century Gothic" pitchFamily="34" charset="-122"/>
                <a:cs typeface="Century Gothic" pitchFamily="34" charset="-120"/>
              </a:rPr>
              <a:t>— the rising challenge and the response to feedback over time.</a:t>
            </a:r>
            <a:endParaRPr lang="en-US" sz="1550" dirty="0"/>
          </a:p>
          <a:p>
            <a:pPr indent="0" marL="0">
              <a:buNone/>
            </a:pPr>
            <a:r>
              <a:rPr lang="en-US" sz="1550" b="1" dirty="0">
                <a:solidFill>
                  <a:srgbClr val="14322D"/>
                </a:solidFill>
                <a:latin typeface="Century Gothic" pitchFamily="34" charset="0"/>
                <a:ea typeface="Century Gothic" pitchFamily="34" charset="-122"/>
                <a:cs typeface="Century Gothic" pitchFamily="34" charset="-120"/>
              </a:rPr>
              <a:t>Golden threads </a:t>
            </a:r>
            <a:pPr indent="0" marL="0">
              <a:buNone/>
            </a:pPr>
            <a:r>
              <a:rPr lang="en-US" sz="1550" dirty="0">
                <a:solidFill>
                  <a:srgbClr val="1A1F1D"/>
                </a:solidFill>
                <a:latin typeface="Century Gothic" pitchFamily="34" charset="0"/>
                <a:ea typeface="Century Gothic" pitchFamily="34" charset="-122"/>
                <a:cs typeface="Century Gothic" pitchFamily="34" charset="-120"/>
              </a:rPr>
              <a:t>— virtues, vices and golden threads woven through the curriculum (CD6).</a:t>
            </a:r>
            <a:endParaRPr lang="en-US" sz="1550" dirty="0"/>
          </a:p>
        </p:txBody>
      </p:sp>
      <p:sp>
        <p:nvSpPr>
          <p:cNvPr id="11" name="Text 7"/>
          <p:cNvSpPr/>
          <p:nvPr/>
        </p:nvSpPr>
        <p:spPr>
          <a:xfrm>
            <a:off x="7315200" y="2697480"/>
            <a:ext cx="4023360" cy="2011680"/>
          </a:xfrm>
          <a:prstGeom prst="rect">
            <a:avLst/>
          </a:prstGeom>
          <a:noFill/>
          <a:ln/>
        </p:spPr>
        <p:txBody>
          <a:bodyPr wrap="square" lIns="0" tIns="0" rIns="0" bIns="0" rtlCol="0" anchor="t"/>
          <a:lstStyle/>
          <a:p>
            <a:pPr indent="0" marL="0">
              <a:buNone/>
            </a:pPr>
            <a:r>
              <a:rPr lang="en-US" sz="1400" b="1" dirty="0">
                <a:solidFill>
                  <a:srgbClr val="14322D"/>
                </a:solidFill>
                <a:latin typeface="Century Gothic" pitchFamily="34" charset="0"/>
                <a:ea typeface="Century Gothic" pitchFamily="34" charset="-122"/>
                <a:cs typeface="Century Gothic" pitchFamily="34" charset="-120"/>
              </a:rPr>
              <a:t>For any school:  </a:t>
            </a:r>
            <a:pPr indent="0" marL="0">
              <a:buNone/>
            </a:pPr>
            <a:r>
              <a:rPr lang="en-US" sz="1400" dirty="0">
                <a:solidFill>
                  <a:srgbClr val="1A1F1D"/>
                </a:solidFill>
                <a:latin typeface="Century Gothic" pitchFamily="34" charset="0"/>
                <a:ea typeface="Century Gothic" pitchFamily="34" charset="-122"/>
                <a:cs typeface="Century Gothic" pitchFamily="34" charset="-120"/>
              </a:rPr>
              <a:t>A coherent curriculum is where character work stops being posters and becomes habit.</a:t>
            </a:r>
            <a:endParaRPr lang="en-US" sz="1400" dirty="0"/>
          </a:p>
        </p:txBody>
      </p:sp>
      <p:sp>
        <p:nvSpPr>
          <p:cNvPr id="12" name="Text 8"/>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3" name="Text 9"/>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WHAT GOOD LOOKS LIKE</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Curriculum delivery · CD</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8503920" cy="914400"/>
        </p:xfrm>
        <a:graphic>
          <a:graphicData uri="http://schemas.openxmlformats.org/drawingml/2006/table">
            <a:tbl>
              <a:tblPr/>
              <a:tblGrid>
                <a:gridCol w="914400"/>
                <a:gridCol w="7589520"/>
              </a:tblGrid>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CD1</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Delivery follows the sequenced scheme of learning.</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CD2</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Consistent: clear modelling, concise language, adaptation.</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CD5</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Subject vocabulary explicitly taught and revisited.</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CD7</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AfL and feedback used to monitor and inform teaching.</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CD9</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Pupils progress over time and apply learning in new contexts.</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r h="384048">
                <a:tc>
                  <a:txBody>
                    <a:bodyPr/>
                    <a:lstStyle/>
                    <a:p>
                      <a:pPr algn="l" indent="0" marL="0">
                        <a:buNone/>
                      </a:pPr>
                      <a:r>
                        <a:rPr lang="en-US" sz="1150" b="1" dirty="0">
                          <a:solidFill>
                            <a:srgbClr val="14322D"/>
                          </a:solidFill>
                          <a:latin typeface="Century Gothic" pitchFamily="34" charset="0"/>
                          <a:ea typeface="Century Gothic" pitchFamily="34" charset="-122"/>
                          <a:cs typeface="Century Gothic" pitchFamily="34" charset="-120"/>
                        </a:rPr>
                        <a:t>CD10</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solidFill>
                      <a:srgbClr val="EAF2EE"/>
                    </a:solidFill>
                  </a:tcPr>
                </a:tc>
                <a:tc>
                  <a:txBody>
                    <a:bodyPr/>
                    <a:lstStyle/>
                    <a:p>
                      <a:pPr algn="l" indent="0" marL="0">
                        <a:buNone/>
                      </a:pPr>
                      <a:r>
                        <a:rPr lang="en-US" sz="1150" dirty="0">
                          <a:solidFill>
                            <a:srgbClr val="1A1F1D"/>
                          </a:solidFill>
                          <a:latin typeface="Century Gothic" pitchFamily="34" charset="0"/>
                          <a:ea typeface="Century Gothic" pitchFamily="34" charset="-122"/>
                          <a:cs typeface="Century Gothic" pitchFamily="34" charset="-120"/>
                        </a:rPr>
                        <a:t>Presentation matches expectations in books.</a:t>
                      </a:r>
                      <a:endParaRPr lang="en-US" sz="1150" dirty="0">
                        <a:latin typeface="Century Gothic" charset="0"/>
                        <a:ea typeface="Century Gothic" charset="0"/>
                        <a:cs typeface="Century Gothic" charset="0"/>
                      </a:endParaRPr>
                    </a:p>
                  </a:txBody>
                  <a:tcPr marL="76200" marR="76200" marT="25400" marB="25400" anchor="ctr">
                    <a:lnL w="6350" cap="flat" cmpd="sng" algn="ctr">
                      <a:solidFill>
                        <a:srgbClr val="DDE5E1"/>
                      </a:solidFill>
                      <a:prstDash val="solid"/>
                      <a:round/>
                      <a:headEnd type="none" w="med" len="med"/>
                      <a:tailEnd type="none" w="med" len="med"/>
                    </a:lnL>
                    <a:lnR w="6350" cap="flat" cmpd="sng" algn="ctr">
                      <a:solidFill>
                        <a:srgbClr val="DDE5E1"/>
                      </a:solidFill>
                      <a:prstDash val="solid"/>
                      <a:round/>
                      <a:headEnd type="none" w="med" len="med"/>
                      <a:tailEnd type="none" w="med" len="med"/>
                    </a:lnR>
                    <a:lnT w="6350" cap="flat" cmpd="sng" algn="ctr">
                      <a:solidFill>
                        <a:srgbClr val="DDE5E1"/>
                      </a:solidFill>
                      <a:prstDash val="solid"/>
                      <a:round/>
                      <a:headEnd type="none" w="med" len="med"/>
                      <a:tailEnd type="none" w="med" len="med"/>
                    </a:lnT>
                    <a:lnB w="6350" cap="flat" cmpd="sng" algn="ctr">
                      <a:solidFill>
                        <a:srgbClr val="DDE5E1"/>
                      </a:solidFill>
                      <a:prstDash val="solid"/>
                      <a:round/>
                      <a:headEnd type="none" w="med" len="med"/>
                      <a:tailEnd type="none" w="med" len="med"/>
                    </a:lnB>
                  </a:tcPr>
                </a:tc>
              </a:tr>
            </a:tbl>
          </a:graphicData>
        </a:graphic>
      </p:graphicFrame>
      <p:sp>
        <p:nvSpPr>
          <p:cNvPr id="7" name="Shape 3"/>
          <p:cNvSpPr/>
          <p:nvPr/>
        </p:nvSpPr>
        <p:spPr>
          <a:xfrm>
            <a:off x="9326880" y="1783080"/>
            <a:ext cx="2194560" cy="2103120"/>
          </a:xfrm>
          <a:prstGeom prst="rect">
            <a:avLst/>
          </a:prstGeom>
          <a:solidFill>
            <a:srgbClr val="E8F1EE"/>
          </a:solidFill>
          <a:ln w="12700">
            <a:solidFill>
              <a:srgbClr val="3F9488"/>
            </a:solidFill>
            <a:prstDash val="solid"/>
          </a:ln>
        </p:spPr>
      </p:sp>
      <p:sp>
        <p:nvSpPr>
          <p:cNvPr id="8" name="Shape 4"/>
          <p:cNvSpPr/>
          <p:nvPr/>
        </p:nvSpPr>
        <p:spPr>
          <a:xfrm>
            <a:off x="9326880" y="1783080"/>
            <a:ext cx="64008" cy="2103120"/>
          </a:xfrm>
          <a:prstGeom prst="rect">
            <a:avLst/>
          </a:prstGeom>
          <a:solidFill>
            <a:srgbClr val="3F9488"/>
          </a:solidFill>
          <a:ln/>
        </p:spPr>
      </p:sp>
      <p:pic>
        <p:nvPicPr>
          <p:cNvPr id="9" name="Image 1" descr="assets/icon16.png">    </p:cNvPr>
          <p:cNvPicPr>
            <a:picLocks noChangeAspect="1"/>
          </p:cNvPicPr>
          <p:nvPr/>
        </p:nvPicPr>
        <p:blipFill>
          <a:blip r:embed="rId2"/>
          <a:stretch>
            <a:fillRect/>
          </a:stretch>
        </p:blipFill>
        <p:spPr>
          <a:xfrm>
            <a:off x="9528048" y="1938528"/>
            <a:ext cx="384048" cy="384048"/>
          </a:xfrm>
          <a:prstGeom prst="rect">
            <a:avLst/>
          </a:prstGeom>
        </p:spPr>
      </p:pic>
      <p:sp>
        <p:nvSpPr>
          <p:cNvPr id="10" name="Text 5"/>
          <p:cNvSpPr/>
          <p:nvPr/>
        </p:nvSpPr>
        <p:spPr>
          <a:xfrm>
            <a:off x="9528048" y="2423160"/>
            <a:ext cx="1874520" cy="1371600"/>
          </a:xfrm>
          <a:prstGeom prst="rect">
            <a:avLst/>
          </a:prstGeom>
          <a:noFill/>
          <a:ln/>
        </p:spPr>
        <p:txBody>
          <a:bodyPr wrap="square" lIns="0" tIns="0" rIns="0" bIns="0" rtlCol="0" anchor="t"/>
          <a:lstStyle/>
          <a:p>
            <a:pPr indent="0" marL="0">
              <a:buNone/>
            </a:pPr>
            <a:r>
              <a:rPr lang="en-US" sz="1200" dirty="0">
                <a:solidFill>
                  <a:srgbClr val="1A1F1D"/>
                </a:solidFill>
                <a:latin typeface="Century Gothic" pitchFamily="34" charset="0"/>
                <a:ea typeface="Century Gothic" pitchFamily="34" charset="-122"/>
                <a:cs typeface="Century Gothic" pitchFamily="34" charset="-120"/>
              </a:rPr>
              <a:t>Use this to observe a lesson, or to review a year group.</a:t>
            </a:r>
            <a:endParaRPr lang="en-US" sz="1200" dirty="0"/>
          </a:p>
        </p:txBody>
      </p:sp>
      <p:sp>
        <p:nvSpPr>
          <p:cNvPr id="11" name="Text 6"/>
          <p:cNvSpPr/>
          <p:nvPr/>
        </p:nvSpPr>
        <p:spPr>
          <a:xfrm>
            <a:off x="640080" y="5806440"/>
            <a:ext cx="8229600" cy="274320"/>
          </a:xfrm>
          <a:prstGeom prst="rect">
            <a:avLst/>
          </a:prstGeom>
          <a:noFill/>
          <a:ln/>
        </p:spPr>
        <p:txBody>
          <a:bodyPr wrap="square" lIns="0" tIns="0" rIns="0" bIns="0" rtlCol="0" anchor="ctr"/>
          <a:lstStyle/>
          <a:p>
            <a:pPr indent="0" marL="0">
              <a:buNone/>
            </a:pPr>
            <a:r>
              <a:rPr lang="en-US" sz="1050" i="1" dirty="0">
                <a:solidFill>
                  <a:srgbClr val="6B736E"/>
                </a:solidFill>
                <a:latin typeface="Century Gothic" pitchFamily="34" charset="0"/>
                <a:ea typeface="Century Gothic" pitchFamily="34" charset="-122"/>
                <a:cs typeface="Century Gothic" pitchFamily="34" charset="-120"/>
              </a:rPr>
              <a:t>Full CD, BL and RFP items sit behind the modules online.</a:t>
            </a:r>
            <a:endParaRPr lang="en-US" sz="1050" dirty="0"/>
          </a:p>
        </p:txBody>
      </p:sp>
      <p:sp>
        <p:nvSpPr>
          <p:cNvPr id="12" name="Text 7"/>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3" name="Text 8"/>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DELIBERATE PRACTICE</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Run a book look together</a:t>
            </a:r>
            <a:endParaRPr lang="en-US" sz="2700" dirty="0"/>
          </a:p>
        </p:txBody>
      </p:sp>
      <p:sp>
        <p:nvSpPr>
          <p:cNvPr id="6" name="Shape 3"/>
          <p:cNvSpPr/>
          <p:nvPr/>
        </p:nvSpPr>
        <p:spPr>
          <a:xfrm>
            <a:off x="640080" y="1783080"/>
            <a:ext cx="5212080" cy="3611880"/>
          </a:xfrm>
          <a:prstGeom prst="rect">
            <a:avLst/>
          </a:prstGeom>
          <a:solidFill>
            <a:srgbClr val="F7FAF8"/>
          </a:solidFill>
          <a:ln w="12700">
            <a:solidFill>
              <a:srgbClr val="3F9488"/>
            </a:solidFill>
            <a:prstDash val="solid"/>
          </a:ln>
        </p:spPr>
      </p:sp>
      <p:sp>
        <p:nvSpPr>
          <p:cNvPr id="7" name="Shape 4"/>
          <p:cNvSpPr/>
          <p:nvPr/>
        </p:nvSpPr>
        <p:spPr>
          <a:xfrm>
            <a:off x="640080" y="1783080"/>
            <a:ext cx="64008" cy="3611880"/>
          </a:xfrm>
          <a:prstGeom prst="rect">
            <a:avLst/>
          </a:prstGeom>
          <a:solidFill>
            <a:srgbClr val="3F9488"/>
          </a:solidFill>
          <a:ln/>
        </p:spPr>
      </p:sp>
      <p:pic>
        <p:nvPicPr>
          <p:cNvPr id="8" name="Image 1" descr="assets/icon15.png">    </p:cNvPr>
          <p:cNvPicPr>
            <a:picLocks noChangeAspect="1"/>
          </p:cNvPicPr>
          <p:nvPr/>
        </p:nvPicPr>
        <p:blipFill>
          <a:blip r:embed="rId2"/>
          <a:stretch>
            <a:fillRect/>
          </a:stretch>
        </p:blipFill>
        <p:spPr>
          <a:xfrm>
            <a:off x="896112" y="1965960"/>
            <a:ext cx="411480" cy="411480"/>
          </a:xfrm>
          <a:prstGeom prst="rect">
            <a:avLst/>
          </a:prstGeom>
        </p:spPr>
      </p:pic>
      <p:sp>
        <p:nvSpPr>
          <p:cNvPr id="9" name="Text 5"/>
          <p:cNvSpPr/>
          <p:nvPr/>
        </p:nvSpPr>
        <p:spPr>
          <a:xfrm>
            <a:off x="1444752" y="1965960"/>
            <a:ext cx="4114800" cy="41148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The set-up</a:t>
            </a:r>
            <a:endParaRPr lang="en-US" sz="1600" dirty="0"/>
          </a:p>
        </p:txBody>
      </p:sp>
      <p:sp>
        <p:nvSpPr>
          <p:cNvPr id="10" name="Text 6"/>
          <p:cNvSpPr/>
          <p:nvPr/>
        </p:nvSpPr>
        <p:spPr>
          <a:xfrm>
            <a:off x="896112" y="2560320"/>
            <a:ext cx="4709160" cy="2743200"/>
          </a:xfrm>
          <a:prstGeom prst="rect">
            <a:avLst/>
          </a:prstGeom>
          <a:noFill/>
          <a:ln/>
        </p:spPr>
        <p:txBody>
          <a:bodyPr wrap="square" lIns="0" tIns="0" rIns="0" bIns="0" rtlCol="0" anchor="t"/>
          <a:lstStyle/>
          <a:p>
            <a:pPr indent="0" marL="0">
              <a:buNone/>
            </a:pPr>
            <a:r>
              <a:rPr lang="en-US" sz="1350" dirty="0">
                <a:solidFill>
                  <a:srgbClr val="1A1F1D"/>
                </a:solidFill>
                <a:latin typeface="Century Gothic" pitchFamily="34" charset="0"/>
                <a:ea typeface="Century Gothic" pitchFamily="34" charset="-122"/>
                <a:cs typeface="Century Gothic" pitchFamily="34" charset="-120"/>
              </a:rPr>
              <a:t>In threes, swap a sample of books. Read them against BL1–BL7 for patterns, not individual comments. Agree the two things you would most want to see change across the set, and how you would raise the standard without naming a pupil.</a:t>
            </a:r>
            <a:endParaRPr lang="en-US" sz="1350" dirty="0"/>
          </a:p>
        </p:txBody>
      </p:sp>
      <p:sp>
        <p:nvSpPr>
          <p:cNvPr id="11" name="Shape 7"/>
          <p:cNvSpPr/>
          <p:nvPr/>
        </p:nvSpPr>
        <p:spPr>
          <a:xfrm>
            <a:off x="6126480" y="1783080"/>
            <a:ext cx="5120640" cy="3611880"/>
          </a:xfrm>
          <a:prstGeom prst="rect">
            <a:avLst/>
          </a:prstGeom>
          <a:solidFill>
            <a:srgbClr val="F4ECE0"/>
          </a:solidFill>
          <a:ln w="12700">
            <a:solidFill>
              <a:srgbClr val="B07D2B"/>
            </a:solidFill>
            <a:prstDash val="solid"/>
          </a:ln>
        </p:spPr>
      </p:sp>
      <p:sp>
        <p:nvSpPr>
          <p:cNvPr id="12" name="Shape 8"/>
          <p:cNvSpPr/>
          <p:nvPr/>
        </p:nvSpPr>
        <p:spPr>
          <a:xfrm>
            <a:off x="6126480" y="1783080"/>
            <a:ext cx="64008" cy="3611880"/>
          </a:xfrm>
          <a:prstGeom prst="rect">
            <a:avLst/>
          </a:prstGeom>
          <a:solidFill>
            <a:srgbClr val="B07D2B"/>
          </a:solidFill>
          <a:ln/>
        </p:spPr>
      </p:sp>
      <p:pic>
        <p:nvPicPr>
          <p:cNvPr id="13" name="Image 2" descr="assets/icon2.png">    </p:cNvPr>
          <p:cNvPicPr>
            <a:picLocks noChangeAspect="1"/>
          </p:cNvPicPr>
          <p:nvPr/>
        </p:nvPicPr>
        <p:blipFill>
          <a:blip r:embed="rId3"/>
          <a:stretch>
            <a:fillRect/>
          </a:stretch>
        </p:blipFill>
        <p:spPr>
          <a:xfrm>
            <a:off x="6382512" y="1965960"/>
            <a:ext cx="411480" cy="411480"/>
          </a:xfrm>
          <a:prstGeom prst="rect">
            <a:avLst/>
          </a:prstGeom>
        </p:spPr>
      </p:pic>
      <p:sp>
        <p:nvSpPr>
          <p:cNvPr id="14" name="Text 9"/>
          <p:cNvSpPr/>
          <p:nvPr/>
        </p:nvSpPr>
        <p:spPr>
          <a:xfrm>
            <a:off x="6931152" y="1965960"/>
            <a:ext cx="4114800" cy="411480"/>
          </a:xfrm>
          <a:prstGeom prst="rect">
            <a:avLst/>
          </a:prstGeom>
          <a:noFill/>
          <a:ln/>
        </p:spPr>
        <p:txBody>
          <a:bodyPr wrap="square" lIns="0" tIns="0" rIns="0" bIns="0" rtlCol="0" anchor="ctr"/>
          <a:lstStyle/>
          <a:p>
            <a:pPr indent="0" marL="0">
              <a:buNone/>
            </a:pPr>
            <a:r>
              <a:rPr lang="en-US" sz="1600" b="1" dirty="0">
                <a:solidFill>
                  <a:srgbClr val="14322D"/>
                </a:solidFill>
                <a:latin typeface="Century Gothic" pitchFamily="34" charset="0"/>
                <a:ea typeface="Century Gothic" pitchFamily="34" charset="-122"/>
                <a:cs typeface="Century Gothic" pitchFamily="34" charset="-120"/>
              </a:rPr>
              <a:t>Coach, watch for</a:t>
            </a:r>
            <a:endParaRPr lang="en-US" sz="1600" dirty="0"/>
          </a:p>
        </p:txBody>
      </p:sp>
      <p:sp>
        <p:nvSpPr>
          <p:cNvPr id="15" name="Text 10"/>
          <p:cNvSpPr/>
          <p:nvPr/>
        </p:nvSpPr>
        <p:spPr>
          <a:xfrm>
            <a:off x="6382512" y="2560320"/>
            <a:ext cx="4617720" cy="27432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F1D"/>
                </a:solidFill>
                <a:latin typeface="Century Gothic" pitchFamily="34" charset="0"/>
                <a:ea typeface="Century Gothic" pitchFamily="34" charset="-122"/>
                <a:cs typeface="Century Gothic" pitchFamily="34" charset="-120"/>
              </a:rPr>
              <a:t>Reading for the sequence and the story over time.</a:t>
            </a:r>
            <a:endParaRPr lang="en-US" sz="1350" dirty="0"/>
          </a:p>
          <a:p>
            <a:pPr marL="342900" indent="-342900">
              <a:spcAft>
                <a:spcPts val="800"/>
              </a:spcAft>
              <a:buSzPct val="100000"/>
              <a:buChar char="•"/>
            </a:pPr>
            <a:r>
              <a:rPr lang="en-US" sz="1350" dirty="0">
                <a:solidFill>
                  <a:srgbClr val="1A1F1D"/>
                </a:solidFill>
                <a:latin typeface="Century Gothic" pitchFamily="34" charset="0"/>
                <a:ea typeface="Century Gothic" pitchFamily="34" charset="-122"/>
                <a:cs typeface="Century Gothic" pitchFamily="34" charset="-120"/>
              </a:rPr>
              <a:t>Whether misconceptions are caught and corrected.</a:t>
            </a:r>
            <a:endParaRPr lang="en-US" sz="1350" dirty="0"/>
          </a:p>
          <a:p>
            <a:pPr marL="342900" indent="-342900">
              <a:spcAft>
                <a:spcPts val="800"/>
              </a:spcAft>
              <a:buSzPct val="100000"/>
              <a:buChar char="•"/>
            </a:pPr>
            <a:r>
              <a:rPr lang="en-US" sz="1350" dirty="0">
                <a:solidFill>
                  <a:srgbClr val="1A1F1D"/>
                </a:solidFill>
                <a:latin typeface="Century Gothic" pitchFamily="34" charset="0"/>
                <a:ea typeface="Century Gothic" pitchFamily="34" charset="-122"/>
                <a:cs typeface="Century Gothic" pitchFamily="34" charset="-120"/>
              </a:rPr>
              <a:t>Whether pupils act on feedback (purple pen).</a:t>
            </a:r>
            <a:endParaRPr lang="en-US" sz="1350" dirty="0"/>
          </a:p>
          <a:p>
            <a:pPr marL="342900" indent="-342900">
              <a:spcAft>
                <a:spcPts val="800"/>
              </a:spcAft>
              <a:buSzPct val="100000"/>
              <a:buChar char="•"/>
            </a:pPr>
            <a:r>
              <a:rPr lang="en-US" sz="1350" dirty="0">
                <a:solidFill>
                  <a:srgbClr val="1A1F1D"/>
                </a:solidFill>
                <a:latin typeface="Century Gothic" pitchFamily="34" charset="0"/>
                <a:ea typeface="Century Gothic" pitchFamily="34" charset="-122"/>
                <a:cs typeface="Century Gothic" pitchFamily="34" charset="-120"/>
              </a:rPr>
              <a:t>Adaptation for SEND/PP, and evidence of stretch.</a:t>
            </a:r>
            <a:endParaRPr lang="en-US" sz="1350" dirty="0"/>
          </a:p>
          <a:p>
            <a:pPr marL="342900" indent="-342900">
              <a:spcAft>
                <a:spcPts val="800"/>
              </a:spcAft>
              <a:buSzPct val="100000"/>
              <a:buChar char="•"/>
            </a:pPr>
            <a:r>
              <a:rPr lang="en-US" sz="1350" dirty="0">
                <a:solidFill>
                  <a:srgbClr val="1A1F1D"/>
                </a:solidFill>
                <a:latin typeface="Century Gothic" pitchFamily="34" charset="0"/>
                <a:ea typeface="Century Gothic" pitchFamily="34" charset="-122"/>
                <a:cs typeface="Century Gothic" pitchFamily="34" charset="-120"/>
              </a:rPr>
              <a:t>A standard raised generally, never by naming a child.</a:t>
            </a:r>
            <a:endParaRPr lang="en-US" sz="1350" dirty="0"/>
          </a:p>
        </p:txBody>
      </p:sp>
      <p:sp>
        <p:nvSpPr>
          <p:cNvPr id="16" name="Text 11"/>
          <p:cNvSpPr/>
          <p:nvPr/>
        </p:nvSpPr>
        <p:spPr>
          <a:xfrm>
            <a:off x="640080" y="5715000"/>
            <a:ext cx="10908792" cy="274320"/>
          </a:xfrm>
          <a:prstGeom prst="rect">
            <a:avLst/>
          </a:prstGeom>
          <a:noFill/>
          <a:ln/>
        </p:spPr>
        <p:txBody>
          <a:bodyPr wrap="square" lIns="0" tIns="0" rIns="0" bIns="0" rtlCol="0" anchor="ctr"/>
          <a:lstStyle/>
          <a:p>
            <a:pPr indent="0" marL="0">
              <a:buNone/>
            </a:pPr>
            <a:r>
              <a:rPr lang="en-US" sz="1050" i="1" dirty="0">
                <a:solidFill>
                  <a:srgbClr val="6B736E"/>
                </a:solidFill>
                <a:latin typeface="Century Gothic" pitchFamily="34" charset="0"/>
                <a:ea typeface="Century Gothic" pitchFamily="34" charset="-122"/>
                <a:cs typeface="Century Gothic" pitchFamily="34" charset="-120"/>
              </a:rPr>
              <a:t>A book look is a shared standard, not a judgement of a colleague.</a:t>
            </a:r>
            <a:endParaRPr lang="en-US" sz="1050" dirty="0"/>
          </a:p>
        </p:txBody>
      </p:sp>
      <p:sp>
        <p:nvSpPr>
          <p:cNvPr id="17" name="Text 12"/>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8" name="Text 13"/>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A READING CULTURE</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Reading for pleasure, made visible</a:t>
            </a:r>
            <a:endParaRPr lang="en-US" sz="2700" dirty="0"/>
          </a:p>
        </p:txBody>
      </p:sp>
      <p:sp>
        <p:nvSpPr>
          <p:cNvPr id="6" name="Shape 3"/>
          <p:cNvSpPr/>
          <p:nvPr/>
        </p:nvSpPr>
        <p:spPr>
          <a:xfrm>
            <a:off x="640080" y="1810512"/>
            <a:ext cx="5074920" cy="1463040"/>
          </a:xfrm>
          <a:prstGeom prst="rect">
            <a:avLst/>
          </a:prstGeom>
          <a:solidFill>
            <a:srgbClr val="F7FAF8"/>
          </a:solidFill>
          <a:ln w="12700">
            <a:solidFill>
              <a:srgbClr val="3F9488"/>
            </a:solidFill>
            <a:prstDash val="solid"/>
          </a:ln>
        </p:spPr>
      </p:sp>
      <p:sp>
        <p:nvSpPr>
          <p:cNvPr id="7" name="Shape 4"/>
          <p:cNvSpPr/>
          <p:nvPr/>
        </p:nvSpPr>
        <p:spPr>
          <a:xfrm>
            <a:off x="640080" y="1810512"/>
            <a:ext cx="64008" cy="1463040"/>
          </a:xfrm>
          <a:prstGeom prst="rect">
            <a:avLst/>
          </a:prstGeom>
          <a:solidFill>
            <a:srgbClr val="3F9488"/>
          </a:solidFill>
          <a:ln/>
        </p:spPr>
      </p:sp>
      <p:pic>
        <p:nvPicPr>
          <p:cNvPr id="8" name="Image 1" descr="assets/icon9.png">    </p:cNvPr>
          <p:cNvPicPr>
            <a:picLocks noChangeAspect="1"/>
          </p:cNvPicPr>
          <p:nvPr/>
        </p:nvPicPr>
        <p:blipFill>
          <a:blip r:embed="rId2"/>
          <a:stretch>
            <a:fillRect/>
          </a:stretch>
        </p:blipFill>
        <p:spPr>
          <a:xfrm>
            <a:off x="896112" y="2011680"/>
            <a:ext cx="420624" cy="420624"/>
          </a:xfrm>
          <a:prstGeom prst="rect">
            <a:avLst/>
          </a:prstGeom>
        </p:spPr>
      </p:pic>
      <p:sp>
        <p:nvSpPr>
          <p:cNvPr id="9" name="Text 5"/>
          <p:cNvSpPr/>
          <p:nvPr/>
        </p:nvSpPr>
        <p:spPr>
          <a:xfrm>
            <a:off x="1463040" y="1993392"/>
            <a:ext cx="4069080" cy="41148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Reading aloud</a:t>
            </a:r>
            <a:endParaRPr lang="en-US" sz="1500" dirty="0"/>
          </a:p>
        </p:txBody>
      </p:sp>
      <p:sp>
        <p:nvSpPr>
          <p:cNvPr id="10" name="Text 6"/>
          <p:cNvSpPr/>
          <p:nvPr/>
        </p:nvSpPr>
        <p:spPr>
          <a:xfrm>
            <a:off x="896112" y="2468880"/>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Regular, teacher-led reading aloud — the single most powerful practice (RFP1).</a:t>
            </a:r>
            <a:endParaRPr lang="en-US" sz="1250" dirty="0"/>
          </a:p>
        </p:txBody>
      </p:sp>
      <p:sp>
        <p:nvSpPr>
          <p:cNvPr id="11" name="Shape 7"/>
          <p:cNvSpPr/>
          <p:nvPr/>
        </p:nvSpPr>
        <p:spPr>
          <a:xfrm>
            <a:off x="6126480" y="1810512"/>
            <a:ext cx="5074920" cy="1463040"/>
          </a:xfrm>
          <a:prstGeom prst="rect">
            <a:avLst/>
          </a:prstGeom>
          <a:solidFill>
            <a:srgbClr val="F7FAF8"/>
          </a:solidFill>
          <a:ln w="12700">
            <a:solidFill>
              <a:srgbClr val="3F9488"/>
            </a:solidFill>
            <a:prstDash val="solid"/>
          </a:ln>
        </p:spPr>
      </p:sp>
      <p:sp>
        <p:nvSpPr>
          <p:cNvPr id="12" name="Shape 8"/>
          <p:cNvSpPr/>
          <p:nvPr/>
        </p:nvSpPr>
        <p:spPr>
          <a:xfrm>
            <a:off x="6126480" y="1810512"/>
            <a:ext cx="64008" cy="1463040"/>
          </a:xfrm>
          <a:prstGeom prst="rect">
            <a:avLst/>
          </a:prstGeom>
          <a:solidFill>
            <a:srgbClr val="3F9488"/>
          </a:solidFill>
          <a:ln/>
        </p:spPr>
      </p:sp>
      <p:pic>
        <p:nvPicPr>
          <p:cNvPr id="13" name="Image 2" descr="assets/icon14.png">    </p:cNvPr>
          <p:cNvPicPr>
            <a:picLocks noChangeAspect="1"/>
          </p:cNvPicPr>
          <p:nvPr/>
        </p:nvPicPr>
        <p:blipFill>
          <a:blip r:embed="rId3"/>
          <a:stretch>
            <a:fillRect/>
          </a:stretch>
        </p:blipFill>
        <p:spPr>
          <a:xfrm>
            <a:off x="6382512" y="2011680"/>
            <a:ext cx="420624" cy="420624"/>
          </a:xfrm>
          <a:prstGeom prst="rect">
            <a:avLst/>
          </a:prstGeom>
        </p:spPr>
      </p:pic>
      <p:sp>
        <p:nvSpPr>
          <p:cNvPr id="14" name="Text 9"/>
          <p:cNvSpPr/>
          <p:nvPr/>
        </p:nvSpPr>
        <p:spPr>
          <a:xfrm>
            <a:off x="6949440" y="1993392"/>
            <a:ext cx="4069080" cy="41148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Books on display</a:t>
            </a:r>
            <a:endParaRPr lang="en-US" sz="1500" dirty="0"/>
          </a:p>
        </p:txBody>
      </p:sp>
      <p:sp>
        <p:nvSpPr>
          <p:cNvPr id="15" name="Text 10"/>
          <p:cNvSpPr/>
          <p:nvPr/>
        </p:nvSpPr>
        <p:spPr>
          <a:xfrm>
            <a:off x="6382512" y="2468880"/>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Door signs, book boxes and stands keep books visible (RFP2–RFP4).</a:t>
            </a:r>
            <a:endParaRPr lang="en-US" sz="1250" dirty="0"/>
          </a:p>
        </p:txBody>
      </p:sp>
      <p:sp>
        <p:nvSpPr>
          <p:cNvPr id="16" name="Shape 11"/>
          <p:cNvSpPr/>
          <p:nvPr/>
        </p:nvSpPr>
        <p:spPr>
          <a:xfrm>
            <a:off x="640080" y="3566160"/>
            <a:ext cx="5074920" cy="1463040"/>
          </a:xfrm>
          <a:prstGeom prst="rect">
            <a:avLst/>
          </a:prstGeom>
          <a:solidFill>
            <a:srgbClr val="F7FAF8"/>
          </a:solidFill>
          <a:ln w="12700">
            <a:solidFill>
              <a:srgbClr val="3F9488"/>
            </a:solidFill>
            <a:prstDash val="solid"/>
          </a:ln>
        </p:spPr>
      </p:sp>
      <p:sp>
        <p:nvSpPr>
          <p:cNvPr id="17" name="Shape 12"/>
          <p:cNvSpPr/>
          <p:nvPr/>
        </p:nvSpPr>
        <p:spPr>
          <a:xfrm>
            <a:off x="640080" y="3566160"/>
            <a:ext cx="64008" cy="1463040"/>
          </a:xfrm>
          <a:prstGeom prst="rect">
            <a:avLst/>
          </a:prstGeom>
          <a:solidFill>
            <a:srgbClr val="3F9488"/>
          </a:solidFill>
          <a:ln/>
        </p:spPr>
      </p:sp>
      <p:pic>
        <p:nvPicPr>
          <p:cNvPr id="18" name="Image 3" descr="assets/icon15.png">    </p:cNvPr>
          <p:cNvPicPr>
            <a:picLocks noChangeAspect="1"/>
          </p:cNvPicPr>
          <p:nvPr/>
        </p:nvPicPr>
        <p:blipFill>
          <a:blip r:embed="rId4"/>
          <a:stretch>
            <a:fillRect/>
          </a:stretch>
        </p:blipFill>
        <p:spPr>
          <a:xfrm>
            <a:off x="896112" y="3767328"/>
            <a:ext cx="420624" cy="420624"/>
          </a:xfrm>
          <a:prstGeom prst="rect">
            <a:avLst/>
          </a:prstGeom>
        </p:spPr>
      </p:pic>
      <p:sp>
        <p:nvSpPr>
          <p:cNvPr id="19" name="Text 13"/>
          <p:cNvSpPr/>
          <p:nvPr/>
        </p:nvSpPr>
        <p:spPr>
          <a:xfrm>
            <a:off x="1463040" y="3749040"/>
            <a:ext cx="4069080" cy="41148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Book club &amp; library</a:t>
            </a:r>
            <a:endParaRPr lang="en-US" sz="1500" dirty="0"/>
          </a:p>
        </p:txBody>
      </p:sp>
      <p:sp>
        <p:nvSpPr>
          <p:cNvPr id="20" name="Text 14"/>
          <p:cNvSpPr/>
          <p:nvPr/>
        </p:nvSpPr>
        <p:spPr>
          <a:xfrm>
            <a:off x="896112" y="422452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The Friday book club and the timetabled library slot, used well (RFP5–RFP6).</a:t>
            </a:r>
            <a:endParaRPr lang="en-US" sz="1250" dirty="0"/>
          </a:p>
        </p:txBody>
      </p:sp>
      <p:sp>
        <p:nvSpPr>
          <p:cNvPr id="21" name="Shape 15"/>
          <p:cNvSpPr/>
          <p:nvPr/>
        </p:nvSpPr>
        <p:spPr>
          <a:xfrm>
            <a:off x="6126480" y="3566160"/>
            <a:ext cx="5074920" cy="1463040"/>
          </a:xfrm>
          <a:prstGeom prst="rect">
            <a:avLst/>
          </a:prstGeom>
          <a:solidFill>
            <a:srgbClr val="F7FAF8"/>
          </a:solidFill>
          <a:ln w="12700">
            <a:solidFill>
              <a:srgbClr val="3F9488"/>
            </a:solidFill>
            <a:prstDash val="solid"/>
          </a:ln>
        </p:spPr>
      </p:sp>
      <p:sp>
        <p:nvSpPr>
          <p:cNvPr id="22" name="Shape 16"/>
          <p:cNvSpPr/>
          <p:nvPr/>
        </p:nvSpPr>
        <p:spPr>
          <a:xfrm>
            <a:off x="6126480" y="3566160"/>
            <a:ext cx="64008" cy="1463040"/>
          </a:xfrm>
          <a:prstGeom prst="rect">
            <a:avLst/>
          </a:prstGeom>
          <a:solidFill>
            <a:srgbClr val="3F9488"/>
          </a:solidFill>
          <a:ln/>
        </p:spPr>
      </p:sp>
      <p:pic>
        <p:nvPicPr>
          <p:cNvPr id="23" name="Image 4" descr="assets/icon6.png">    </p:cNvPr>
          <p:cNvPicPr>
            <a:picLocks noChangeAspect="1"/>
          </p:cNvPicPr>
          <p:nvPr/>
        </p:nvPicPr>
        <p:blipFill>
          <a:blip r:embed="rId5"/>
          <a:stretch>
            <a:fillRect/>
          </a:stretch>
        </p:blipFill>
        <p:spPr>
          <a:xfrm>
            <a:off x="6382512" y="3767328"/>
            <a:ext cx="420624" cy="420624"/>
          </a:xfrm>
          <a:prstGeom prst="rect">
            <a:avLst/>
          </a:prstGeom>
        </p:spPr>
      </p:pic>
      <p:sp>
        <p:nvSpPr>
          <p:cNvPr id="24" name="Text 17"/>
          <p:cNvSpPr/>
          <p:nvPr/>
        </p:nvSpPr>
        <p:spPr>
          <a:xfrm>
            <a:off x="6949440" y="3749040"/>
            <a:ext cx="4069080" cy="41148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A love of reading</a:t>
            </a:r>
            <a:endParaRPr lang="en-US" sz="1500" dirty="0"/>
          </a:p>
        </p:txBody>
      </p:sp>
      <p:sp>
        <p:nvSpPr>
          <p:cNvPr id="25" name="Text 18"/>
          <p:cNvSpPr/>
          <p:nvPr/>
        </p:nvSpPr>
        <p:spPr>
          <a:xfrm>
            <a:off x="6382512" y="4224528"/>
            <a:ext cx="4572000" cy="73152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The point of it all: pupils developing a real love of reading (RFP7).</a:t>
            </a:r>
            <a:endParaRPr lang="en-US" sz="1250" dirty="0"/>
          </a:p>
        </p:txBody>
      </p:sp>
      <p:pic>
        <p:nvPicPr>
          <p:cNvPr id="26" name="Image 5" descr="assets/icon9.png">    </p:cNvPr>
          <p:cNvPicPr>
            <a:picLocks noChangeAspect="1"/>
          </p:cNvPicPr>
          <p:nvPr/>
        </p:nvPicPr>
        <p:blipFill>
          <a:blip r:embed="rId6"/>
          <a:stretch>
            <a:fillRect/>
          </a:stretch>
        </p:blipFill>
        <p:spPr>
          <a:xfrm>
            <a:off x="640080" y="5495544"/>
            <a:ext cx="310896" cy="310896"/>
          </a:xfrm>
          <a:prstGeom prst="rect">
            <a:avLst/>
          </a:prstGeom>
        </p:spPr>
      </p:pic>
      <p:sp>
        <p:nvSpPr>
          <p:cNvPr id="27" name="Text 19"/>
          <p:cNvSpPr/>
          <p:nvPr/>
        </p:nvSpPr>
        <p:spPr>
          <a:xfrm>
            <a:off x="1097280" y="5477256"/>
            <a:ext cx="10451592" cy="365760"/>
          </a:xfrm>
          <a:prstGeom prst="rect">
            <a:avLst/>
          </a:prstGeom>
          <a:noFill/>
          <a:ln/>
        </p:spPr>
        <p:txBody>
          <a:bodyPr wrap="square" lIns="0" tIns="0" rIns="0" bIns="0" rtlCol="0" anchor="ctr"/>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Discuss  </a:t>
            </a:r>
            <a:pPr indent="0" marL="0">
              <a:buNone/>
            </a:pPr>
            <a:r>
              <a:rPr lang="en-US" sz="1250" dirty="0">
                <a:solidFill>
                  <a:srgbClr val="1A1F1D"/>
                </a:solidFill>
                <a:latin typeface="Century Gothic" pitchFamily="34" charset="0"/>
                <a:ea typeface="Century Gothic" pitchFamily="34" charset="-122"/>
                <a:cs typeface="Century Gothic" pitchFamily="34" charset="-120"/>
              </a:rPr>
              <a:t>Which one reading practice would most change your classroom culture?</a:t>
            </a:r>
            <a:endParaRPr lang="en-US" sz="1250" dirty="0"/>
          </a:p>
        </p:txBody>
      </p:sp>
      <p:sp>
        <p:nvSpPr>
          <p:cNvPr id="28" name="Text 20"/>
          <p:cNvSpPr/>
          <p:nvPr/>
        </p:nvSpPr>
        <p:spPr>
          <a:xfrm>
            <a:off x="640080" y="5943600"/>
            <a:ext cx="10908792" cy="274320"/>
          </a:xfrm>
          <a:prstGeom prst="rect">
            <a:avLst/>
          </a:prstGeom>
          <a:noFill/>
          <a:ln/>
        </p:spPr>
        <p:txBody>
          <a:bodyPr wrap="square" lIns="0" tIns="0" rIns="0" bIns="0" rtlCol="0" anchor="ctr"/>
          <a:lstStyle/>
          <a:p>
            <a:pPr indent="0" marL="0">
              <a:buNone/>
            </a:pPr>
            <a:r>
              <a:rPr lang="en-US" sz="1050" i="1" dirty="0">
                <a:solidFill>
                  <a:srgbClr val="6B736E"/>
                </a:solidFill>
                <a:latin typeface="Century Gothic" pitchFamily="34" charset="0"/>
                <a:ea typeface="Century Gothic" pitchFamily="34" charset="-122"/>
                <a:cs typeface="Century Gothic" pitchFamily="34" charset="-120"/>
              </a:rPr>
              <a:t>The visible practices are the scaffolding; the love of reading is the building.</a:t>
            </a:r>
            <a:endParaRPr lang="en-US" sz="1050" dirty="0"/>
          </a:p>
        </p:txBody>
      </p:sp>
      <p:sp>
        <p:nvSpPr>
          <p:cNvPr id="29" name="Text 21"/>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30" name="Text 22"/>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FOR EVERY PUPIL</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An ambitious curriculum, for all</a:t>
            </a:r>
            <a:endParaRPr lang="en-US" sz="2700" dirty="0"/>
          </a:p>
        </p:txBody>
      </p:sp>
      <p:pic>
        <p:nvPicPr>
          <p:cNvPr id="6" name="Image 1" descr="assets/icon6.png">    </p:cNvPr>
          <p:cNvPicPr>
            <a:picLocks noChangeAspect="1"/>
          </p:cNvPicPr>
          <p:nvPr/>
        </p:nvPicPr>
        <p:blipFill>
          <a:blip r:embed="rId2"/>
          <a:stretch>
            <a:fillRect/>
          </a:stretch>
        </p:blipFill>
        <p:spPr>
          <a:xfrm>
            <a:off x="640080" y="1920240"/>
            <a:ext cx="502920" cy="502920"/>
          </a:xfrm>
          <a:prstGeom prst="rect">
            <a:avLst/>
          </a:prstGeom>
        </p:spPr>
      </p:pic>
      <p:sp>
        <p:nvSpPr>
          <p:cNvPr id="7" name="Text 3"/>
          <p:cNvSpPr/>
          <p:nvPr/>
        </p:nvSpPr>
        <p:spPr>
          <a:xfrm>
            <a:off x="1325880" y="1920240"/>
            <a:ext cx="7315200" cy="3108960"/>
          </a:xfrm>
          <a:prstGeom prst="rect">
            <a:avLst/>
          </a:prstGeom>
          <a:noFill/>
          <a:ln/>
        </p:spPr>
        <p:txBody>
          <a:bodyPr wrap="square" rtlCol="0" anchor="t"/>
          <a:lstStyle/>
          <a:p>
            <a:pPr marL="342900" indent="-342900">
              <a:spcAft>
                <a:spcPts val="14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A coherent, knowledge-rich curriculum is the great leveller: it does not assume the knowledge that advantaged pupils arrive with.</a:t>
            </a:r>
            <a:endParaRPr lang="en-US" sz="1700" dirty="0"/>
          </a:p>
          <a:p>
            <a:pPr marL="342900" indent="-342900">
              <a:spcAft>
                <a:spcPts val="1400"/>
              </a:spcAft>
              <a:buSzPct val="100000"/>
              <a:buChar char="•"/>
            </a:pPr>
            <a:r>
              <a:rPr lang="en-US" sz="1700" dirty="0">
                <a:solidFill>
                  <a:srgbClr val="1A1F1D"/>
                </a:solidFill>
                <a:latin typeface="Century Gothic" pitchFamily="34" charset="0"/>
                <a:ea typeface="Century Gothic" pitchFamily="34" charset="-122"/>
                <a:cs typeface="Century Gothic" pitchFamily="34" charset="-120"/>
              </a:rPr>
              <a:t>Adaptation and scaffolds (CD3) let every pupil access the same ambitious content, not a thinner version of it.</a:t>
            </a:r>
            <a:endParaRPr lang="en-US" sz="1700" dirty="0"/>
          </a:p>
          <a:p>
            <a:pPr marL="342900" indent="-342900">
              <a:buSzPct val="100000"/>
              <a:buChar char="•"/>
            </a:pPr>
            <a:r>
              <a:rPr lang="en-US" sz="1700" dirty="0">
                <a:solidFill>
                  <a:srgbClr val="1A1F1D"/>
                </a:solidFill>
                <a:latin typeface="Century Gothic" pitchFamily="34" charset="0"/>
                <a:ea typeface="Century Gothic" pitchFamily="34" charset="-122"/>
                <a:cs typeface="Century Gothic" pitchFamily="34" charset="-120"/>
              </a:rPr>
              <a:t>A reading culture matters most for pupils who do not meet books at home; the school becomes where they do.</a:t>
            </a:r>
            <a:endParaRPr lang="en-US" sz="1700" dirty="0"/>
          </a:p>
        </p:txBody>
      </p:sp>
      <p:sp>
        <p:nvSpPr>
          <p:cNvPr id="8" name="Shape 4"/>
          <p:cNvSpPr/>
          <p:nvPr/>
        </p:nvSpPr>
        <p:spPr>
          <a:xfrm>
            <a:off x="8869680" y="1920240"/>
            <a:ext cx="2651760" cy="2194560"/>
          </a:xfrm>
          <a:prstGeom prst="rect">
            <a:avLst/>
          </a:prstGeom>
          <a:solidFill>
            <a:srgbClr val="F4ECE0"/>
          </a:solidFill>
          <a:ln w="12700">
            <a:solidFill>
              <a:srgbClr val="B07D2B"/>
            </a:solidFill>
            <a:prstDash val="solid"/>
          </a:ln>
        </p:spPr>
      </p:sp>
      <p:sp>
        <p:nvSpPr>
          <p:cNvPr id="9" name="Shape 5"/>
          <p:cNvSpPr/>
          <p:nvPr/>
        </p:nvSpPr>
        <p:spPr>
          <a:xfrm>
            <a:off x="8869680" y="1920240"/>
            <a:ext cx="64008" cy="2194560"/>
          </a:xfrm>
          <a:prstGeom prst="rect">
            <a:avLst/>
          </a:prstGeom>
          <a:solidFill>
            <a:srgbClr val="B07D2B"/>
          </a:solidFill>
          <a:ln/>
        </p:spPr>
      </p:sp>
      <p:pic>
        <p:nvPicPr>
          <p:cNvPr id="10" name="Image 2" descr="assets/icon9.png">    </p:cNvPr>
          <p:cNvPicPr>
            <a:picLocks noChangeAspect="1"/>
          </p:cNvPicPr>
          <p:nvPr/>
        </p:nvPicPr>
        <p:blipFill>
          <a:blip r:embed="rId3"/>
          <a:stretch>
            <a:fillRect/>
          </a:stretch>
        </p:blipFill>
        <p:spPr>
          <a:xfrm>
            <a:off x="9098280" y="2103120"/>
            <a:ext cx="365760" cy="365760"/>
          </a:xfrm>
          <a:prstGeom prst="rect">
            <a:avLst/>
          </a:prstGeom>
        </p:spPr>
      </p:pic>
      <p:sp>
        <p:nvSpPr>
          <p:cNvPr id="11" name="Text 6"/>
          <p:cNvSpPr/>
          <p:nvPr/>
        </p:nvSpPr>
        <p:spPr>
          <a:xfrm>
            <a:off x="9509760" y="2103120"/>
            <a:ext cx="1828800" cy="365760"/>
          </a:xfrm>
          <a:prstGeom prst="rect">
            <a:avLst/>
          </a:prstGeom>
          <a:noFill/>
          <a:ln/>
        </p:spPr>
        <p:txBody>
          <a:bodyPr wrap="square" lIns="0" tIns="0" rIns="0" bIns="0" rtlCol="0" anchor="ctr"/>
          <a:lstStyle/>
          <a:p>
            <a:pPr indent="0" marL="0">
              <a:buNone/>
            </a:pPr>
            <a:r>
              <a:rPr lang="en-US" sz="1500" b="1" dirty="0">
                <a:solidFill>
                  <a:srgbClr val="14322D"/>
                </a:solidFill>
                <a:latin typeface="Century Gothic" pitchFamily="34" charset="0"/>
                <a:ea typeface="Century Gothic" pitchFamily="34" charset="-122"/>
                <a:cs typeface="Century Gothic" pitchFamily="34" charset="-120"/>
              </a:rPr>
              <a:t>Discuss</a:t>
            </a:r>
            <a:endParaRPr lang="en-US" sz="1500" dirty="0"/>
          </a:p>
        </p:txBody>
      </p:sp>
      <p:sp>
        <p:nvSpPr>
          <p:cNvPr id="12" name="Text 7"/>
          <p:cNvSpPr/>
          <p:nvPr/>
        </p:nvSpPr>
        <p:spPr>
          <a:xfrm>
            <a:off x="9098280" y="2651760"/>
            <a:ext cx="2286000" cy="1280160"/>
          </a:xfrm>
          <a:prstGeom prst="rect">
            <a:avLst/>
          </a:prstGeom>
          <a:noFill/>
          <a:ln/>
        </p:spPr>
        <p:txBody>
          <a:bodyPr wrap="square" lIns="0" tIns="0" rIns="0" bIns="0" rtlCol="0" anchor="t"/>
          <a:lstStyle/>
          <a:p>
            <a:pPr indent="0" marL="0">
              <a:buNone/>
            </a:pPr>
            <a:r>
              <a:rPr lang="en-US" sz="1250" dirty="0">
                <a:solidFill>
                  <a:srgbClr val="1A1F1D"/>
                </a:solidFill>
                <a:latin typeface="Century Gothic" pitchFamily="34" charset="0"/>
                <a:ea typeface="Century Gothic" pitchFamily="34" charset="-122"/>
                <a:cs typeface="Century Gothic" pitchFamily="34" charset="-120"/>
              </a:rPr>
              <a:t>Where does your curriculum assume knowledge some pupils will not have — and how would you build it?</a:t>
            </a:r>
            <a:endParaRPr lang="en-US" sz="1250" dirty="0"/>
          </a:p>
        </p:txBody>
      </p:sp>
      <p:sp>
        <p:nvSpPr>
          <p:cNvPr id="13" name="Text 8"/>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4" name="Text 9"/>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crest.png">    </p:cNvPr>
          <p:cNvPicPr>
            <a:picLocks noChangeAspect="1"/>
          </p:cNvPicPr>
          <p:nvPr/>
        </p:nvPicPr>
        <p:blipFill>
          <a:blip r:embed="rId1">
            <a:alphaModFix amt="48000"/>
          </a:blip>
          <a:stretch>
            <a:fillRect/>
          </a:stretch>
        </p:blipFill>
        <p:spPr>
          <a:xfrm>
            <a:off x="10707624" y="384048"/>
            <a:ext cx="841248" cy="731520"/>
          </a:xfrm>
          <a:prstGeom prst="rect">
            <a:avLst/>
          </a:prstGeom>
        </p:spPr>
      </p:pic>
      <p:sp>
        <p:nvSpPr>
          <p:cNvPr id="3" name="Shape 0"/>
          <p:cNvSpPr/>
          <p:nvPr/>
        </p:nvSpPr>
        <p:spPr>
          <a:xfrm>
            <a:off x="640080" y="585216"/>
            <a:ext cx="146304" cy="146304"/>
          </a:xfrm>
          <a:prstGeom prst="rect">
            <a:avLst/>
          </a:prstGeom>
          <a:solidFill>
            <a:srgbClr val="B07D2B"/>
          </a:solidFill>
          <a:ln/>
        </p:spPr>
      </p:sp>
      <p:sp>
        <p:nvSpPr>
          <p:cNvPr id="4" name="Text 1"/>
          <p:cNvSpPr/>
          <p:nvPr/>
        </p:nvSpPr>
        <p:spPr>
          <a:xfrm>
            <a:off x="914400" y="502920"/>
            <a:ext cx="9628632" cy="292608"/>
          </a:xfrm>
          <a:prstGeom prst="rect">
            <a:avLst/>
          </a:prstGeom>
          <a:noFill/>
          <a:ln/>
        </p:spPr>
        <p:txBody>
          <a:bodyPr wrap="square" lIns="0" tIns="0" rIns="0" bIns="0" rtlCol="0" anchor="ctr"/>
          <a:lstStyle/>
          <a:p>
            <a:pPr indent="0" marL="0">
              <a:buNone/>
            </a:pPr>
            <a:r>
              <a:rPr lang="en-US" sz="1100" b="1" spc="200" kern="0" dirty="0">
                <a:solidFill>
                  <a:srgbClr val="3F9488"/>
                </a:solidFill>
                <a:latin typeface="Century Gothic" pitchFamily="34" charset="0"/>
                <a:ea typeface="Century Gothic" pitchFamily="34" charset="-122"/>
                <a:cs typeface="Century Gothic" pitchFamily="34" charset="-120"/>
              </a:rPr>
              <a:t>WATCH, THEN DISCUSS</a:t>
            </a:r>
            <a:endParaRPr lang="en-US" sz="1100" dirty="0"/>
          </a:p>
        </p:txBody>
      </p:sp>
      <p:sp>
        <p:nvSpPr>
          <p:cNvPr id="5" name="Text 2"/>
          <p:cNvSpPr/>
          <p:nvPr/>
        </p:nvSpPr>
        <p:spPr>
          <a:xfrm>
            <a:off x="640080" y="868680"/>
            <a:ext cx="9994392" cy="777240"/>
          </a:xfrm>
          <a:prstGeom prst="rect">
            <a:avLst/>
          </a:prstGeom>
          <a:noFill/>
          <a:ln/>
        </p:spPr>
        <p:txBody>
          <a:bodyPr wrap="square" lIns="0" tIns="0" rIns="0" bIns="0" rtlCol="0" anchor="ctr"/>
          <a:lstStyle/>
          <a:p>
            <a:pPr indent="0" marL="0">
              <a:buNone/>
            </a:pPr>
            <a:r>
              <a:rPr lang="en-US" sz="2700" b="1" dirty="0">
                <a:solidFill>
                  <a:srgbClr val="14322D"/>
                </a:solidFill>
                <a:latin typeface="Century Gothic" pitchFamily="34" charset="0"/>
                <a:ea typeface="Century Gothic" pitchFamily="34" charset="-122"/>
                <a:cs typeface="Century Gothic" pitchFamily="34" charset="-120"/>
              </a:rPr>
              <a:t>Standards on screen</a:t>
            </a:r>
            <a:endParaRPr lang="en-US" sz="2700" dirty="0"/>
          </a:p>
        </p:txBody>
      </p:sp>
      <p:sp>
        <p:nvSpPr>
          <p:cNvPr id="6" name="Shape 3"/>
          <p:cNvSpPr/>
          <p:nvPr/>
        </p:nvSpPr>
        <p:spPr>
          <a:xfrm>
            <a:off x="640080" y="1828800"/>
            <a:ext cx="5852160" cy="3291840"/>
          </a:xfrm>
          <a:prstGeom prst="rect">
            <a:avLst/>
          </a:prstGeom>
          <a:solidFill>
            <a:srgbClr val="11201C"/>
          </a:solidFill>
          <a:ln/>
        </p:spPr>
      </p:sp>
      <p:sp>
        <p:nvSpPr>
          <p:cNvPr id="7" name="Shape 4"/>
          <p:cNvSpPr/>
          <p:nvPr/>
        </p:nvSpPr>
        <p:spPr>
          <a:xfrm>
            <a:off x="3063240" y="2697480"/>
            <a:ext cx="1005840" cy="1005840"/>
          </a:xfrm>
          <a:prstGeom prst="ellipse">
            <a:avLst/>
          </a:prstGeom>
          <a:solidFill>
            <a:srgbClr val="FFFFFF"/>
          </a:solidFill>
          <a:ln/>
        </p:spPr>
      </p:sp>
      <p:sp>
        <p:nvSpPr>
          <p:cNvPr id="8" name="Shape 5"/>
          <p:cNvSpPr/>
          <p:nvPr/>
        </p:nvSpPr>
        <p:spPr>
          <a:xfrm rot="5400000">
            <a:off x="3374136" y="2971800"/>
            <a:ext cx="502920" cy="640080"/>
          </a:xfrm>
          <a:prstGeom prst="triangle">
            <a:avLst/>
          </a:prstGeom>
          <a:solidFill>
            <a:srgbClr val="14322D"/>
          </a:solidFill>
          <a:ln/>
        </p:spPr>
      </p:sp>
      <p:sp>
        <p:nvSpPr>
          <p:cNvPr id="9" name="Text 6"/>
          <p:cNvSpPr/>
          <p:nvPr/>
        </p:nvSpPr>
        <p:spPr>
          <a:xfrm>
            <a:off x="640080" y="4251960"/>
            <a:ext cx="5852160" cy="365760"/>
          </a:xfrm>
          <a:prstGeom prst="rect">
            <a:avLst/>
          </a:prstGeom>
          <a:noFill/>
          <a:ln/>
        </p:spPr>
        <p:txBody>
          <a:bodyPr wrap="square" lIns="0" tIns="0" rIns="0" bIns="0" rtlCol="0" anchor="ctr"/>
          <a:lstStyle/>
          <a:p>
            <a:pPr algn="ctr" indent="0" marL="0">
              <a:buNone/>
            </a:pPr>
            <a:r>
              <a:rPr lang="en-US" sz="1200" dirty="0">
                <a:solidFill>
                  <a:srgbClr val="BFE0D7"/>
                </a:solidFill>
                <a:latin typeface="Century Gothic" pitchFamily="34" charset="0"/>
                <a:ea typeface="Century Gothic" pitchFamily="34" charset="-122"/>
                <a:cs typeface="Century Gothic" pitchFamily="34" charset="-120"/>
              </a:rPr>
              <a:t>Play the clip here</a:t>
            </a:r>
            <a:endParaRPr lang="en-US" sz="1200" dirty="0"/>
          </a:p>
        </p:txBody>
      </p:sp>
      <p:sp>
        <p:nvSpPr>
          <p:cNvPr id="10" name="Text 7"/>
          <p:cNvSpPr/>
          <p:nvPr/>
        </p:nvSpPr>
        <p:spPr>
          <a:xfrm>
            <a:off x="640080" y="4617720"/>
            <a:ext cx="58521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Teach Like a Champion </a:t>
            </a:r>
            <a:pPr algn="ctr" indent="0" marL="0">
              <a:buNone/>
            </a:pPr>
            <a:r>
              <a:rPr lang="en-US" sz="1100" dirty="0">
                <a:solidFill>
                  <a:srgbClr val="8FB8AE"/>
                </a:solidFill>
                <a:latin typeface="Century Gothic" pitchFamily="34" charset="0"/>
                <a:ea typeface="Century Gothic" pitchFamily="34" charset="-122"/>
                <a:cs typeface="Century Gothic" pitchFamily="34" charset="-120"/>
              </a:rPr>
              <a:t>· video portal</a:t>
            </a:r>
            <a:endParaRPr lang="en-US" sz="1100" dirty="0"/>
          </a:p>
        </p:txBody>
      </p:sp>
      <p:sp>
        <p:nvSpPr>
          <p:cNvPr id="11" name="Shape 8"/>
          <p:cNvSpPr/>
          <p:nvPr/>
        </p:nvSpPr>
        <p:spPr>
          <a:xfrm>
            <a:off x="6858000" y="1828800"/>
            <a:ext cx="4663440" cy="3291840"/>
          </a:xfrm>
          <a:prstGeom prst="rect">
            <a:avLst/>
          </a:prstGeom>
          <a:solidFill>
            <a:srgbClr val="E8F1EE"/>
          </a:solidFill>
          <a:ln w="12700">
            <a:solidFill>
              <a:srgbClr val="3F9488"/>
            </a:solidFill>
            <a:prstDash val="solid"/>
          </a:ln>
        </p:spPr>
      </p:sp>
      <p:sp>
        <p:nvSpPr>
          <p:cNvPr id="12" name="Shape 9"/>
          <p:cNvSpPr/>
          <p:nvPr/>
        </p:nvSpPr>
        <p:spPr>
          <a:xfrm>
            <a:off x="6858000" y="1828800"/>
            <a:ext cx="64008" cy="3291840"/>
          </a:xfrm>
          <a:prstGeom prst="rect">
            <a:avLst/>
          </a:prstGeom>
          <a:solidFill>
            <a:srgbClr val="3F9488"/>
          </a:solidFill>
          <a:ln/>
        </p:spPr>
      </p:sp>
      <p:sp>
        <p:nvSpPr>
          <p:cNvPr id="13" name="Text 10"/>
          <p:cNvSpPr/>
          <p:nvPr/>
        </p:nvSpPr>
        <p:spPr>
          <a:xfrm>
            <a:off x="7086600" y="1993392"/>
            <a:ext cx="4206240" cy="320040"/>
          </a:xfrm>
          <a:prstGeom prst="rect">
            <a:avLst/>
          </a:prstGeom>
          <a:noFill/>
          <a:ln/>
        </p:spPr>
        <p:txBody>
          <a:bodyPr wrap="square" lIns="0" tIns="0" rIns="0" bIns="0" rtlCol="0" anchor="ctr"/>
          <a:lstStyle/>
          <a:p>
            <a:pPr indent="0" marL="0">
              <a:buNone/>
            </a:pPr>
            <a:r>
              <a:rPr lang="en-US" sz="1400" b="1" dirty="0">
                <a:solidFill>
                  <a:srgbClr val="14322D"/>
                </a:solidFill>
                <a:latin typeface="Century Gothic" pitchFamily="34" charset="0"/>
                <a:ea typeface="Century Gothic" pitchFamily="34" charset="-122"/>
                <a:cs typeface="Century Gothic" pitchFamily="34" charset="-120"/>
              </a:rPr>
              <a:t>Where to find it</a:t>
            </a:r>
            <a:endParaRPr lang="en-US" sz="1400" dirty="0"/>
          </a:p>
        </p:txBody>
      </p:sp>
      <p:sp>
        <p:nvSpPr>
          <p:cNvPr id="14" name="Text 11"/>
          <p:cNvSpPr/>
          <p:nvPr/>
        </p:nvSpPr>
        <p:spPr>
          <a:xfrm>
            <a:off x="7086600" y="2331720"/>
            <a:ext cx="4206240" cy="1188720"/>
          </a:xfrm>
          <a:prstGeom prst="rect">
            <a:avLst/>
          </a:prstGeom>
          <a:noFill/>
          <a:ln/>
        </p:spPr>
        <p:txBody>
          <a:bodyPr wrap="square" lIns="0" tIns="0" rIns="0" bIns="0" rtlCol="0" anchor="t"/>
          <a:lstStyle/>
          <a:p>
            <a:pPr indent="0" marL="0">
              <a:buNone/>
            </a:pPr>
            <a:r>
              <a:rPr lang="en-US" sz="1250" b="1" dirty="0">
                <a:solidFill>
                  <a:srgbClr val="14322D"/>
                </a:solidFill>
                <a:latin typeface="Century Gothic" pitchFamily="34" charset="0"/>
                <a:ea typeface="Century Gothic" pitchFamily="34" charset="-122"/>
                <a:cs typeface="Century Gothic" pitchFamily="34" charset="-120"/>
              </a:rPr>
              <a:t>Portal:  </a:t>
            </a:r>
            <a:pPr indent="0" marL="0">
              <a:spcAft>
                <a:spcPts val="400"/>
              </a:spcAft>
              <a:buNone/>
            </a:pPr>
            <a:r>
              <a:rPr lang="en-US" sz="1250" dirty="0">
                <a:solidFill>
                  <a:srgbClr val="1A1F1D"/>
                </a:solidFill>
                <a:latin typeface="Century Gothic" pitchFamily="34" charset="0"/>
                <a:ea typeface="Century Gothic" pitchFamily="34" charset="-122"/>
                <a:cs typeface="Century Gothic" pitchFamily="34" charset="-120"/>
              </a:rPr>
              <a:t>books.wiley.com/titles/9781119712619</a:t>
            </a:r>
            <a:endParaRPr lang="en-US" sz="1250" dirty="0"/>
          </a:p>
          <a:p>
            <a:pPr indent="0" marL="0">
              <a:buNone/>
            </a:pPr>
            <a:r>
              <a:rPr lang="en-US" sz="1250" b="1" dirty="0">
                <a:solidFill>
                  <a:srgbClr val="14322D"/>
                </a:solidFill>
                <a:latin typeface="Century Gothic" pitchFamily="34" charset="0"/>
                <a:ea typeface="Century Gothic" pitchFamily="34" charset="-122"/>
                <a:cs typeface="Century Gothic" pitchFamily="34" charset="-120"/>
              </a:rPr>
              <a:t>Password:  </a:t>
            </a:r>
            <a:pPr indent="0" marL="0">
              <a:spcAft>
                <a:spcPts val="400"/>
              </a:spcAft>
              <a:buNone/>
            </a:pPr>
            <a:r>
              <a:rPr lang="en-US" sz="1250" dirty="0">
                <a:solidFill>
                  <a:srgbClr val="1A1F1D"/>
                </a:solidFill>
                <a:latin typeface="Century Gothic" pitchFamily="34" charset="0"/>
                <a:ea typeface="Century Gothic" pitchFamily="34" charset="-122"/>
                <a:cs typeface="Century Gothic" pitchFamily="34" charset="-120"/>
              </a:rPr>
              <a:t>consider</a:t>
            </a:r>
            <a:endParaRPr lang="en-US" sz="1250" dirty="0"/>
          </a:p>
          <a:p>
            <a:pPr indent="0" marL="0">
              <a:buNone/>
            </a:pPr>
            <a:r>
              <a:rPr lang="en-US" sz="1250" b="1" dirty="0">
                <a:solidFill>
                  <a:srgbClr val="14322D"/>
                </a:solidFill>
                <a:latin typeface="Century Gothic" pitchFamily="34" charset="0"/>
                <a:ea typeface="Century Gothic" pitchFamily="34" charset="-122"/>
                <a:cs typeface="Century Gothic" pitchFamily="34" charset="-120"/>
              </a:rPr>
              <a:t>Clips:  </a:t>
            </a:r>
            <a:pPr indent="0" marL="0">
              <a:spcAft>
                <a:spcPts val="1000"/>
              </a:spcAft>
              <a:buNone/>
            </a:pPr>
            <a:r>
              <a:rPr lang="en-US" sz="1250" dirty="0">
                <a:solidFill>
                  <a:srgbClr val="1A1F1D"/>
                </a:solidFill>
                <a:latin typeface="Century Gothic" pitchFamily="34" charset="0"/>
                <a:ea typeface="Century Gothic" pitchFamily="34" charset="-122"/>
                <a:cs typeface="Century Gothic" pitchFamily="34" charset="-120"/>
              </a:rPr>
              <a:t>reading aloud; modelling; explicit vocabulary</a:t>
            </a:r>
            <a:endParaRPr lang="en-US" sz="1250" dirty="0"/>
          </a:p>
        </p:txBody>
      </p:sp>
      <p:sp>
        <p:nvSpPr>
          <p:cNvPr id="15" name="Text 12"/>
          <p:cNvSpPr/>
          <p:nvPr/>
        </p:nvSpPr>
        <p:spPr>
          <a:xfrm>
            <a:off x="7086600" y="3493008"/>
            <a:ext cx="4206240" cy="292608"/>
          </a:xfrm>
          <a:prstGeom prst="rect">
            <a:avLst/>
          </a:prstGeom>
          <a:noFill/>
          <a:ln/>
        </p:spPr>
        <p:txBody>
          <a:bodyPr wrap="square" lIns="0" tIns="0" rIns="0" bIns="0" rtlCol="0" anchor="ctr"/>
          <a:lstStyle/>
          <a:p>
            <a:pPr indent="0" marL="0">
              <a:buNone/>
            </a:pPr>
            <a:r>
              <a:rPr lang="en-US" sz="1400" b="1" dirty="0">
                <a:solidFill>
                  <a:srgbClr val="14322D"/>
                </a:solidFill>
                <a:latin typeface="Century Gothic" pitchFamily="34" charset="0"/>
                <a:ea typeface="Century Gothic" pitchFamily="34" charset="-122"/>
                <a:cs typeface="Century Gothic" pitchFamily="34" charset="-120"/>
              </a:rPr>
              <a:t>As you watch</a:t>
            </a:r>
            <a:endParaRPr lang="en-US" sz="1400" dirty="0"/>
          </a:p>
        </p:txBody>
      </p:sp>
      <p:sp>
        <p:nvSpPr>
          <p:cNvPr id="16" name="Text 13"/>
          <p:cNvSpPr/>
          <p:nvPr/>
        </p:nvSpPr>
        <p:spPr>
          <a:xfrm>
            <a:off x="7086600" y="3840480"/>
            <a:ext cx="425196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F1D"/>
                </a:solidFill>
                <a:latin typeface="Century Gothic" pitchFamily="34" charset="0"/>
                <a:ea typeface="Century Gothic" pitchFamily="34" charset="-122"/>
                <a:cs typeface="Century Gothic" pitchFamily="34" charset="-120"/>
              </a:rPr>
              <a:t>How is the curriculum sequence visible in the lesson?</a:t>
            </a:r>
            <a:endParaRPr lang="en-US" sz="1200" dirty="0"/>
          </a:p>
          <a:p>
            <a:pPr marL="342900" indent="-342900">
              <a:spcAft>
                <a:spcPts val="600"/>
              </a:spcAft>
              <a:buSzPct val="100000"/>
              <a:buChar char="•"/>
            </a:pPr>
            <a:r>
              <a:rPr lang="en-US" sz="1200" dirty="0">
                <a:solidFill>
                  <a:srgbClr val="1A1F1D"/>
                </a:solidFill>
                <a:latin typeface="Century Gothic" pitchFamily="34" charset="0"/>
                <a:ea typeface="Century Gothic" pitchFamily="34" charset="-122"/>
                <a:cs typeface="Century Gothic" pitchFamily="34" charset="-120"/>
              </a:rPr>
              <a:t>How is key vocabulary taught and revisited?</a:t>
            </a:r>
            <a:endParaRPr lang="en-US" sz="1200" dirty="0"/>
          </a:p>
          <a:p>
            <a:pPr marL="342900" indent="-342900">
              <a:spcAft>
                <a:spcPts val="600"/>
              </a:spcAft>
              <a:buSzPct val="100000"/>
              <a:buChar char="•"/>
            </a:pPr>
            <a:r>
              <a:rPr lang="en-US" sz="1200" dirty="0">
                <a:solidFill>
                  <a:srgbClr val="1A1F1D"/>
                </a:solidFill>
                <a:latin typeface="Century Gothic" pitchFamily="34" charset="0"/>
                <a:ea typeface="Century Gothic" pitchFamily="34" charset="-122"/>
                <a:cs typeface="Century Gothic" pitchFamily="34" charset="-120"/>
              </a:rPr>
              <a:t>What does the teacher do to grow a love of reading?</a:t>
            </a:r>
            <a:endParaRPr lang="en-US" sz="1200" dirty="0"/>
          </a:p>
        </p:txBody>
      </p:sp>
      <p:sp>
        <p:nvSpPr>
          <p:cNvPr id="17" name="Text 14"/>
          <p:cNvSpPr/>
          <p:nvPr/>
        </p:nvSpPr>
        <p:spPr>
          <a:xfrm>
            <a:off x="640080" y="6455664"/>
            <a:ext cx="7315200" cy="274320"/>
          </a:xfrm>
          <a:prstGeom prst="rect">
            <a:avLst/>
          </a:prstGeom>
          <a:noFill/>
          <a:ln/>
        </p:spPr>
        <p:txBody>
          <a:bodyPr wrap="square" lIns="0" tIns="0" rIns="0" bIns="0" rtlCol="0" anchor="ctr"/>
          <a:lstStyle/>
          <a:p>
            <a:pPr algn="l" indent="0" marL="0">
              <a:buNone/>
            </a:pPr>
            <a:r>
              <a:rPr lang="en-US" sz="800" dirty="0">
                <a:solidFill>
                  <a:srgbClr val="6B736E"/>
                </a:solidFill>
                <a:latin typeface="Century Gothic" pitchFamily="34" charset="0"/>
                <a:ea typeface="Century Gothic" pitchFamily="34" charset="-122"/>
                <a:cs typeface="Century Gothic" pitchFamily="34" charset="-120"/>
              </a:rPr>
              <a:t>Teaching Excellence Programme · Standards &amp; Curriculum</a:t>
            </a:r>
            <a:endParaRPr lang="en-US" sz="800" dirty="0"/>
          </a:p>
        </p:txBody>
      </p:sp>
      <p:sp>
        <p:nvSpPr>
          <p:cNvPr id="18" name="Text 15"/>
          <p:cNvSpPr/>
          <p:nvPr/>
        </p:nvSpPr>
        <p:spPr>
          <a:xfrm>
            <a:off x="7891272" y="6455664"/>
            <a:ext cx="3657600" cy="274320"/>
          </a:xfrm>
          <a:prstGeom prst="rect">
            <a:avLst/>
          </a:prstGeom>
          <a:noFill/>
          <a:ln/>
        </p:spPr>
        <p:txBody>
          <a:bodyPr wrap="square" lIns="0" tIns="0" rIns="0" bIns="0" rtlCol="0" anchor="ctr"/>
          <a:lstStyle/>
          <a:p>
            <a:pPr algn="r" indent="0" marL="0">
              <a:buNone/>
            </a:pPr>
            <a:r>
              <a:rPr lang="en-US" sz="800" dirty="0">
                <a:solidFill>
                  <a:srgbClr val="6B736E"/>
                </a:solidFill>
                <a:latin typeface="Century Gothic" pitchFamily="34" charset="0"/>
                <a:ea typeface="Century Gothic" pitchFamily="34" charset="-122"/>
                <a:cs typeface="Century Gothic" pitchFamily="34" charset="-120"/>
              </a:rPr>
              <a:t>A Nishkam Schools programme</a:t>
            </a:r>
            <a:pPr algn="r" indent="0" marL="0">
              <a:buNone/>
            </a:pPr>
            <a:r>
              <a:rPr lang="en-US" sz="800" dirty="0">
                <a:solidFill>
                  <a:srgbClr val="6B736E"/>
                </a:solidFill>
                <a:latin typeface="Century Gothic" pitchFamily="34" charset="0"/>
                <a:ea typeface="Century Gothic" pitchFamily="34" charset="-122"/>
                <a:cs typeface="Century Gothic" pitchFamily="34" charset="-120"/>
              </a:rPr>
              <a:t>    ·    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322D"/>
        </a:solidFill>
      </p:bgPr>
    </p:bg>
    <p:spTree>
      <p:nvGrpSpPr>
        <p:cNvPr id="1" name=""/>
        <p:cNvGrpSpPr/>
        <p:nvPr/>
      </p:nvGrpSpPr>
      <p:grpSpPr>
        <a:xfrm>
          <a:off x="0" y="0"/>
          <a:ext cx="0" cy="0"/>
          <a:chOff x="0" y="0"/>
          <a:chExt cx="0" cy="0"/>
        </a:xfrm>
      </p:grpSpPr>
      <p:pic>
        <p:nvPicPr>
          <p:cNvPr id="2" name="Image 0" descr="assets/crest_light.png">    </p:cNvPr>
          <p:cNvPicPr>
            <a:picLocks noChangeAspect="1"/>
          </p:cNvPicPr>
          <p:nvPr/>
        </p:nvPicPr>
        <p:blipFill>
          <a:blip r:embed="rId1">
            <a:alphaModFix amt="16000"/>
          </a:blip>
          <a:stretch>
            <a:fillRect/>
          </a:stretch>
        </p:blipFill>
        <p:spPr>
          <a:xfrm>
            <a:off x="7772400" y="3200400"/>
            <a:ext cx="3931920" cy="3419856"/>
          </a:xfrm>
          <a:prstGeom prst="rect">
            <a:avLst/>
          </a:prstGeom>
        </p:spPr>
      </p:pic>
      <p:sp>
        <p:nvSpPr>
          <p:cNvPr id="3" name="Shape 0"/>
          <p:cNvSpPr/>
          <p:nvPr/>
        </p:nvSpPr>
        <p:spPr>
          <a:xfrm>
            <a:off x="640080" y="1737360"/>
            <a:ext cx="201168" cy="201168"/>
          </a:xfrm>
          <a:prstGeom prst="rect">
            <a:avLst/>
          </a:prstGeom>
          <a:solidFill>
            <a:srgbClr val="B07D2B"/>
          </a:solidFill>
          <a:ln/>
        </p:spPr>
      </p:sp>
      <p:sp>
        <p:nvSpPr>
          <p:cNvPr id="4" name="Text 1"/>
          <p:cNvSpPr/>
          <p:nvPr/>
        </p:nvSpPr>
        <p:spPr>
          <a:xfrm>
            <a:off x="1005840" y="1664208"/>
            <a:ext cx="9144000" cy="365760"/>
          </a:xfrm>
          <a:prstGeom prst="rect">
            <a:avLst/>
          </a:prstGeom>
          <a:noFill/>
          <a:ln/>
        </p:spPr>
        <p:txBody>
          <a:bodyPr wrap="square" lIns="0" tIns="0" rIns="0" bIns="0" rtlCol="0" anchor="ctr"/>
          <a:lstStyle/>
          <a:p>
            <a:pPr indent="0" marL="0">
              <a:buNone/>
            </a:pPr>
            <a:r>
              <a:rPr lang="en-US" sz="1300" b="1" spc="200" kern="0" dirty="0">
                <a:solidFill>
                  <a:srgbClr val="BFE0D7"/>
                </a:solidFill>
                <a:latin typeface="Century Gothic" pitchFamily="34" charset="0"/>
                <a:ea typeface="Century Gothic" pitchFamily="34" charset="-122"/>
                <a:cs typeface="Century Gothic" pitchFamily="34" charset="-120"/>
              </a:rPr>
              <a:t>Next steps</a:t>
            </a:r>
            <a:endParaRPr lang="en-US" sz="1300" dirty="0"/>
          </a:p>
        </p:txBody>
      </p:sp>
      <p:sp>
        <p:nvSpPr>
          <p:cNvPr id="5" name="Text 2"/>
          <p:cNvSpPr/>
          <p:nvPr/>
        </p:nvSpPr>
        <p:spPr>
          <a:xfrm>
            <a:off x="640080" y="2377440"/>
            <a:ext cx="10058400" cy="2743200"/>
          </a:xfrm>
          <a:prstGeom prst="rect">
            <a:avLst/>
          </a:prstGeom>
          <a:noFill/>
          <a:ln/>
        </p:spPr>
        <p:txBody>
          <a:bodyPr wrap="square" rtlCol="0" anchor="t"/>
          <a:lstStyle/>
          <a:p>
            <a:pPr indent="0" marL="0">
              <a:spcAft>
                <a:spcPts val="1600"/>
              </a:spcAft>
              <a:buNone/>
            </a:pPr>
            <a:r>
              <a:rPr lang="en-US" sz="2200" b="1" dirty="0">
                <a:solidFill>
                  <a:srgbClr val="FFFFFF"/>
                </a:solidFill>
                <a:latin typeface="Century Gothic" pitchFamily="34" charset="0"/>
                <a:ea typeface="Century Gothic" pitchFamily="34" charset="-122"/>
                <a:cs typeface="Century Gothic" pitchFamily="34" charset="-120"/>
              </a:rPr>
              <a:t>Choose one standard or non-negotiable to hold consistently this term.</a:t>
            </a:r>
            <a:endParaRPr lang="en-US" sz="2200" dirty="0"/>
          </a:p>
          <a:p>
            <a:pPr indent="0" marL="0">
              <a:spcAft>
                <a:spcPts val="1600"/>
              </a:spcAft>
              <a:buNone/>
            </a:pPr>
            <a:r>
              <a:rPr lang="en-US" sz="2200" b="1" dirty="0">
                <a:solidFill>
                  <a:srgbClr val="FFFFFF"/>
                </a:solidFill>
                <a:latin typeface="Century Gothic" pitchFamily="34" charset="0"/>
                <a:ea typeface="Century Gothic" pitchFamily="34" charset="-122"/>
                <a:cs typeface="Century Gothic" pitchFamily="34" charset="-120"/>
              </a:rPr>
              <a:t>Run a book look with your team against BL1–BL7.</a:t>
            </a:r>
            <a:endParaRPr lang="en-US" sz="2200" dirty="0"/>
          </a:p>
          <a:p>
            <a:pPr indent="0" marL="0">
              <a:spcAft>
                <a:spcPts val="1600"/>
              </a:spcAft>
              <a:buNone/>
            </a:pPr>
            <a:r>
              <a:rPr lang="en-US" sz="2200" b="1" dirty="0">
                <a:solidFill>
                  <a:srgbClr val="FFFFFF"/>
                </a:solidFill>
                <a:latin typeface="Century Gothic" pitchFamily="34" charset="0"/>
                <a:ea typeface="Century Gothic" pitchFamily="34" charset="-122"/>
                <a:cs typeface="Century Gothic" pitchFamily="34" charset="-120"/>
              </a:rPr>
              <a:t>Plan reading aloud into the coming half-term.</a:t>
            </a:r>
            <a:endParaRPr lang="en-US" sz="2200" dirty="0"/>
          </a:p>
          <a:p>
            <a:pPr indent="0" marL="0">
              <a:buNone/>
            </a:pPr>
            <a:r>
              <a:rPr lang="en-US" sz="2200" b="1" dirty="0">
                <a:solidFill>
                  <a:srgbClr val="FFFFFF"/>
                </a:solidFill>
                <a:latin typeface="Century Gothic" pitchFamily="34" charset="0"/>
                <a:ea typeface="Century Gothic" pitchFamily="34" charset="-122"/>
                <a:cs typeface="Century Gothic" pitchFamily="34" charset="-120"/>
              </a:rPr>
              <a:t>Read the Pillar 6 modules online for the worked detail.</a:t>
            </a:r>
            <a:endParaRPr lang="en-US" sz="2200" dirty="0"/>
          </a:p>
        </p:txBody>
      </p:sp>
      <p:sp>
        <p:nvSpPr>
          <p:cNvPr id="6" name="Text 3"/>
          <p:cNvSpPr/>
          <p:nvPr/>
        </p:nvSpPr>
        <p:spPr>
          <a:xfrm>
            <a:off x="640080" y="6309360"/>
            <a:ext cx="10058400" cy="320040"/>
          </a:xfrm>
          <a:prstGeom prst="rect">
            <a:avLst/>
          </a:prstGeom>
          <a:noFill/>
          <a:ln/>
        </p:spPr>
        <p:txBody>
          <a:bodyPr wrap="square" lIns="0" tIns="0" rIns="0" bIns="0" rtlCol="0" anchor="ctr"/>
          <a:lstStyle/>
          <a:p>
            <a:pPr indent="0" marL="0">
              <a:buNone/>
            </a:pPr>
            <a:r>
              <a:rPr lang="en-US" sz="1100" dirty="0">
                <a:solidFill>
                  <a:srgbClr val="8FB8AE"/>
                </a:solidFill>
                <a:latin typeface="Century Gothic" pitchFamily="34" charset="0"/>
                <a:ea typeface="Century Gothic" pitchFamily="34" charset="-122"/>
                <a:cs typeface="Century Gothic" pitchFamily="34" charset="-120"/>
              </a:rPr>
              <a:t>A Nishkam Schools professional development programme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entury Gothic"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Pillar 6 — facilitator deck</dc:title>
  <dc:subject>PptxGenJS Presentation</dc:subject>
  <dc:creator>Nishkam Schools</dc:creator>
  <cp:lastModifiedBy>Nishkam Schools</cp:lastModifiedBy>
  <cp:revision>1</cp:revision>
  <dcterms:created xsi:type="dcterms:W3CDTF">2026-06-17T09:23:24Z</dcterms:created>
  <dcterms:modified xsi:type="dcterms:W3CDTF">2026-06-17T09:23:24Z</dcterms:modified>
</cp:coreProperties>
</file>