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55448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 ·  Pillar Three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Instruction &amp; Modelling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Explaining and modelling so that pupils can do it too</a:t>
            </a:r>
            <a:endParaRPr lang="en-US" sz="2300" dirty="0"/>
          </a:p>
        </p:txBody>
      </p:sp>
      <p:sp>
        <p:nvSpPr>
          <p:cNvPr id="7" name="Text 4"/>
          <p:cNvSpPr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Facilitator session</a:t>
            </a:r>
            <a:pPr indent="0" marL="0">
              <a:buNone/>
            </a:pPr>
            <a:r>
              <a:rPr lang="en-US" sz="14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·   pairs with the Instruction &amp; Modelling booklet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professional development programme developed by Nishkam Schools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PROGRAMME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Six pillars, one shared method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85800" y="1874520"/>
            <a:ext cx="5852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 · Behaviour &amp; Climate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 · Adaptive Teaching &amp; Inclusion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· Instruction &amp; Modelling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· Checking for Understanding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 · Questioning &amp; Classroom Dialogue</a:t>
            </a:r>
            <a:endParaRPr lang="en-US" sz="150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 · Standards &amp; Curriculum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688336"/>
            <a:ext cx="64008" cy="29260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8" name="Shape 5"/>
          <p:cNvSpPr/>
          <p:nvPr/>
        </p:nvSpPr>
        <p:spPr>
          <a:xfrm>
            <a:off x="6858000" y="1783080"/>
            <a:ext cx="4663440" cy="39776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858000" y="1783080"/>
            <a:ext cx="64008" cy="39776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0" name="Image 1" descr="assets/icon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199339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80960" y="2011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teachers use it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114032" y="2606040"/>
            <a:ext cx="4206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study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booklet, worked through alone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Coaching quartets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four colleagues rehearse together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teams</a:t>
            </a:r>
            <a:endParaRPr lang="en-US" sz="13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adapting each method to your class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Whole-school CPD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SESSION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this hour does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965960"/>
            <a:ext cx="77724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Treat the clarity of the explanation as the part that matters most.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 the I Do, We Do, You Do cycle, and the alternating principle.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model: small steps, shown on a surface, with the reasons made explicit.</a:t>
            </a:r>
            <a:endParaRPr lang="en-US" sz="1700" dirty="0"/>
          </a:p>
          <a:p>
            <a:pPr marL="342900" indent="-342900"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Leave with one explanation reworked for clarity and economy.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8869680" y="1965960"/>
            <a:ext cx="2651760" cy="26517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869680" y="1965960"/>
            <a:ext cx="64008" cy="26517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9" name="Image 1" descr="assets/icon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2194560"/>
            <a:ext cx="420624" cy="42062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098280" y="269748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Keep the booklet open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9098280" y="324612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slides lead the room; the booklet is where you record your thinking and the tasks.</a:t>
            </a:r>
            <a:endParaRPr lang="en-US" sz="1250" dirty="0"/>
          </a:p>
        </p:txBody>
      </p:sp>
      <p:pic>
        <p:nvPicPr>
          <p:cNvPr id="12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Recall an explanation that finally made something click for you. What did the teacher actually do?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Explaining so pupils can follow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074920" cy="3154680"/>
          </a:xfrm>
          <a:prstGeom prst="rect">
            <a:avLst/>
          </a:prstGeom>
          <a:solidFill>
            <a:srgbClr val="F4F1EC"/>
          </a:solidFill>
          <a:ln w="12700">
            <a:solidFill>
              <a:srgbClr val="C0613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154680"/>
          </a:xfrm>
          <a:prstGeom prst="rect">
            <a:avLst/>
          </a:prstGeom>
          <a:solidFill>
            <a:srgbClr val="C0613F"/>
          </a:solidFill>
          <a:ln/>
        </p:spPr>
      </p:sp>
      <p:pic>
        <p:nvPicPr>
          <p:cNvPr id="8" name="Image 1" descr="assets/icon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920240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4836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 unclear explanation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686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long stretch of talk before pupils do anything.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Steps run together; the reasons stay in the teacher’s head.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and the board compete instead of combining.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nod, then cannot start.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074920" cy="315468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1546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0" y="192024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clear explanation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55080" y="242316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Short input, then practice, again and again.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Numbered steps, each with its reason said aloud.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drawn as it is spoken.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Pupils watch, then do — and most can.</a:t>
            </a:r>
            <a:endParaRPr lang="en-US" sz="1300" dirty="0"/>
          </a:p>
        </p:txBody>
      </p:sp>
      <p:pic>
        <p:nvPicPr>
          <p:cNvPr id="16" name="Image 3" descr="assets/icon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175504"/>
            <a:ext cx="310896" cy="310896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97280" y="515721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is closer to how you modelled your last hard concept?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228600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260604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When the explanation is clear, much of the rest of the lesson follows. A muddled one cannot be put right by marking afterwards.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4480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Present new material in small steps, with practice after each step.  </a:t>
            </a:r>
            <a:pPr indent="0" marL="0">
              <a:buNone/>
            </a:pPr>
            <a:r>
              <a:rPr lang="en-US" sz="16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Four disciplines of a clear explanation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66544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087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Clarity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Only the words that need saying: numbered steps, and the reason said aloud.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2880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2880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66544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5160" y="204825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Visuals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7860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drawn as it is spoken; dual coding, then stand back to review.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941064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087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Examples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8961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WAGOLL and the WABOLL — a correct and a near-miss — to draw the boundary.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703320"/>
            <a:ext cx="5074920" cy="15544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703320"/>
            <a:ext cx="64008" cy="15544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941064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95160" y="392277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Economy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6382512" y="44531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fewest, most consistent words; let the visual carry what it can.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discipline is strongest in your modelling, and which is weakest?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29" name="Text 21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THINKING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this comes from</a:t>
            </a:r>
            <a:endParaRPr lang="en-US" sz="2700" dirty="0"/>
          </a:p>
        </p:txBody>
      </p:sp>
      <p:pic>
        <p:nvPicPr>
          <p:cNvPr id="6" name="Image 1" descr="assets/icon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2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828800"/>
            <a:ext cx="70408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Barak Rosenshine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small steps, models, guided practice, and a high success rate before pupils work alone.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John Sweller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worked examples cut cognitive load: novices learn by studying a fully shown solution.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Doug Lemov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Do, We Do, You Do — model, practise together, then release to independence.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Dual coding — </a:t>
            </a:r>
            <a:pPr indent="0" marL="0">
              <a:buNone/>
            </a:pPr>
            <a:r>
              <a:rPr lang="en-US" sz="15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and images presented together are remembered better than either alone.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8686800" y="1828800"/>
            <a:ext cx="2834640" cy="237744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686800" y="1828800"/>
            <a:ext cx="64008" cy="237744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0" y="201168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326880" y="20116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915400" y="256032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do your pupils most often overload — and which idea would ease it?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Rosenshine, Principles of Instruction · Sweller, Cognitive Load Theory · Lemov, Teach Like a Champion · Mayer &amp; Paivio on dual coding.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CYCLE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Do, We Do, You Do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 DO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 on a shared surface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Think aloud, one small step at a time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Numbered steps; reasons made explicit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solidFill>
            <a:srgbClr val="14322D"/>
          </a:solidFill>
          <a:ln/>
        </p:spPr>
      </p:sp>
      <p:sp>
        <p:nvSpPr>
          <p:cNvPr id="11" name="Text 8"/>
          <p:cNvSpPr/>
          <p:nvPr/>
        </p:nvSpPr>
        <p:spPr>
          <a:xfrm>
            <a:off x="4367784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 DO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67784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3" name="Text 10"/>
          <p:cNvSpPr/>
          <p:nvPr/>
        </p:nvSpPr>
        <p:spPr>
          <a:xfrm>
            <a:off x="4532376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Guided practice, same kind of example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Class works it together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Teacher checks at each step (WD)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15" name="Text 12"/>
          <p:cNvSpPr/>
          <p:nvPr/>
        </p:nvSpPr>
        <p:spPr>
          <a:xfrm>
            <a:off x="8095488" y="1828800"/>
            <a:ext cx="3453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YOU DO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95488" y="2395728"/>
            <a:ext cx="3453384" cy="2816352"/>
          </a:xfrm>
          <a:prstGeom prst="rect">
            <a:avLst/>
          </a:prstGeom>
          <a:solidFill>
            <a:srgbClr val="F7FAF8"/>
          </a:solidFill>
          <a:ln/>
        </p:spPr>
      </p:sp>
      <p:sp>
        <p:nvSpPr>
          <p:cNvPr id="17" name="Text 14"/>
          <p:cNvSpPr/>
          <p:nvPr/>
        </p:nvSpPr>
        <p:spPr>
          <a:xfrm>
            <a:off x="8260080" y="2560320"/>
            <a:ext cx="3142488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Independent practice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Released only as success allows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Teacher circulates (YD)</a:t>
            </a:r>
            <a:endParaRPr lang="en-US" sz="1200" dirty="0"/>
          </a:p>
        </p:txBody>
      </p:sp>
      <p:pic>
        <p:nvPicPr>
          <p:cNvPr id="18" name="Image 1" descr="assets/icon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49824"/>
            <a:ext cx="310896" cy="3108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97280" y="543153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in your lessons is the gap between I Do and You Do too wide?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alternating principle: short input, quick practice, repeated — not one long talk.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22" name="Text 1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NISHKAM FRAME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explanation and the virtue of diligence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10908792" cy="320040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74520"/>
            <a:ext cx="64008" cy="320040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8" name="Image 1" descr="assets/crest.png">    </p:cNvPr>
          <p:cNvPicPr>
            <a:picLocks noChangeAspect="1"/>
          </p:cNvPicPr>
          <p:nvPr/>
        </p:nvPicPr>
        <p:blipFill>
          <a:blip r:embed="rId2">
            <a:alphaModFix amt="45000"/>
          </a:blip>
          <a:stretch>
            <a:fillRect/>
          </a:stretch>
        </p:blipFill>
        <p:spPr>
          <a:xfrm>
            <a:off x="10287000" y="3794760"/>
            <a:ext cx="914400" cy="7955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Nishkam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1005840" y="2606040"/>
            <a:ext cx="6309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Diligence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care to prepare a model that respects pupils’ effort.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Determination </a:t>
            </a:r>
            <a:pPr indent="0" marL="0">
              <a:spcAft>
                <a:spcPts val="900"/>
              </a:spcAft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refusal to move on until the explanation has landed.</a:t>
            </a:r>
            <a:endParaRPr lang="en-US" sz="1550" dirty="0"/>
          </a:p>
          <a:p>
            <a:pPr indent="0" marL="0">
              <a:buNone/>
            </a:pPr>
            <a:r>
              <a:rPr lang="en-US" sz="15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Peacefulness </a:t>
            </a:r>
            <a:pPr indent="0" marL="0">
              <a:buNone/>
            </a:pPr>
            <a:r>
              <a:rPr lang="en-US" sz="15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 the calm, unhurried pace that lets thinking happen.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7315200" y="2697480"/>
            <a:ext cx="4023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any school:  </a:t>
            </a:r>
            <a:pPr indent="0" marL="0">
              <a:buNone/>
            </a:pPr>
            <a:r>
              <a:rPr lang="en-US" sz="14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disciplines are universal; the named virtues give the care behind them a shared language.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modelling checklist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85039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75895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Clarity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Says only the words that need to be said.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Interactivity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Pupil practice follows input quickly, and repeats.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Pairs the spoken word with the shared surface.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Examples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Says what it is, and what it is not.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4322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Economy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F1D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Uses the fewest, most consistent words.</a:t>
                      </a:r>
                      <a:endParaRPr lang="en-US" sz="11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9326880" y="1783080"/>
            <a:ext cx="2194560" cy="210312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326880" y="1783080"/>
            <a:ext cx="64008" cy="210312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9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48" y="193852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28048" y="2423160"/>
            <a:ext cx="1874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Use this to observe a model, or to be observed.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full ID, WD and YD codes sit behind the modules online.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DELIBERATE PRACTICE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5212080" cy="361188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783080"/>
            <a:ext cx="64008" cy="361188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9659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447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set-up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896112" y="256032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 pairs, one teacher picks a procedure from this week and models it aloud on paper or a visualiser. The partner times the model and counts the numbered steps and the ‘and the reason is…’ markers.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120640" cy="361188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783080"/>
            <a:ext cx="64008" cy="361188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3" name="Image 2" descr="assets/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196596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31152" y="19659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Coach, watch for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6382512" y="256032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Three or more clearly numbered steps.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 least two reasons made explicit.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Every step shown as it is said.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Words the visual could carry, cut.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check at the end — echo or apply.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640080" y="57150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Aim for clarity and economy together: more steps shown, fewer words spent.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BOUNDARY OF A CONCEPT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WAGOLL and WABOLL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8" name="Image 1" descr="assets/icon1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2011680"/>
            <a:ext cx="420624" cy="42062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WAGOLL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961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‘What a good one looks like’: the correct example, with the right features named.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126480" y="1810512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26480" y="1810512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3" name="Image 2" descr="assets/icon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2" y="201168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199339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WABOLL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382512" y="2468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minimally different wrong example, and the misconception it exposes.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00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18" name="Image 3" descr="assets/icon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3767328"/>
            <a:ext cx="420624" cy="42062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both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961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pair draws the boundary of the concept far more sharply than either alone.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126480" y="3566160"/>
            <a:ext cx="5074920" cy="1463040"/>
          </a:xfrm>
          <a:prstGeom prst="rect">
            <a:avLst/>
          </a:prstGeom>
          <a:solidFill>
            <a:srgbClr val="F7FAF8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26480" y="3566160"/>
            <a:ext cx="64008" cy="1463040"/>
          </a:xfrm>
          <a:prstGeom prst="rect">
            <a:avLst/>
          </a:prstGeom>
          <a:solidFill>
            <a:srgbClr val="3F9488"/>
          </a:solidFill>
          <a:ln/>
        </p:spPr>
      </p:sp>
      <p:pic>
        <p:nvPicPr>
          <p:cNvPr id="23" name="Image 4" descr="assets/icon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3767328"/>
            <a:ext cx="420624" cy="42062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49440" y="3749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Then check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6382512" y="4224528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One echo or quick application tells you whether the boundary landed.</a:t>
            </a:r>
            <a:endParaRPr lang="en-US" sz="1250" dirty="0"/>
          </a:p>
        </p:txBody>
      </p:sp>
      <p:pic>
        <p:nvPicPr>
          <p:cNvPr id="26" name="Image 5" descr="assets/icon9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495544"/>
            <a:ext cx="310896" cy="31089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097280" y="5477256"/>
            <a:ext cx="10451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  </a:t>
            </a:r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a concept your pupils muddle, what is the most useful near-miss to show them?</a:t>
            </a:r>
            <a:endParaRPr lang="en-US" sz="1250" dirty="0"/>
          </a:p>
        </p:txBody>
      </p:sp>
      <p:sp>
        <p:nvSpPr>
          <p:cNvPr id="28" name="Text 20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Non-examples are not a trick; they are how a concept’s edge becomes visible.</a:t>
            </a:r>
            <a:endParaRPr lang="en-US" sz="1050" dirty="0"/>
          </a:p>
        </p:txBody>
      </p:sp>
      <p:sp>
        <p:nvSpPr>
          <p:cNvPr id="29" name="Text 21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EVERY PUPIL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Clear models include everyone</a:t>
            </a:r>
            <a:endParaRPr lang="en-US" sz="2700" dirty="0"/>
          </a:p>
        </p:txBody>
      </p:sp>
      <p:pic>
        <p:nvPicPr>
          <p:cNvPr id="6" name="Image 1" descr="assets/icon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920240"/>
            <a:ext cx="73152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Novices overload fastest; the fully shown worked example is the adaptation that helps them most.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Consistent, economical language removes a barrier for pupils with weaker working memory or English as an additional language.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Standing back to review the whole model gives every pupil a second look, not just the quick processors.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869680" y="1920240"/>
            <a:ext cx="2651760" cy="2194560"/>
          </a:xfrm>
          <a:prstGeom prst="rect">
            <a:avLst/>
          </a:prstGeom>
          <a:solidFill>
            <a:srgbClr val="F4ECE0"/>
          </a:solidFill>
          <a:ln w="12700">
            <a:solidFill>
              <a:srgbClr val="B07D2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8869680" y="1920240"/>
            <a:ext cx="64008" cy="2194560"/>
          </a:xfrm>
          <a:prstGeom prst="rect">
            <a:avLst/>
          </a:prstGeom>
          <a:solidFill>
            <a:srgbClr val="B07D2B"/>
          </a:solidFill>
          <a:ln/>
        </p:spPr>
      </p:sp>
      <p:pic>
        <p:nvPicPr>
          <p:cNvPr id="10" name="Image 2" descr="assets/icon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1031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5097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Discuss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9098280" y="2651760"/>
            <a:ext cx="2286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Which pupil would gain most from your next model being slower and more fully shown?</a:t>
            </a:r>
            <a:endParaRPr lang="en-US" sz="1250" dirty="0"/>
          </a:p>
        </p:txBody>
      </p:sp>
      <p:sp>
        <p:nvSpPr>
          <p:cNvPr id="13" name="Text 8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.png">    </p:cNvPr>
          <p:cNvPicPr>
            <a:picLocks noChangeAspect="1"/>
          </p:cNvPicPr>
          <p:nvPr/>
        </p:nvPicPr>
        <p:blipFill>
          <a:blip r:embed="rId1">
            <a:alphaModFix amt="48000"/>
          </a:blip>
          <a:stretch>
            <a:fillRect/>
          </a:stretch>
        </p:blipFill>
        <p:spPr>
          <a:xfrm>
            <a:off x="10707624" y="384048"/>
            <a:ext cx="841248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85216"/>
            <a:ext cx="146304" cy="146304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502920"/>
            <a:ext cx="9628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F948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WATCH, THEN DISCUSS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868680"/>
            <a:ext cx="9994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Modelling on screen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solidFill>
            <a:srgbClr val="11201C"/>
          </a:solidFill>
          <a:ln/>
        </p:spPr>
      </p:sp>
      <p:sp>
        <p:nvSpPr>
          <p:cNvPr id="7" name="Shape 4"/>
          <p:cNvSpPr/>
          <p:nvPr/>
        </p:nvSpPr>
        <p:spPr>
          <a:xfrm>
            <a:off x="3063240" y="2697480"/>
            <a:ext cx="1005840" cy="10058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5"/>
          <p:cNvSpPr/>
          <p:nvPr/>
        </p:nvSpPr>
        <p:spPr>
          <a:xfrm rot="5400000">
            <a:off x="3374136" y="2971800"/>
            <a:ext cx="502920" cy="640080"/>
          </a:xfrm>
          <a:prstGeom prst="triangle">
            <a:avLst/>
          </a:prstGeom>
          <a:solidFill>
            <a:srgbClr val="14322D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42519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Play the clip here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461772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 Like a Champion </a:t>
            </a:r>
            <a:pPr algn="ctr"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· video portal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858000" y="1828800"/>
            <a:ext cx="4663440" cy="3291840"/>
          </a:xfrm>
          <a:prstGeom prst="rect">
            <a:avLst/>
          </a:prstGeom>
          <a:solidFill>
            <a:srgbClr val="E8F1EE"/>
          </a:solidFill>
          <a:ln w="12700">
            <a:solidFill>
              <a:srgbClr val="3F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1828800"/>
            <a:ext cx="64008" cy="3291840"/>
          </a:xfrm>
          <a:prstGeom prst="rect">
            <a:avLst/>
          </a:prstGeom>
          <a:solidFill>
            <a:srgbClr val="3F9488"/>
          </a:solidFill>
          <a:ln/>
        </p:spPr>
      </p:sp>
      <p:sp>
        <p:nvSpPr>
          <p:cNvPr id="13" name="Text 10"/>
          <p:cNvSpPr/>
          <p:nvPr/>
        </p:nvSpPr>
        <p:spPr>
          <a:xfrm>
            <a:off x="708660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to find it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086600" y="23317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Portal: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books.wiley.com/titles/9781119712619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Password:  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consider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Clips:  </a:t>
            </a:r>
            <a:pPr indent="0" marL="0">
              <a:spcAft>
                <a:spcPts val="1000"/>
              </a:spcAft>
              <a:buNone/>
            </a:pPr>
            <a:r>
              <a:rPr lang="en-US" sz="125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Board = Paper; modelling; show what to do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086600" y="349300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322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you watch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086600" y="384048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What is shown on the surface, and when?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How small is each step before practice follows?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F1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Where are the reasons made explicit?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Teaching Excellence Programme · Instruction &amp; Modelling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7891272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programme</a:t>
            </a:r>
            <a:pPr algn="r" indent="0" marL="0">
              <a:buNone/>
            </a:pPr>
            <a:r>
              <a:rPr lang="en-US" sz="800" dirty="0">
                <a:solidFill>
                  <a:srgbClr val="6B73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·    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rest_light.png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7772400" y="3200400"/>
            <a:ext cx="3931920" cy="3419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1737360"/>
            <a:ext cx="201168" cy="201168"/>
          </a:xfrm>
          <a:prstGeom prst="rect">
            <a:avLst/>
          </a:prstGeom>
          <a:solidFill>
            <a:srgbClr val="B07D2B"/>
          </a:solidFill>
          <a:ln/>
        </p:spPr>
      </p:sp>
      <p:sp>
        <p:nvSpPr>
          <p:cNvPr id="4" name="Text 1"/>
          <p:cNvSpPr/>
          <p:nvPr/>
        </p:nvSpPr>
        <p:spPr>
          <a:xfrm>
            <a:off x="1005840" y="16642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FE0D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237744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Rework one regular explanation for clarity and economy this week.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Rehearse a model in your next coaching pair.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one WAGOLL/WABOLL pair for a concept pupils muddle.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Read the Pillar 3 modules online for the worked detail.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8A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Nishkam Schools professional development programme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Pillar 3 — facilitator deck</dc:title>
  <dc:subject>PptxGenJS Presentation</dc:subject>
  <dc:creator>Nishkam Schools</dc:creator>
  <cp:lastModifiedBy>Nishkam Schools</cp:lastModifiedBy>
  <cp:revision>1</cp:revision>
  <dcterms:created xsi:type="dcterms:W3CDTF">2026-06-17T09:23:23Z</dcterms:created>
  <dcterms:modified xsi:type="dcterms:W3CDTF">2026-06-17T09:23:23Z</dcterms:modified>
</cp:coreProperties>
</file>