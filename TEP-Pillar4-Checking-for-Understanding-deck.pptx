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_light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7772400" y="3200400"/>
            <a:ext cx="3931920" cy="34198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554480"/>
            <a:ext cx="201168" cy="20116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100584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 ·  PILLAR 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21031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Checking for Understanding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Circulation, checking and live feedback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4008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Facilitator session</a:t>
            </a:r>
            <a:pPr indent="0" marL="0">
              <a:buNone/>
            </a:pPr>
            <a:r>
              <a:rPr lang="en-US" sz="140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·   pairs with the Checking for Understanding booklet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professional development programme developed by Nishkam Schools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PROGRAMME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Six pillars, one shared method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85800" y="1874520"/>
            <a:ext cx="5852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· Behaviour &amp; Climate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· Adaptive Teaching &amp; Inclusion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· Instruction &amp; Modelling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· Checking for Understanding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 · Questioning &amp; Classroom Dialogue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 · Standards &amp; Curriculum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3086100"/>
            <a:ext cx="64008" cy="29260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0" y="1783080"/>
            <a:ext cx="4663440" cy="397764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0" y="1783080"/>
            <a:ext cx="64008" cy="39776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0" name="Image 1" descr="assets/icon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2" y="199339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096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teachers use it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114032" y="260604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Independent study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booklet, worked through alone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Coaching quartets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three or four colleagues rehearse together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Subject teams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adapting each method to the subject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Whole-school CPD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session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Checking for Understanding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SESSION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this hour does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Leave the front while pupils work, and circulate with a purpose.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 understanding as it happens — by eye, by question, and on the page.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Mark live in green pen, so pupils can act on feedback before the lesson moves on.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Everything here sits alongside the booklet in your hands — Sections 1 to 6.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869680" y="1965960"/>
            <a:ext cx="2651760" cy="265176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869680" y="1965960"/>
            <a:ext cx="64008" cy="265176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9" name="Image 1" descr="assets/icon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194560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98280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Keep the booklet open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098280" y="3246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slides lead the room; the booklet is where you record your thinking and the tasks.</a:t>
            </a:r>
            <a:endParaRPr lang="en-US" sz="1250" dirty="0"/>
          </a:p>
        </p:txBody>
      </p:sp>
      <p:pic>
        <p:nvPicPr>
          <p:cNvPr id="12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During independent work, how do you currently know whether the teaching has landed?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Checking for Understanding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THOUGHT EXPERIMENT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 teachers, the same task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074920" cy="3154680"/>
          </a:xfrm>
          <a:prstGeom prst="rect">
            <a:avLst/>
          </a:prstGeom>
          <a:solidFill>
            <a:srgbClr val="F4F1EC"/>
          </a:solidFill>
          <a:ln w="12700">
            <a:solidFill>
              <a:srgbClr val="C0613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64008" cy="3154680"/>
          </a:xfrm>
          <a:prstGeom prst="rect">
            <a:avLst/>
          </a:prstGeom>
          <a:solidFill>
            <a:srgbClr val="C0613F"/>
          </a:solidFill>
          <a:ln/>
        </p:spPr>
      </p:sp>
      <p:pic>
        <p:nvPicPr>
          <p:cNvPr id="8" name="Image 1" descr="assets/icon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920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48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Teacher A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68680" y="242316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sets the task, returns to the desk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marks another class's books at the front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looks up when it gets noisy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finds the misconceptions tonight, over 30 books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most feedback comes a day too late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26480" y="1783080"/>
            <a:ext cx="5074920" cy="315468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783080"/>
            <a:ext cx="64008" cy="31546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3" name="Image 2" descr="assets/icon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2024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0" y="1920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Teacher B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55080" y="242316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sets the task, holds position, scans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circulates a planned route, green pen in hand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spots the misconception at desk three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stops the class to put it right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leaves with most feedback already done</a:t>
            </a:r>
            <a:endParaRPr lang="en-US" sz="1300" dirty="0"/>
          </a:p>
        </p:txBody>
      </p:sp>
      <p:pic>
        <p:nvPicPr>
          <p:cNvPr id="16" name="Image 3" descr="assets/icon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175504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515721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Same class, same 25 minutes. Whose pupils made more progress today?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Checking for Understanding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3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2286000"/>
            <a:ext cx="201168" cy="20116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6060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Feedback only does its work once a pupil acts on it.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4480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“Feedback should be more work for the recipient than the donor.”  </a:t>
            </a:r>
            <a:pPr indent="0" marL="0">
              <a:buNone/>
            </a:pPr>
            <a:r>
              <a:rPr lang="en-US" sz="16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Dylan Wiliam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FOUNDATIONS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circulate? Lemov's four ideas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2880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66544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0482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Break the plane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96112" y="25786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Move out from behind the desk and into the rows, after a short ‘watch them work’ minute.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26480" y="182880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82880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3" name="Image 2" descr="assets/icon1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066544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95160" y="20482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Full access required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82512" y="25786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Keep every desk reachable — bags off the floor, chairs in — so you can get to any pupil.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70332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" y="370332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8" name="Image 3" descr="assets/icon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941064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39227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Engage as you go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96112" y="44531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Lean in, point at something, offer a brief word — rather than just walking past.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26480" y="370332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126480" y="370332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23" name="Image 4" descr="assets/icon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3941064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95160" y="39227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Move systematically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382512" y="44531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planned route, eyes on the books, beats wandering and catches more.</a:t>
            </a:r>
            <a:endParaRPr lang="en-US" sz="1250" dirty="0"/>
          </a:p>
        </p:txBody>
      </p:sp>
      <p:pic>
        <p:nvPicPr>
          <p:cNvPr id="26" name="Image 5" descr="assets/icon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of the four would change your circulation most? Picture your room's layout.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Checking for Understanding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WE MISS AT THE FRONT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Some things are easiest to see up close</a:t>
            </a:r>
            <a:endParaRPr lang="en-US" sz="2700" dirty="0"/>
          </a:p>
        </p:txBody>
      </p:sp>
      <p:pic>
        <p:nvPicPr>
          <p:cNvPr id="6" name="Image 1" descr="assets/icon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828800"/>
            <a:ext cx="7040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 has understood —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and who is quietly struggling without saying so.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a misconception is —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before it spreads across the whole class.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 is ready for more —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and who needs a little extra support to get going.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None of this is doing more — </a:t>
            </a:r>
            <a:pPr indent="0" marL="0"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 is finding out what we'd most like to know, while pupils work.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8686800" y="1828800"/>
            <a:ext cx="2834640" cy="237744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0" y="1828800"/>
            <a:ext cx="64008" cy="237744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10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0116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2688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915400" y="256032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is the one thing you'd most like to know mid-task that you can't see from the front?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40080" y="57150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Booklet · Sections 2–3  ·  Lemov, Teach Like a Champion 3.0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Checking for Understanding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CORE TECHNIQUE · DELIVER THIS LIVE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lesson cycle: Set – Settle – Sweep – Stop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2521458" cy="566928"/>
          </a:xfrm>
          <a:prstGeom prst="rect">
            <a:avLst/>
          </a:prstGeom>
          <a:solidFill>
            <a:srgbClr val="3F9488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828800"/>
            <a:ext cx="2521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395728"/>
            <a:ext cx="2521458" cy="2816352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2560320"/>
            <a:ext cx="221056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Clear three-step instruction.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Name the cue: ‘Diligence, thank you.’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 confidence before pupils start.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35858" y="1828800"/>
            <a:ext cx="2521458" cy="566928"/>
          </a:xfrm>
          <a:prstGeom prst="rect">
            <a:avLst/>
          </a:prstGeom>
          <a:solidFill>
            <a:srgbClr val="14322D"/>
          </a:solidFill>
          <a:ln/>
        </p:spPr>
      </p:sp>
      <p:sp>
        <p:nvSpPr>
          <p:cNvPr id="11" name="Text 8"/>
          <p:cNvSpPr/>
          <p:nvPr/>
        </p:nvSpPr>
        <p:spPr>
          <a:xfrm>
            <a:off x="3435858" y="1828800"/>
            <a:ext cx="2521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SETTLE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435858" y="2395728"/>
            <a:ext cx="2521458" cy="2816352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13" name="Text 10"/>
          <p:cNvSpPr/>
          <p:nvPr/>
        </p:nvSpPr>
        <p:spPr>
          <a:xfrm>
            <a:off x="3600450" y="2560320"/>
            <a:ext cx="221056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Hold a strong position.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Scan the first 60 seconds.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 not rush to help one pupil.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1636" y="1828800"/>
            <a:ext cx="2521458" cy="56692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15" name="Text 12"/>
          <p:cNvSpPr/>
          <p:nvPr/>
        </p:nvSpPr>
        <p:spPr>
          <a:xfrm>
            <a:off x="6231636" y="1828800"/>
            <a:ext cx="2521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SWEEP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231636" y="2395728"/>
            <a:ext cx="2521458" cy="2816352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17" name="Text 14"/>
          <p:cNvSpPr/>
          <p:nvPr/>
        </p:nvSpPr>
        <p:spPr>
          <a:xfrm>
            <a:off x="6396228" y="2560320"/>
            <a:ext cx="221056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deliberate circuit.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Green pen in hand.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Look at books, not the room.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Live mark and move on.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027414" y="1828800"/>
            <a:ext cx="2521458" cy="566928"/>
          </a:xfrm>
          <a:prstGeom prst="rect">
            <a:avLst/>
          </a:prstGeom>
          <a:solidFill>
            <a:srgbClr val="C0613F"/>
          </a:solidFill>
          <a:ln/>
        </p:spPr>
      </p:sp>
      <p:sp>
        <p:nvSpPr>
          <p:cNvPr id="19" name="Text 16"/>
          <p:cNvSpPr/>
          <p:nvPr/>
        </p:nvSpPr>
        <p:spPr>
          <a:xfrm>
            <a:off x="9027414" y="1828800"/>
            <a:ext cx="2521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STOP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9027414" y="2395728"/>
            <a:ext cx="2521458" cy="2816352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21" name="Text 18"/>
          <p:cNvSpPr/>
          <p:nvPr/>
        </p:nvSpPr>
        <p:spPr>
          <a:xfrm>
            <a:off x="9192006" y="2560320"/>
            <a:ext cx="221056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If a slip is widespread: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stop, check, cold-call,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re-model, re-check with whiteboards.</a:t>
            </a:r>
            <a:endParaRPr lang="en-US" sz="1200" dirty="0"/>
          </a:p>
        </p:txBody>
      </p:sp>
      <p:pic>
        <p:nvPicPr>
          <p:cNvPr id="22" name="Image 1" descr="assets/icon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49824"/>
            <a:ext cx="310896" cy="31089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97280" y="543153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does your independent-work phase usually slip — the set, the settle, or the sweep?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640080" y="59436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simple shape for the part of the lesson when pupils work independently.  Booklet · Section 4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Checking for Understanding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NAMING THE PRACTICE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Checking in the Nishkam frame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10908792" cy="320040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74520"/>
            <a:ext cx="64008" cy="320040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8" name="Image 1" descr="assets/crest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0287000" y="3794760"/>
            <a:ext cx="914400" cy="7955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 Nishkam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005840" y="260604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Diligence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the steady attention we give to every pupil, every book, every page — it is why we circulate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Peacefulness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a calm, quiet working room, settled and re-settled with the cue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Determination </a:t>
            </a:r>
            <a:pPr indent="0" marL="0">
              <a:buNone/>
            </a:pPr>
            <a:r>
              <a:rPr lang="en-US" sz="15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pupils act on feedback in purple pen, and keep improving the work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315200" y="269748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any school:  </a:t>
            </a:r>
            <a:pPr indent="0" marL="0">
              <a:buNone/>
            </a:pPr>
            <a:r>
              <a:rPr lang="en-US" sz="14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keep the cycle — set clearly, settle the room, sweep with purpose, stop when a slip is shared. Green pen and purple pen are ours; the routine is anyone's.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Checking for Understanding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SHARED STANDARD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Circulating &amp; checking checklist · CCS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85039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5895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CCS2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 the transition, a clear description of the expectations for the task.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CCS3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Checks confidence through questioning / cold-calling.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CCS4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Sets pupils to start work quickly and efficiently.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CCS5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Takes a strong position; checks all pupils are on task.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CCS6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Adaptations / scaffolding for SEND and the lowest 20%.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CCS9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Calm, quiet environment; corrected using ‘peacefulness’.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CCS10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Actively circulates, checking success, spotting who needs support.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CCS11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Pupils respond to live feedback using purple pen.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9326880" y="1783080"/>
            <a:ext cx="2194560" cy="210312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326880" y="1783080"/>
            <a:ext cx="64008" cy="210312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9" name="Image 1" descr="assets/icon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1938528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28048" y="242316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it to coach and to observe — a shared picture of ‘good’, never a tick-box.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40080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Full wording, with the mini-whiteboard and quality-of-work checklists: booklet p.9–11.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Checking for Understanding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DELIBERATE PRACTICE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Rehearse it — circulating in fours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212080" cy="36118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64008" cy="36118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9659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44752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set-up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96112" y="256032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teacher, 2 pupils, 1 coach.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Teacher: </a:t>
            </a:r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 the task, hold position for the scan, then sweep one short circuit with green pen.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Pupils: </a:t>
            </a:r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is on track; one has a quiet misconception to be spotted.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Rotate after each round.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126480" y="1783080"/>
            <a:ext cx="5120640" cy="361188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783080"/>
            <a:ext cx="64008" cy="361188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13" name="Image 2" descr="assets/icon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9659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31152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Coach, watch for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82512" y="256032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Clear instruction and confidence check?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Strong position held; first 60 seconds scanned?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planned route, eyes on the books?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Live mark short, specific, actionable?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Widespread slip stopped, not repeated?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40080" y="57150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Booklet · Section 4 — record your reflection there.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Checking for Understanding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BEYOND THE CIRCUIT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Live feedback, four ways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10512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10512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11680"/>
            <a:ext cx="420624" cy="420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99339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Live marking, green pen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96112" y="2468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Short notes at the desk a pupil can act on now — a spelling, a re-read, a strong sentence to reuse.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26480" y="1810512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810512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3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011680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49440" y="199339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Live verbal feedback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382512" y="2468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quiet word at the desk can do as much as a written note. Pupils still respond in purple.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566160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" y="3566160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8" name="Image 3" descr="assets/icon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767328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7490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Live marking as support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96112" y="42245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Pause beside SEND pupils; add a key word, a sentence starter, a short-term target.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26480" y="3566160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126480" y="3566160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23" name="Image 4" descr="assets/icon1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3767328"/>
            <a:ext cx="420624" cy="4206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49440" y="37490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Whole-class feedback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382512" y="42245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When live marking isn't possible, read for patterns and re-teach next lesson.</a:t>
            </a:r>
            <a:endParaRPr lang="en-US" sz="1250" dirty="0"/>
          </a:p>
        </p:txBody>
      </p:sp>
      <p:pic>
        <p:nvPicPr>
          <p:cNvPr id="26" name="Image 5" descr="assets/icon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of these four is most underused in your team right now?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640080" y="59436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Booklet · Sections 5–6  ·  green pen = teacher; purple pen = pupil response, always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Checking for Understanding</a:t>
            </a: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INCLUSION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Live marking is adaptive teaching</a:t>
            </a:r>
            <a:endParaRPr lang="en-US" sz="2700" dirty="0"/>
          </a:p>
        </p:txBody>
      </p:sp>
      <p:pic>
        <p:nvPicPr>
          <p:cNvPr id="6" name="Image 1" descr="assets/icon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920240"/>
            <a:ext cx="7315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Live marking is one of the kindest ways to support SEND pupils and those who find the work hardest, in the moment.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key word, a sentence starter, or an underline added quietly at the desk rarely draws attention — it just helps a pupil get going.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Reaching the lowest 20% first, early in the task, stops a small wobble becoming a stuck pupil.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Keep the routine; flex within it; respond to the pupil in front of you.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8869680" y="1920240"/>
            <a:ext cx="2651760" cy="219456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869680" y="1920240"/>
            <a:ext cx="64008" cy="219456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10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1031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0976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9098280" y="26517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Whose desk would you reach first on your next circuit, and what would you add in green pen?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Checking for Understanding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WATCH, THEN DISCUSS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See active circulation in a real classroom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852160" cy="3291840"/>
          </a:xfrm>
          <a:prstGeom prst="rect">
            <a:avLst/>
          </a:prstGeom>
          <a:solidFill>
            <a:srgbClr val="11201C"/>
          </a:solidFill>
          <a:ln/>
        </p:spPr>
      </p:sp>
      <p:sp>
        <p:nvSpPr>
          <p:cNvPr id="7" name="Shape 4"/>
          <p:cNvSpPr/>
          <p:nvPr/>
        </p:nvSpPr>
        <p:spPr>
          <a:xfrm>
            <a:off x="3063240" y="26974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 rot="5400000">
            <a:off x="3374136" y="2971800"/>
            <a:ext cx="502920" cy="640080"/>
          </a:xfrm>
          <a:prstGeom prst="triangle">
            <a:avLst/>
          </a:prstGeom>
          <a:solidFill>
            <a:srgbClr val="14322D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251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Play the clip here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46177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 Like a Champion </a:t>
            </a:r>
            <a:pPr algn="ctr" indent="0" marL="0">
              <a:buNone/>
            </a:pPr>
            <a:r>
              <a:rPr lang="en-US" sz="11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· video portal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0" y="1828800"/>
            <a:ext cx="4663440" cy="329184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0" y="1828800"/>
            <a:ext cx="64008" cy="3291840"/>
          </a:xfrm>
          <a:prstGeom prst="rect">
            <a:avLst/>
          </a:prstGeom>
          <a:solidFill>
            <a:srgbClr val="3F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7086600" y="1993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to find it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086600" y="23317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Portal: 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books.wiley.com/titles/9781119712619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Password: 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consider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Watch a clip on  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circulating and live marking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086600" y="34930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 you watch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086600" y="384048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does the teacher do before going to any one pupil?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is ‘active’ about this circulation — list the moves.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is green-pen feedback kept short and actionable?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Checking for Understanding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3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_light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7772400" y="3200400"/>
            <a:ext cx="3931920" cy="34198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737360"/>
            <a:ext cx="201168" cy="20116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1005840" y="16642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237744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 one independent-work phase around Set – Settle – Sweep – Stop.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Sweep one lesson this week with green pen in hand, and protect time for the purple-pen response.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Continue online — the Checking for Understanding strand of the Teaching Practice site.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professional development programme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TEP Checking for Understanding</dc:title>
  <dc:subject>PptxGenJS Presentation</dc:subject>
  <dc:creator>Nishkam Schools</dc:creator>
  <cp:lastModifiedBy>Nishkam Schools</cp:lastModifiedBy>
  <cp:revision>1</cp:revision>
  <dcterms:created xsi:type="dcterms:W3CDTF">2026-06-09T16:02:10Z</dcterms:created>
  <dcterms:modified xsi:type="dcterms:W3CDTF">2026-06-09T16:02:10Z</dcterms:modified>
</cp:coreProperties>
</file>